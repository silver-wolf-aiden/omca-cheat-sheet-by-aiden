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516" r:id="rId2"/>
    <p:sldId id="517" r:id="rId3"/>
    <p:sldId id="555" r:id="rId4"/>
    <p:sldId id="599" r:id="rId5"/>
    <p:sldId id="547" r:id="rId6"/>
    <p:sldId id="579" r:id="rId7"/>
    <p:sldId id="595" r:id="rId8"/>
    <p:sldId id="553" r:id="rId9"/>
    <p:sldId id="554" r:id="rId10"/>
    <p:sldId id="596" r:id="rId11"/>
    <p:sldId id="597" r:id="rId12"/>
    <p:sldId id="598" r:id="rId13"/>
    <p:sldId id="600" r:id="rId14"/>
    <p:sldId id="601" r:id="rId15"/>
    <p:sldId id="602" r:id="rId16"/>
    <p:sldId id="603" r:id="rId17"/>
    <p:sldId id="57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ontic" initials="l" lastIdx="27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C542"/>
    <a:srgbClr val="2F6193"/>
    <a:srgbClr val="FF8201"/>
    <a:srgbClr val="262626"/>
    <a:srgbClr val="1D1564"/>
    <a:srgbClr val="0B5395"/>
    <a:srgbClr val="0572BC"/>
    <a:srgbClr val="2FA9D7"/>
    <a:srgbClr val="ED9622"/>
    <a:srgbClr val="2D2F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3957" autoAdjust="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>
        <p:guide pos="3840"/>
        <p:guide orient="horz" pos="2160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2928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420ADA-2636-4920-B510-E61DFF0FA5AC}" type="datetimeFigureOut">
              <a:rPr lang="en-IN" smtClean="0"/>
              <a:t>24-12-2021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 dirty="0"/>
              <a:t>This presentation is confidential. No part of it may be circulated, quoted, or reproduced for distribution outside the organization without prior written approval from Omega Healthcare. Thank you.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AF8806-B5FA-4027-87F3-47B8EAE39ED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774377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8D9EAC-9A38-4670-B77A-DD2A7D52B450}" type="datetimeFigureOut">
              <a:rPr lang="en-IN" smtClean="0"/>
              <a:t>24-12-2021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 dirty="0"/>
              <a:t>This presentation is confidential. No part of it may be circulated, quoted, or reproduced for distribution outside the organization without prior written approval from Omega Healthcare. Thank you.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FA0649-D767-4B37-848A-14C1DC350B7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64905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897414-F6FA-B34C-90AF-D370F983A9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8" b="1778"/>
          <a:stretch/>
        </p:blipFill>
        <p:spPr>
          <a:xfrm>
            <a:off x="0" y="243840"/>
            <a:ext cx="12192000" cy="6614160"/>
          </a:xfrm>
          <a:prstGeom prst="rect">
            <a:avLst/>
          </a:prstGeom>
        </p:spPr>
      </p:pic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05EB7333-1EA9-C143-81E6-31F92E2FBCA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72404" y="2536069"/>
            <a:ext cx="3647192" cy="1218051"/>
          </a:xfrm>
          <a:prstGeom prst="rect">
            <a:avLst/>
          </a:prstGeom>
        </p:spPr>
      </p:pic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3357C5F-9929-674B-BF2C-ADB33591FA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14650" y="4810760"/>
            <a:ext cx="6362700" cy="4953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S" sz="2000" b="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38A553-5287-0E41-A5D3-E62002DC4346}"/>
              </a:ext>
            </a:extLst>
          </p:cNvPr>
          <p:cNvSpPr/>
          <p:nvPr userDrawn="1"/>
        </p:nvSpPr>
        <p:spPr>
          <a:xfrm>
            <a:off x="0" y="6693408"/>
            <a:ext cx="12192000" cy="16459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540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4C79E7-7057-AF4F-B18C-E3989117AE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D352FF6-569A-064D-B4B2-EF817DBEF3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2404" y="2040769"/>
            <a:ext cx="3647192" cy="1215730"/>
          </a:xfrm>
          <a:prstGeom prst="rect">
            <a:avLst/>
          </a:prstGeom>
        </p:spPr>
      </p:pic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3357C5F-9929-674B-BF2C-ADB33591FA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14650" y="5049618"/>
            <a:ext cx="6362700" cy="4953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S" sz="2000" b="0" kern="1200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6873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17AE9F9-2984-204C-B427-379965A9AA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914650" y="2689222"/>
            <a:ext cx="6362700" cy="640080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2914650" y="3545210"/>
            <a:ext cx="6362700" cy="4953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S" sz="2000" b="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5C9036-2210-6142-BFDC-7BFE83F361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10423" y="6217919"/>
            <a:ext cx="1348505" cy="45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261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B9BD612-3813-FB4E-865F-FADE0BC7F8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914650" y="3108960"/>
            <a:ext cx="6362700" cy="640080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117FC5-AAA0-1041-BC24-5CE254DB52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06677" y="6217919"/>
            <a:ext cx="1355998" cy="45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294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2B580F0-627E-BF4F-9A0F-3D79B60298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BDA3B51-831E-2940-8D2F-6C33370C7922}"/>
              </a:ext>
            </a:extLst>
          </p:cNvPr>
          <p:cNvSpPr/>
          <p:nvPr userDrawn="1"/>
        </p:nvSpPr>
        <p:spPr>
          <a:xfrm>
            <a:off x="0" y="6788150"/>
            <a:ext cx="12192000" cy="6984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/>
          <p:cNvSpPr>
            <a:spLocks noGrp="1"/>
          </p:cNvSpPr>
          <p:nvPr userDrawn="1">
            <p:ph type="title"/>
          </p:nvPr>
        </p:nvSpPr>
        <p:spPr>
          <a:xfrm>
            <a:off x="314552" y="333373"/>
            <a:ext cx="9250362" cy="461665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168365" y="64579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fld id="{46616483-2A41-4A20-BD01-F9E46BA69A4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2189A4-037B-0845-B243-1FE144E511B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06677" y="6217919"/>
            <a:ext cx="1355998" cy="45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037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B5EA7B4-D03C-0542-BDFA-C3169458B7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452CB39-3423-8046-836D-596E398D1F5C}"/>
              </a:ext>
            </a:extLst>
          </p:cNvPr>
          <p:cNvSpPr/>
          <p:nvPr userDrawn="1"/>
        </p:nvSpPr>
        <p:spPr>
          <a:xfrm>
            <a:off x="0" y="6788150"/>
            <a:ext cx="12192000" cy="6984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4C4CB8B0-BC73-F942-BB45-8581E54B431D}"/>
              </a:ext>
            </a:extLst>
          </p:cNvPr>
          <p:cNvSpPr txBox="1">
            <a:spLocks/>
          </p:cNvSpPr>
          <p:nvPr userDrawn="1"/>
        </p:nvSpPr>
        <p:spPr>
          <a:xfrm>
            <a:off x="168365" y="64579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5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616483-2A41-4A20-BD01-F9E46BA69A4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 userDrawn="1">
            <p:ph type="title"/>
          </p:nvPr>
        </p:nvSpPr>
        <p:spPr>
          <a:xfrm>
            <a:off x="314552" y="333373"/>
            <a:ext cx="9250362" cy="461665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sz="quarter" idx="10"/>
          </p:nvPr>
        </p:nvSpPr>
        <p:spPr>
          <a:xfrm>
            <a:off x="314552" y="1147989"/>
            <a:ext cx="9561286" cy="4643211"/>
          </a:xfrm>
          <a:prstGeom prst="rect">
            <a:avLst/>
          </a:prstGeom>
        </p:spPr>
        <p:txBody>
          <a:bodyPr lIns="0" tIns="0" rIns="0" bIns="0"/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SzPct val="75000"/>
              <a:buFont typeface="Wingdings" panose="05000000000000000000" pitchFamily="2" charset="2"/>
              <a:buChar char="v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Wingdings" panose="05000000000000000000" pitchFamily="2" charset="2"/>
              <a:buChar char="§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Arial" panose="020B0604020202020204" pitchFamily="34" charset="0"/>
              <a:buChar char="•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Courier New" panose="02070309020205020404" pitchFamily="49" charset="0"/>
              <a:buChar char="o"/>
              <a:defRPr lang="en-US" sz="1600" kern="1200" dirty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85A651-D2E5-C340-A433-6D68EFF231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06677" y="6217919"/>
            <a:ext cx="1355998" cy="45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302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20336" y="648333"/>
            <a:ext cx="9250362" cy="461665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168365" y="64579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50">
                <a:solidFill>
                  <a:schemeClr val="accent1"/>
                </a:solidFill>
                <a:latin typeface="+mj-lt"/>
              </a:defRPr>
            </a:lvl1pPr>
          </a:lstStyle>
          <a:p>
            <a:fld id="{46616483-2A41-4A20-BD01-F9E46BA69A4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60F511-5604-4848-B430-C09C849A147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10423" y="6217919"/>
            <a:ext cx="1348505" cy="4519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6BE787-5CAB-924F-9402-77E03E56C3A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7AE919E-F3E3-614F-B830-39BA0FFE7B16}"/>
              </a:ext>
            </a:extLst>
          </p:cNvPr>
          <p:cNvSpPr/>
          <p:nvPr userDrawn="1"/>
        </p:nvSpPr>
        <p:spPr>
          <a:xfrm rot="10800000" flipH="1">
            <a:off x="0" y="1"/>
            <a:ext cx="12192000" cy="6984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824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4C4CB8B0-BC73-F942-BB45-8581E54B431D}"/>
              </a:ext>
            </a:extLst>
          </p:cNvPr>
          <p:cNvSpPr txBox="1">
            <a:spLocks/>
          </p:cNvSpPr>
          <p:nvPr userDrawn="1"/>
        </p:nvSpPr>
        <p:spPr>
          <a:xfrm>
            <a:off x="168365" y="64579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5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616483-2A41-4A20-BD01-F9E46BA69A42}" type="slidenum">
              <a:rPr lang="en-US" smtClean="0">
                <a:solidFill>
                  <a:schemeClr val="accent1"/>
                </a:solidFill>
              </a:rPr>
              <a:pPr/>
              <a:t>‹#›</a:t>
            </a:fld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20336" y="958092"/>
            <a:ext cx="9250362" cy="461665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20336" y="1772708"/>
            <a:ext cx="9561286" cy="4643211"/>
          </a:xfrm>
          <a:prstGeom prst="rect">
            <a:avLst/>
          </a:prstGeom>
        </p:spPr>
        <p:txBody>
          <a:bodyPr lIns="0" tIns="0" rIns="0" bIns="0"/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SzPct val="75000"/>
              <a:buFont typeface="Wingdings" panose="05000000000000000000" pitchFamily="2" charset="2"/>
              <a:buChar char="v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Wingdings" panose="05000000000000000000" pitchFamily="2" charset="2"/>
              <a:buChar char="§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Arial" panose="020B0604020202020204" pitchFamily="34" charset="0"/>
              <a:buChar char="•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Courier New" panose="02070309020205020404" pitchFamily="49" charset="0"/>
              <a:buChar char="o"/>
              <a:defRPr lang="en-US" sz="1600" kern="1200" dirty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8B1814-8187-604F-BB35-1ED23A564E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10423" y="6217919"/>
            <a:ext cx="1348505" cy="4519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5F483BD-9067-A74B-9DE3-D4DBAEC41D4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641A0E5-B6BB-5A4E-A439-D3DE43390EB0}"/>
              </a:ext>
            </a:extLst>
          </p:cNvPr>
          <p:cNvSpPr/>
          <p:nvPr userDrawn="1"/>
        </p:nvSpPr>
        <p:spPr>
          <a:xfrm rot="10800000" flipH="1">
            <a:off x="0" y="1"/>
            <a:ext cx="12192000" cy="6984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963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3303BC2-BE3B-E74E-8F32-DC9FE778E313}"/>
              </a:ext>
            </a:extLst>
          </p:cNvPr>
          <p:cNvSpPr/>
          <p:nvPr userDrawn="1"/>
        </p:nvSpPr>
        <p:spPr>
          <a:xfrm>
            <a:off x="0" y="6135624"/>
            <a:ext cx="12192000" cy="722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4C4CB8B0-BC73-F942-BB45-8581E54B431D}"/>
              </a:ext>
            </a:extLst>
          </p:cNvPr>
          <p:cNvSpPr txBox="1">
            <a:spLocks/>
          </p:cNvSpPr>
          <p:nvPr userDrawn="1"/>
        </p:nvSpPr>
        <p:spPr>
          <a:xfrm>
            <a:off x="168365" y="64579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5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616483-2A41-4A20-BD01-F9E46BA69A4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14552" y="333373"/>
            <a:ext cx="9250362" cy="461665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14552" y="1147989"/>
            <a:ext cx="9561286" cy="4643211"/>
          </a:xfrm>
          <a:prstGeom prst="rect">
            <a:avLst/>
          </a:prstGeom>
        </p:spPr>
        <p:txBody>
          <a:bodyPr lIns="0" tIns="0" rIns="0" bIns="0"/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SzPct val="75000"/>
              <a:buFont typeface="Wingdings" panose="05000000000000000000" pitchFamily="2" charset="2"/>
              <a:buChar char="v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Wingdings" panose="05000000000000000000" pitchFamily="2" charset="2"/>
              <a:buChar char="§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Arial" panose="020B0604020202020204" pitchFamily="34" charset="0"/>
              <a:buChar char="•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Courier New" panose="02070309020205020404" pitchFamily="49" charset="0"/>
              <a:buChar char="o"/>
              <a:defRPr lang="en-US" sz="1600" kern="1200" dirty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380843-F36E-1949-B9A3-F9B0FEC10B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06677" y="6217919"/>
            <a:ext cx="1355998" cy="451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5439FC3-82D0-864B-805C-6103C617B7B8}"/>
              </a:ext>
            </a:extLst>
          </p:cNvPr>
          <p:cNvSpPr/>
          <p:nvPr userDrawn="1"/>
        </p:nvSpPr>
        <p:spPr>
          <a:xfrm>
            <a:off x="0" y="6788150"/>
            <a:ext cx="12192000" cy="6984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855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857"/>
            <a:ext cx="12188952" cy="6856285"/>
          </a:xfrm>
          <a:prstGeom prst="rect">
            <a:avLst/>
          </a:prstGeom>
        </p:spPr>
      </p:pic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05EB7333-1EA9-C143-81E6-31F92E2FBCA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21719" y="2947779"/>
            <a:ext cx="2881826" cy="962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518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829" y="5791200"/>
            <a:ext cx="1416269" cy="47478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552" y="333373"/>
            <a:ext cx="9253728" cy="46634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GS Doctop Placeholder" hidden="1"/>
          <p:cNvSpPr txBox="1"/>
          <p:nvPr userDrawn="1"/>
        </p:nvSpPr>
        <p:spPr>
          <a:xfrm>
            <a:off x="546100" y="0"/>
            <a:ext cx="56515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>
                <a:latin typeface="Arial" panose="020B0604020202020204" pitchFamily="34" charset="0"/>
              </a:rPr>
              <a:t>IBDROOT\PROJECTS\IBD-NY\VISTAS2020\657440_1\Due Diligence\Presentation\Project SYMPHONY_Oboe Diligence Materials_v06.pptx</a:t>
            </a:r>
            <a:endParaRPr lang="en-US" sz="800" b="0" dirty="0">
              <a:latin typeface="Arial" panose="020B0604020202020204" pitchFamily="34" charset="0"/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314552" y="1147989"/>
            <a:ext cx="9561286" cy="464321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274320" lvl="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Edit Master text styles</a:t>
            </a:r>
          </a:p>
          <a:p>
            <a:pPr marL="548640" lvl="1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dirty="0"/>
              <a:t>Second level</a:t>
            </a:r>
          </a:p>
          <a:p>
            <a:pPr marL="822960" lvl="2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Wingdings" panose="05000000000000000000" pitchFamily="2" charset="2"/>
              <a:buChar char="§"/>
            </a:pPr>
            <a:r>
              <a:rPr lang="en-US" dirty="0"/>
              <a:t>Third level</a:t>
            </a:r>
          </a:p>
          <a:p>
            <a:pPr marL="1097280" lvl="3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371600" lvl="4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Courier New" panose="02070309020205020404" pitchFamily="49" charset="0"/>
              <a:buChar char="o"/>
            </a:pPr>
            <a:r>
              <a:rPr lang="en-US" dirty="0"/>
              <a:t>Fifth level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11161485" y="63563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46616483-2A41-4A20-BD01-F9E46BA69A4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505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31" r:id="rId2"/>
    <p:sldLayoutId id="2147483727" r:id="rId3"/>
    <p:sldLayoutId id="2147483730" r:id="rId4"/>
    <p:sldLayoutId id="2147483728" r:id="rId5"/>
    <p:sldLayoutId id="2147483729" r:id="rId6"/>
    <p:sldLayoutId id="2147483732" r:id="rId7"/>
    <p:sldLayoutId id="2147483733" r:id="rId8"/>
    <p:sldLayoutId id="2147483734" r:id="rId9"/>
    <p:sldLayoutId id="2147483735" r:id="rId10"/>
  </p:sldLayoutIdLst>
  <p:hf hdr="0" ftr="0" dt="0"/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buNone/>
        <a:defRPr lang="en-US" sz="2400" b="0" kern="1200" baseline="0" dirty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lang="en-US" sz="16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31520" indent="-4572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16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834390" indent="-28575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16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108710" indent="-285750" algn="l" defTabSz="9906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16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440180" indent="-3429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16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3" userDrawn="1">
          <p15:clr>
            <a:srgbClr val="F26B43"/>
          </p15:clr>
        </p15:guide>
        <p15:guide id="3" orient="horz" pos="624" userDrawn="1">
          <p15:clr>
            <a:srgbClr val="F26B43"/>
          </p15:clr>
        </p15:guide>
        <p15:guide id="4" pos="6221" userDrawn="1">
          <p15:clr>
            <a:srgbClr val="F26B43"/>
          </p15:clr>
        </p15:guide>
        <p15:guide id="5" pos="189" userDrawn="1">
          <p15:clr>
            <a:srgbClr val="F26B43"/>
          </p15:clr>
        </p15:guide>
        <p15:guide id="6" orient="horz" pos="714" userDrawn="1">
          <p15:clr>
            <a:srgbClr val="F26B43"/>
          </p15:clr>
        </p15:guide>
        <p15:guide id="7" orient="horz" pos="3738" userDrawn="1">
          <p15:clr>
            <a:srgbClr val="F26B43"/>
          </p15:clr>
        </p15:guide>
        <p15:guide id="8" orient="horz" pos="364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9884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F7F289D-2757-0342-BE5D-531BF0C679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99317" y="5049618"/>
            <a:ext cx="6978033" cy="495300"/>
          </a:xfrm>
        </p:spPr>
        <p:txBody>
          <a:bodyPr>
            <a:normAutofit/>
          </a:bodyPr>
          <a:lstStyle/>
          <a:p>
            <a:r>
              <a:rPr lang="en-IN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Radiation Therapy- Section D</a:t>
            </a:r>
            <a:endParaRPr lang="en-US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189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D67FF-75AE-4F22-8549-01C40EE1D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latin typeface="Calibri" panose="020F0502020204030204" pitchFamily="34" charset="0"/>
                <a:cs typeface="Calibri" panose="020F0502020204030204" pitchFamily="34" charset="0"/>
              </a:rPr>
              <a:t>Objectives</a:t>
            </a:r>
            <a:endParaRPr lang="en-US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8F123B-625D-4706-99CC-8894E356DA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lvl="3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dirty="0" smtClean="0">
                <a:solidFill>
                  <a:srgbClr val="3A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Understanding Radiation Therapy- Section D</a:t>
            </a:r>
            <a:endParaRPr lang="en-US" sz="2000" dirty="0">
              <a:solidFill>
                <a:srgbClr val="3A383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3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dirty="0" smtClean="0">
                <a:solidFill>
                  <a:srgbClr val="3A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Clinical </a:t>
            </a:r>
            <a:r>
              <a:rPr lang="en-US" sz="2000" dirty="0">
                <a:solidFill>
                  <a:srgbClr val="3A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examples for better understanding</a:t>
            </a:r>
          </a:p>
          <a:p>
            <a:pPr lvl="3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3A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Knowledge Check  </a:t>
            </a:r>
            <a:endParaRPr lang="en-US" sz="2000" dirty="0" smtClean="0">
              <a:solidFill>
                <a:srgbClr val="3A383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3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dirty="0" smtClean="0">
                <a:solidFill>
                  <a:srgbClr val="3A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Exercises</a:t>
            </a:r>
          </a:p>
          <a:p>
            <a:pPr lvl="3">
              <a:lnSpc>
                <a:spcPct val="200000"/>
              </a:lnSpc>
              <a:buFont typeface="Wingdings" panose="05000000000000000000" pitchFamily="2" charset="2"/>
              <a:buChar char="ü"/>
            </a:pPr>
            <a:endParaRPr lang="en-US" sz="2000" dirty="0" smtClean="0">
              <a:solidFill>
                <a:srgbClr val="3A383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0076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D67FF-75AE-4F22-8549-01C40EE1D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394" y="333373"/>
            <a:ext cx="8859520" cy="461665"/>
          </a:xfrm>
        </p:spPr>
        <p:txBody>
          <a:bodyPr/>
          <a:lstStyle/>
          <a:p>
            <a:r>
              <a:rPr lang="en-IN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IN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Radiation Therapy</a:t>
            </a:r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8F123B-625D-4706-99CC-8894E356DA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05394" y="1147989"/>
            <a:ext cx="10998926" cy="4643211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Radiation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Therapy is defined as a treatment that contains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 radiation procedures performed for cancer treatment. </a:t>
            </a:r>
            <a:endParaRPr lang="en-US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Character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meanings are described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below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Third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character defines root type, which is the basic modality.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Fifth character further specifies treatment modality. </a:t>
            </a:r>
            <a:endParaRPr lang="en-US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Sixth character defines the radioactive isotope used, if applicable.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Seventh character is a qualifier, and is not specified in this section. </a:t>
            </a: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3029" y="2557327"/>
            <a:ext cx="4288971" cy="276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454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D67FF-75AE-4F22-8549-01C40EE1D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394" y="333373"/>
            <a:ext cx="8859520" cy="461665"/>
          </a:xfrm>
        </p:spPr>
        <p:txBody>
          <a:bodyPr/>
          <a:lstStyle/>
          <a:p>
            <a:r>
              <a:rPr lang="en-IN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IN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Radiation </a:t>
            </a:r>
            <a:r>
              <a:rPr lang="en-IN" sz="3600" b="1" dirty="0">
                <a:latin typeface="Calibri" panose="020F0502020204030204" pitchFamily="34" charset="0"/>
                <a:cs typeface="Calibri" panose="020F0502020204030204" pitchFamily="34" charset="0"/>
              </a:rPr>
              <a:t>Therapy</a:t>
            </a:r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8F123B-625D-4706-99CC-8894E356DA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05394" y="1147989"/>
            <a:ext cx="10998926" cy="4643211"/>
          </a:xfrm>
        </p:spPr>
        <p:txBody>
          <a:bodyPr>
            <a:normAutofit fontScale="92500" lnSpcReduction="10000"/>
          </a:bodyPr>
          <a:lstStyle/>
          <a:p>
            <a:r>
              <a:rPr lang="en-US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Root Type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 third character defines the treatment modality as root type. Examples are Brachytherapy and Stereotactic Radiosurgery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Four different root types are used in this section, as listed below-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0: Beam Radiation-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Beam radiation is the solar radiation received from the Sun without having been scattered by the atmosphere.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1: Brachytherapy-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Brachytherapy is a form of radiation therapy where a sealed radiation source is placed inside or next to the area requiring treatment</a:t>
            </a: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2: Stereotactic Radiosurgery-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Stereotactic surgery is a minimally invasive form of surgical intervention that makes use of a three-dimensional coordinate system to locate small targets inside the body and to perform on them some action such as ablation, biopsy, lesion, injection, stimulation, implantation, radiosurgery,</a:t>
            </a: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Y: Other </a:t>
            </a:r>
            <a:r>
              <a:rPr lang="en-IN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Radiation- 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Other </a:t>
            </a:r>
            <a:r>
              <a:rPr lang="en-IN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Radiation includes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Intraoperative Radiation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Therapy</a:t>
            </a:r>
            <a:r>
              <a:rPr lang="en-IN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, Hyperthermia, 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Contact </a:t>
            </a:r>
            <a:r>
              <a:rPr lang="en-IN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Radiation,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Isotope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Administration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etc.</a:t>
            </a: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5943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206" y="333373"/>
            <a:ext cx="8898708" cy="461665"/>
          </a:xfrm>
        </p:spPr>
        <p:txBody>
          <a:bodyPr/>
          <a:lstStyle/>
          <a:p>
            <a:r>
              <a:rPr lang="en-IN" sz="3000" b="1" dirty="0">
                <a:latin typeface="Calibri" panose="020F0502020204030204" pitchFamily="34" charset="0"/>
                <a:cs typeface="Calibri" pitchFamily="34" charset="0"/>
              </a:rPr>
              <a:t>Clinical Example 1</a:t>
            </a:r>
            <a:endParaRPr lang="en-IN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666206" y="1018903"/>
            <a:ext cx="11142616" cy="477229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LDR Brachytherapy of cervix using Iridium 192 </a:t>
            </a:r>
            <a:endParaRPr lang="en-US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Code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DU11B8Z {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Low Dose Rate (LDR) Brachytherapy of Cervix using Iridium 192 (Ir-192)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}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Coding Navigation: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0120" y="2181497"/>
            <a:ext cx="8551137" cy="3609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214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206" y="333373"/>
            <a:ext cx="8898708" cy="461665"/>
          </a:xfrm>
        </p:spPr>
        <p:txBody>
          <a:bodyPr/>
          <a:lstStyle/>
          <a:p>
            <a:r>
              <a:rPr lang="en-IN" sz="3000" b="1" dirty="0">
                <a:latin typeface="Calibri" panose="020F0502020204030204" pitchFamily="34" charset="0"/>
                <a:cs typeface="Calibri" pitchFamily="34" charset="0"/>
              </a:rPr>
              <a:t>Clinical Example </a:t>
            </a:r>
            <a:r>
              <a:rPr lang="en-IN" sz="3000" b="1" dirty="0" smtClean="0">
                <a:latin typeface="Calibri" panose="020F0502020204030204" pitchFamily="34" charset="0"/>
                <a:cs typeface="Calibri" pitchFamily="34" charset="0"/>
              </a:rPr>
              <a:t>2</a:t>
            </a:r>
            <a:endParaRPr lang="en-IN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666206" y="1018903"/>
            <a:ext cx="11142616" cy="477229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Intraoperative radiation therapy (IORT) of bladder </a:t>
            </a:r>
            <a:endParaRPr lang="en-US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Code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DTY2CZZ (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Intraoperative Radiation Therapy (IORT) of Bladder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IN" sz="2000" b="1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endParaRPr 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Coding Navigation: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273" y="2272936"/>
            <a:ext cx="8085909" cy="3396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914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latin typeface="Calibri" pitchFamily="34" charset="0"/>
                <a:cs typeface="Calibri" pitchFamily="34" charset="0"/>
              </a:rPr>
              <a:t>Knowledge </a:t>
            </a:r>
            <a:r>
              <a:rPr lang="en-IN" sz="3600" b="1" dirty="0" smtClean="0">
                <a:latin typeface="Calibri" pitchFamily="34" charset="0"/>
                <a:cs typeface="Calibri" pitchFamily="34" charset="0"/>
              </a:rPr>
              <a:t>Check 1 </a:t>
            </a:r>
            <a:endParaRPr lang="en-IN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14552" y="1147989"/>
            <a:ext cx="11559948" cy="4834800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What is the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code assignment for 8 MeV photon beam radiation to brain?</a:t>
            </a:r>
          </a:p>
          <a:p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Codes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: D0011ZZ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(Beam Radiation of Brain using Photons 1 - 10 MeV)</a:t>
            </a: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IN" sz="2000" b="1" dirty="0" smtClean="0">
                <a:latin typeface="Calibri" pitchFamily="34" charset="0"/>
                <a:cs typeface="Calibri" pitchFamily="34" charset="0"/>
              </a:rPr>
              <a:t>Code </a:t>
            </a:r>
            <a:r>
              <a:rPr lang="en-IN" sz="2000" b="1" dirty="0">
                <a:latin typeface="Calibri" pitchFamily="34" charset="0"/>
                <a:cs typeface="Calibri" pitchFamily="34" charset="0"/>
              </a:rPr>
              <a:t>Navigation:</a:t>
            </a:r>
            <a:endParaRPr lang="en-IN" sz="20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071" y="2312125"/>
            <a:ext cx="8510860" cy="322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219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latin typeface="Calibri" pitchFamily="34" charset="0"/>
                <a:cs typeface="Calibri" pitchFamily="34" charset="0"/>
              </a:rPr>
              <a:t>Knowledge </a:t>
            </a:r>
            <a:r>
              <a:rPr lang="en-IN" sz="3600" b="1" dirty="0" smtClean="0">
                <a:latin typeface="Calibri" pitchFamily="34" charset="0"/>
                <a:cs typeface="Calibri" pitchFamily="34" charset="0"/>
              </a:rPr>
              <a:t>Check 2 </a:t>
            </a:r>
            <a:endParaRPr lang="en-IN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14552" y="966651"/>
            <a:ext cx="11369448" cy="4951368"/>
          </a:xfrm>
        </p:spPr>
        <p:txBody>
          <a:bodyPr>
            <a:noAutofit/>
          </a:bodyPr>
          <a:lstStyle/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What is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 code assignment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for IORT of colon, 3 ports?</a:t>
            </a:r>
          </a:p>
          <a:p>
            <a:r>
              <a:rPr lang="en-US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Code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IN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DDY5CZZ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(Intraoperative Radiation Therapy (IORT) of Colon)</a:t>
            </a:r>
          </a:p>
          <a:p>
            <a:r>
              <a:rPr lang="en-IN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Code Navigation:</a:t>
            </a:r>
          </a:p>
          <a:p>
            <a:pPr marL="0" indent="0" algn="just">
              <a:buNone/>
            </a:pPr>
            <a:endParaRPr lang="en-IN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521" y="2155371"/>
            <a:ext cx="8482285" cy="3934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723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 smtClean="0">
                <a:latin typeface="Calibri" pitchFamily="34" charset="0"/>
                <a:cs typeface="Calibri" pitchFamily="34" charset="0"/>
              </a:rPr>
              <a:t>Exercise 1 </a:t>
            </a:r>
            <a:endParaRPr lang="en-IN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14552" y="927462"/>
            <a:ext cx="11369448" cy="5120641"/>
          </a:xfrm>
        </p:spPr>
        <p:txBody>
          <a:bodyPr>
            <a:noAutofit/>
          </a:bodyPr>
          <a:lstStyle/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What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is the code assignment for HDR Brachytherapy of prostate using Palladium 103?</a:t>
            </a:r>
          </a:p>
          <a:p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Code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DF139BZ [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High Dose Rate (HDR) Brachytherapy of Pancreas using Palladium 103 (Pd-103)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]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IN" sz="2000" b="1" dirty="0" smtClean="0">
                <a:latin typeface="Calibri" pitchFamily="34" charset="0"/>
                <a:cs typeface="Calibri" pitchFamily="34" charset="0"/>
              </a:rPr>
              <a:t>Code Navigation:</a:t>
            </a:r>
            <a:endParaRPr lang="en-IN" sz="2000" dirty="0" smtClean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IN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731" y="2028416"/>
            <a:ext cx="8870452" cy="3849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677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 smtClean="0">
                <a:latin typeface="Calibri" pitchFamily="34" charset="0"/>
                <a:cs typeface="Calibri" pitchFamily="34" charset="0"/>
              </a:rPr>
              <a:t>Exercise 2 </a:t>
            </a:r>
            <a:endParaRPr lang="en-IN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14552" y="927462"/>
            <a:ext cx="11369448" cy="5120641"/>
          </a:xfrm>
        </p:spPr>
        <p:txBody>
          <a:bodyPr>
            <a:noAutofit/>
          </a:bodyPr>
          <a:lstStyle/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What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is the code assignment for Electron radiation treatment of right breast, custom device?</a:t>
            </a:r>
          </a:p>
          <a:p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Code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: DM013ZZ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(Beam Radiation of Right Breast using Electrons)</a:t>
            </a:r>
          </a:p>
          <a:p>
            <a:pPr algn="just"/>
            <a:r>
              <a:rPr lang="en-IN" sz="2000" b="1" dirty="0" smtClean="0">
                <a:latin typeface="Calibri" pitchFamily="34" charset="0"/>
                <a:cs typeface="Calibri" pitchFamily="34" charset="0"/>
              </a:rPr>
              <a:t>Code Navigation:</a:t>
            </a:r>
            <a:endParaRPr lang="en-IN" sz="2000" dirty="0" smtClean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IN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946365"/>
            <a:ext cx="8386354" cy="3670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717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 smtClean="0">
                <a:latin typeface="Calibri" pitchFamily="34" charset="0"/>
                <a:cs typeface="Calibri" pitchFamily="34" charset="0"/>
              </a:rPr>
              <a:t>Exercise 3 </a:t>
            </a:r>
            <a:endParaRPr lang="en-IN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14552" y="927462"/>
            <a:ext cx="11369448" cy="5120641"/>
          </a:xfrm>
        </p:spPr>
        <p:txBody>
          <a:bodyPr>
            <a:noAutofit/>
          </a:bodyPr>
          <a:lstStyle/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What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is the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code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assignment for Hyperthermia oncology treatment of pelvic region?</a:t>
            </a:r>
          </a:p>
          <a:p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Code: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DWY68ZZ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Hyperthermia of Pelvic Region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IN" sz="2000" b="1" dirty="0" smtClean="0">
                <a:latin typeface="Calibri" pitchFamily="34" charset="0"/>
                <a:cs typeface="Calibri" pitchFamily="34" charset="0"/>
              </a:rPr>
              <a:t>Code Navigation:</a:t>
            </a:r>
            <a:endParaRPr lang="en-IN" sz="2000" dirty="0" smtClean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IN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3056" y="2049506"/>
            <a:ext cx="7832543" cy="3528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986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 smtClean="0">
                <a:latin typeface="Calibri" pitchFamily="34" charset="0"/>
                <a:cs typeface="Calibri" pitchFamily="34" charset="0"/>
              </a:rPr>
              <a:t>Exercise 3 </a:t>
            </a:r>
            <a:endParaRPr lang="en-IN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14552" y="927462"/>
            <a:ext cx="11369448" cy="5120641"/>
          </a:xfrm>
        </p:spPr>
        <p:txBody>
          <a:bodyPr>
            <a:noAutofit/>
          </a:bodyPr>
          <a:lstStyle/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What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is the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code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assignment for 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Contact radiation of tongue?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Code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D9Y57ZZ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Contact Radiation of Tongue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IN" sz="2000" b="1" dirty="0" smtClean="0">
                <a:latin typeface="Calibri" pitchFamily="34" charset="0"/>
                <a:cs typeface="Calibri" pitchFamily="34" charset="0"/>
              </a:rPr>
              <a:t>Code Navigation:</a:t>
            </a:r>
            <a:endParaRPr lang="en-IN" sz="2000" dirty="0" smtClean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IN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7074" y="1894114"/>
            <a:ext cx="8752115" cy="3579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587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 smtClean="0">
                <a:latin typeface="Calibri" pitchFamily="34" charset="0"/>
                <a:cs typeface="Calibri" pitchFamily="34" charset="0"/>
              </a:rPr>
              <a:t>Exercise </a:t>
            </a:r>
            <a:r>
              <a:rPr lang="en-IN" sz="3600" b="1" dirty="0">
                <a:latin typeface="Calibri" pitchFamily="34" charset="0"/>
                <a:cs typeface="Calibri" pitchFamily="34" charset="0"/>
              </a:rPr>
              <a:t>4</a:t>
            </a:r>
            <a:endParaRPr lang="en-IN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14552" y="927462"/>
            <a:ext cx="11369448" cy="5120641"/>
          </a:xfrm>
        </p:spPr>
        <p:txBody>
          <a:bodyPr>
            <a:noAutofit/>
          </a:bodyPr>
          <a:lstStyle/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What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is the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code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assignment for Heavy particle radiation treatment of pancreas, four risk sites?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Code: DF034ZZ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[Beam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Radiation of Pancreas using Heavy Particles (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Protons,Ions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)]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b="1" dirty="0" smtClean="0">
                <a:latin typeface="Calibri" pitchFamily="34" charset="0"/>
                <a:cs typeface="Calibri" pitchFamily="34" charset="0"/>
              </a:rPr>
              <a:t>Code Navigation:</a:t>
            </a:r>
            <a:endParaRPr lang="en-IN" sz="2000" dirty="0" smtClean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IN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906" y="2168434"/>
            <a:ext cx="9058094" cy="3500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004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 smtClean="0">
                <a:latin typeface="Calibri" pitchFamily="34" charset="0"/>
                <a:cs typeface="Calibri" pitchFamily="34" charset="0"/>
              </a:rPr>
              <a:t>Exercise 5</a:t>
            </a:r>
            <a:endParaRPr lang="en-IN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14552" y="927462"/>
            <a:ext cx="11369448" cy="5120641"/>
          </a:xfrm>
        </p:spPr>
        <p:txBody>
          <a:bodyPr>
            <a:noAutofit/>
          </a:bodyPr>
          <a:lstStyle/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What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is the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code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assignment for 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LDR brachytherapy to spinal cord using iodine?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Code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D016B9Z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[Low Dose Rate (LDR) Brachytherapy of Spinal Cord using Iodine 125 (I-125)]</a:t>
            </a:r>
          </a:p>
          <a:p>
            <a:r>
              <a:rPr lang="en-IN" sz="2000" b="1" dirty="0" smtClean="0">
                <a:latin typeface="Calibri" pitchFamily="34" charset="0"/>
                <a:cs typeface="Calibri" pitchFamily="34" charset="0"/>
              </a:rPr>
              <a:t>Code Navigation:</a:t>
            </a:r>
            <a:endParaRPr lang="en-IN" sz="2000" dirty="0" smtClean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IN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4603" y="2168435"/>
            <a:ext cx="8797019" cy="356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897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 smtClean="0">
                <a:latin typeface="Calibri" pitchFamily="34" charset="0"/>
                <a:cs typeface="Calibri" pitchFamily="34" charset="0"/>
              </a:rPr>
              <a:t>Exercise </a:t>
            </a:r>
            <a:r>
              <a:rPr lang="en-IN" sz="3600" b="1" dirty="0">
                <a:latin typeface="Calibri" pitchFamily="34" charset="0"/>
                <a:cs typeface="Calibri" pitchFamily="34" charset="0"/>
              </a:rPr>
              <a:t>6</a:t>
            </a:r>
            <a:endParaRPr lang="en-IN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14552" y="927462"/>
            <a:ext cx="11369448" cy="5120641"/>
          </a:xfrm>
        </p:spPr>
        <p:txBody>
          <a:bodyPr>
            <a:noAutofit/>
          </a:bodyPr>
          <a:lstStyle/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What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is the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code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assignment for Whole body Phosphorus 32 administration with risk to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hematopoetic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system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Code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: DWY5GFZ [Isotope Administration to Whole Body using Phosphorus 32 (P-32)]</a:t>
            </a:r>
          </a:p>
          <a:p>
            <a:r>
              <a:rPr lang="en-IN" sz="2000" b="1" dirty="0" smtClean="0">
                <a:latin typeface="Calibri" pitchFamily="34" charset="0"/>
                <a:cs typeface="Calibri" pitchFamily="34" charset="0"/>
              </a:rPr>
              <a:t>Code Navigation:</a:t>
            </a:r>
            <a:endParaRPr lang="en-IN" sz="2000" dirty="0" smtClean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IN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269" y="2035219"/>
            <a:ext cx="8103462" cy="3464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150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4616" y="1567543"/>
            <a:ext cx="5280297" cy="2103120"/>
          </a:xfrm>
        </p:spPr>
        <p:txBody>
          <a:bodyPr/>
          <a:lstStyle/>
          <a:p>
            <a:r>
              <a:rPr lang="en-US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Thank You</a:t>
            </a:r>
            <a:endParaRPr lang="en-IN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886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mega Healthcare">
      <a:dk1>
        <a:srgbClr val="262626"/>
      </a:dk1>
      <a:lt1>
        <a:srgbClr val="FFFFFF"/>
      </a:lt1>
      <a:dk2>
        <a:srgbClr val="1658A4"/>
      </a:dk2>
      <a:lt2>
        <a:srgbClr val="348EC9"/>
      </a:lt2>
      <a:accent1>
        <a:srgbClr val="153166"/>
      </a:accent1>
      <a:accent2>
        <a:srgbClr val="992428"/>
      </a:accent2>
      <a:accent3>
        <a:srgbClr val="77787B"/>
      </a:accent3>
      <a:accent4>
        <a:srgbClr val="BCBEC0"/>
      </a:accent4>
      <a:accent5>
        <a:srgbClr val="F47C23"/>
      </a:accent5>
      <a:accent6>
        <a:srgbClr val="67C189"/>
      </a:accent6>
      <a:hlink>
        <a:srgbClr val="0070C0"/>
      </a:hlink>
      <a:folHlink>
        <a:srgbClr val="90C6F6"/>
      </a:folHlink>
    </a:clrScheme>
    <a:fontScheme name="Omega New Template">
      <a:majorFont>
        <a:latin typeface="Avenir Heavy"/>
        <a:ea typeface=""/>
        <a:cs typeface=""/>
      </a:majorFont>
      <a:minorFont>
        <a:latin typeface="Avenir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mega Healthcare_template" id="{63A0DB61-DB58-1A4A-B042-1839354C95F2}" vid="{E2BCF418-2F16-D54B-8DA6-93CCB280D1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RCM</Template>
  <TotalTime>2484</TotalTime>
  <Words>617</Words>
  <Application>Microsoft Office PowerPoint</Application>
  <PresentationFormat>Widescreen</PresentationFormat>
  <Paragraphs>67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Avenir Heavy</vt:lpstr>
      <vt:lpstr>Avenir Medium</vt:lpstr>
      <vt:lpstr>Calibri</vt:lpstr>
      <vt:lpstr>Courier New</vt:lpstr>
      <vt:lpstr>Wingdings</vt:lpstr>
      <vt:lpstr>Office Theme</vt:lpstr>
      <vt:lpstr>PowerPoint Presentation</vt:lpstr>
      <vt:lpstr>PowerPoint Presentation</vt:lpstr>
      <vt:lpstr>Objectives</vt:lpstr>
      <vt:lpstr> Radiation Therapy </vt:lpstr>
      <vt:lpstr> Radiation Therapy </vt:lpstr>
      <vt:lpstr>Clinical Example 1</vt:lpstr>
      <vt:lpstr>Clinical Example 2</vt:lpstr>
      <vt:lpstr>Knowledge Check 1 </vt:lpstr>
      <vt:lpstr>Knowledge Check 2 </vt:lpstr>
      <vt:lpstr>Exercise 1 </vt:lpstr>
      <vt:lpstr>Exercise 2 </vt:lpstr>
      <vt:lpstr>Exercise 3 </vt:lpstr>
      <vt:lpstr>Exercise 3 </vt:lpstr>
      <vt:lpstr>Exercise 4</vt:lpstr>
      <vt:lpstr>Exercise 5</vt:lpstr>
      <vt:lpstr>Exercise 6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Vinothini Kirupakaran</dc:creator>
  <cp:lastModifiedBy>Nimhor Vashum</cp:lastModifiedBy>
  <cp:revision>275</cp:revision>
  <dcterms:created xsi:type="dcterms:W3CDTF">2021-08-28T14:27:41Z</dcterms:created>
  <dcterms:modified xsi:type="dcterms:W3CDTF">2021-12-24T04:34:08Z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8b32edde-1ff2-4d4e-a2d7-fbbc106f8d9c</vt:lpwstr>
  </property>
  <property fmtid="{D5CDD505-2E9C-101B-9397-08002B2CF9AE}" pid="3" name="Project">
    <vt:lpwstr>IBDROOT</vt:lpwstr>
  </property>
  <property fmtid="{D5CDD505-2E9C-101B-9397-08002B2CF9AE}" pid="4" name="Classification">
    <vt:lpwstr>I</vt:lpwstr>
  </property>
  <property fmtid="{D5CDD505-2E9C-101B-9397-08002B2CF9AE}" pid="5" name="DocTopsCleaned">
    <vt:lpwstr>True</vt:lpwstr>
  </property>
  <property fmtid="{D5CDD505-2E9C-101B-9397-08002B2CF9AE}" pid="6" name="ShowHideDoctop">
    <vt:lpwstr>False</vt:lpwstr>
  </property>
</Properties>
</file>