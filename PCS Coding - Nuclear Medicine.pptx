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516" r:id="rId2"/>
    <p:sldId id="517" r:id="rId3"/>
    <p:sldId id="547" r:id="rId4"/>
    <p:sldId id="54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eontic" initials="l" lastIdx="27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DC542"/>
    <a:srgbClr val="2F6193"/>
    <a:srgbClr val="FF8201"/>
    <a:srgbClr val="262626"/>
    <a:srgbClr val="1D1564"/>
    <a:srgbClr val="0B5395"/>
    <a:srgbClr val="0572BC"/>
    <a:srgbClr val="2FA9D7"/>
    <a:srgbClr val="ED9622"/>
    <a:srgbClr val="2D2F9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217" autoAdjust="0"/>
    <p:restoredTop sz="93957" autoAdjust="0"/>
  </p:normalViewPr>
  <p:slideViewPr>
    <p:cSldViewPr snapToGrid="0">
      <p:cViewPr varScale="1">
        <p:scale>
          <a:sx n="73" d="100"/>
          <a:sy n="73" d="100"/>
        </p:scale>
        <p:origin x="186" y="72"/>
      </p:cViewPr>
      <p:guideLst>
        <p:guide pos="3840"/>
        <p:guide orient="horz" pos="2160"/>
      </p:guideLst>
    </p:cSldViewPr>
  </p:slideViewPr>
  <p:notesTextViewPr>
    <p:cViewPr>
      <p:scale>
        <a:sx n="75" d="100"/>
        <a:sy n="75" d="100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2928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420ADA-2636-4920-B510-E61DFF0FA5AC}" type="datetimeFigureOut">
              <a:rPr lang="en-IN" smtClean="0"/>
              <a:t>03-01-2022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IN" dirty="0"/>
              <a:t>This presentation is confidential. No part of it may be circulated, quoted, or reproduced for distribution outside the organization without prior written approval from Omega Healthcare. Thank you.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AF8806-B5FA-4027-87F3-47B8EAE39ED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1774377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8D9EAC-9A38-4670-B77A-DD2A7D52B450}" type="datetimeFigureOut">
              <a:rPr lang="en-IN" smtClean="0"/>
              <a:t>03-01-2022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IN" dirty="0"/>
              <a:t>This presentation is confidential. No part of it may be circulated, quoted, or reproduced for distribution outside the organization without prior written approval from Omega Healthcare. Thank you.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FA0649-D767-4B37-848A-14C1DC350B70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2649054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2897414-F6FA-B34C-90AF-D370F983A96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8" b="1778"/>
          <a:stretch/>
        </p:blipFill>
        <p:spPr>
          <a:xfrm>
            <a:off x="0" y="243840"/>
            <a:ext cx="12192000" cy="6614160"/>
          </a:xfrm>
          <a:prstGeom prst="rect">
            <a:avLst/>
          </a:prstGeom>
        </p:spPr>
      </p:pic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05EB7333-1EA9-C143-81E6-31F92E2FBCA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272404" y="2536069"/>
            <a:ext cx="3647192" cy="1218051"/>
          </a:xfrm>
          <a:prstGeom prst="rect">
            <a:avLst/>
          </a:prstGeom>
        </p:spPr>
      </p:pic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B3357C5F-9929-674B-BF2C-ADB33591FAA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14650" y="4810760"/>
            <a:ext cx="6362700" cy="4953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lang="en-US" sz="2000" b="0" kern="12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E38A553-5287-0E41-A5D3-E62002DC4346}"/>
              </a:ext>
            </a:extLst>
          </p:cNvPr>
          <p:cNvSpPr/>
          <p:nvPr userDrawn="1"/>
        </p:nvSpPr>
        <p:spPr>
          <a:xfrm>
            <a:off x="0" y="6693408"/>
            <a:ext cx="12192000" cy="16459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5409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74C79E7-7057-AF4F-B18C-E3989117AE0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Picture 7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AD352FF6-569A-064D-B4B2-EF817DBEF35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2404" y="2040769"/>
            <a:ext cx="3647192" cy="1215730"/>
          </a:xfrm>
          <a:prstGeom prst="rect">
            <a:avLst/>
          </a:prstGeom>
        </p:spPr>
      </p:pic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B3357C5F-9929-674B-BF2C-ADB33591FAA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14650" y="5049618"/>
            <a:ext cx="6362700" cy="4953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lang="en-US" sz="2000" b="0" kern="1200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68732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17AE9F9-2984-204C-B427-379965A9AAF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2914650" y="2689222"/>
            <a:ext cx="6362700" cy="640080"/>
          </a:xfrm>
          <a:prstGeom prst="rect">
            <a:avLst/>
          </a:prstGeom>
        </p:spPr>
        <p:txBody>
          <a:bodyPr wrap="none" lIns="0" rIns="0" anchor="ctr">
            <a:noAutofit/>
          </a:bodyPr>
          <a:lstStyle>
            <a:lvl1pPr marL="0"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600" b="0" kern="1200" baseline="0" dirty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0" hasCustomPrompt="1"/>
          </p:nvPr>
        </p:nvSpPr>
        <p:spPr>
          <a:xfrm>
            <a:off x="2914650" y="3545210"/>
            <a:ext cx="6362700" cy="4953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lang="en-US" sz="2000" b="0" kern="12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B5C9036-2210-6142-BFDC-7BFE83F361D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10423" y="6217919"/>
            <a:ext cx="1348505" cy="451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261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5B9BD612-3813-FB4E-865F-FADE0BC7F8B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10800000"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2914650" y="3108960"/>
            <a:ext cx="6362700" cy="640080"/>
          </a:xfrm>
          <a:prstGeom prst="rect">
            <a:avLst/>
          </a:prstGeom>
        </p:spPr>
        <p:txBody>
          <a:bodyPr wrap="none" lIns="0" rIns="0" anchor="ctr">
            <a:noAutofit/>
          </a:bodyPr>
          <a:lstStyle>
            <a:lvl1pPr marL="0"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600" b="0" kern="1200" baseline="0" dirty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117FC5-AAA0-1041-BC24-5CE254DB526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06677" y="6217919"/>
            <a:ext cx="1355998" cy="451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92947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2B580F0-627E-BF4F-9A0F-3D79B602984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BDA3B51-831E-2940-8D2F-6C33370C7922}"/>
              </a:ext>
            </a:extLst>
          </p:cNvPr>
          <p:cNvSpPr/>
          <p:nvPr userDrawn="1"/>
        </p:nvSpPr>
        <p:spPr>
          <a:xfrm>
            <a:off x="0" y="6788150"/>
            <a:ext cx="12192000" cy="6984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7"/>
          <p:cNvSpPr>
            <a:spLocks noGrp="1"/>
          </p:cNvSpPr>
          <p:nvPr userDrawn="1">
            <p:ph type="title"/>
          </p:nvPr>
        </p:nvSpPr>
        <p:spPr>
          <a:xfrm>
            <a:off x="314552" y="333373"/>
            <a:ext cx="9250362" cy="461665"/>
          </a:xfrm>
          <a:prstGeom prst="rect">
            <a:avLst/>
          </a:prstGeom>
        </p:spPr>
        <p:txBody>
          <a:bodyPr wrap="none" lIns="0" rIns="0" anchor="ctr">
            <a:noAutofit/>
          </a:bodyPr>
          <a:lstStyle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400" b="0" kern="1200" baseline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 userDrawn="1">
            <p:ph type="sldNum" sz="quarter" idx="4"/>
          </p:nvPr>
        </p:nvSpPr>
        <p:spPr>
          <a:xfrm>
            <a:off x="168365" y="6457950"/>
            <a:ext cx="703943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50">
                <a:solidFill>
                  <a:schemeClr val="bg1"/>
                </a:solidFill>
                <a:latin typeface="+mj-lt"/>
              </a:defRPr>
            </a:lvl1pPr>
          </a:lstStyle>
          <a:p>
            <a:fld id="{46616483-2A41-4A20-BD01-F9E46BA69A4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22189A4-037B-0845-B243-1FE144E511B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06677" y="6217919"/>
            <a:ext cx="1355998" cy="451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00378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B5EA7B4-D03C-0542-BDFA-C3169458B7F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452CB39-3423-8046-836D-596E398D1F5C}"/>
              </a:ext>
            </a:extLst>
          </p:cNvPr>
          <p:cNvSpPr/>
          <p:nvPr userDrawn="1"/>
        </p:nvSpPr>
        <p:spPr>
          <a:xfrm>
            <a:off x="0" y="6788150"/>
            <a:ext cx="12192000" cy="6984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4C4CB8B0-BC73-F942-BB45-8581E54B431D}"/>
              </a:ext>
            </a:extLst>
          </p:cNvPr>
          <p:cNvSpPr txBox="1">
            <a:spLocks/>
          </p:cNvSpPr>
          <p:nvPr userDrawn="1"/>
        </p:nvSpPr>
        <p:spPr>
          <a:xfrm>
            <a:off x="168365" y="6457950"/>
            <a:ext cx="703943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5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6616483-2A41-4A20-BD01-F9E46BA69A4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itle 7"/>
          <p:cNvSpPr>
            <a:spLocks noGrp="1"/>
          </p:cNvSpPr>
          <p:nvPr userDrawn="1">
            <p:ph type="title"/>
          </p:nvPr>
        </p:nvSpPr>
        <p:spPr>
          <a:xfrm>
            <a:off x="314552" y="333373"/>
            <a:ext cx="9250362" cy="461665"/>
          </a:xfrm>
          <a:prstGeom prst="rect">
            <a:avLst/>
          </a:prstGeom>
        </p:spPr>
        <p:txBody>
          <a:bodyPr wrap="none" lIns="0" rIns="0" anchor="ctr">
            <a:noAutofit/>
          </a:bodyPr>
          <a:lstStyle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400" b="0" kern="1200" baseline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 userDrawn="1">
            <p:ph type="body" sz="quarter" idx="10"/>
          </p:nvPr>
        </p:nvSpPr>
        <p:spPr>
          <a:xfrm>
            <a:off x="314552" y="1147989"/>
            <a:ext cx="9561286" cy="4643211"/>
          </a:xfrm>
          <a:prstGeom prst="rect">
            <a:avLst/>
          </a:prstGeom>
        </p:spPr>
        <p:txBody>
          <a:bodyPr lIns="0" tIns="0" rIns="0" bIns="0"/>
          <a:lstStyle>
            <a:lvl1pPr marL="274320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  <a:defRPr lang="en-US" sz="1600" kern="1200" dirty="0" smtClean="0">
                <a:solidFill>
                  <a:srgbClr val="262626"/>
                </a:solidFill>
                <a:latin typeface="+mn-lt"/>
                <a:ea typeface="+mn-ea"/>
                <a:cs typeface="+mn-cs"/>
              </a:defRPr>
            </a:lvl1pPr>
            <a:lvl2pPr marL="548640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D1564"/>
              </a:buClr>
              <a:buSzPct val="75000"/>
              <a:buFont typeface="Wingdings" panose="05000000000000000000" pitchFamily="2" charset="2"/>
              <a:buChar char="v"/>
              <a:defRPr lang="en-US" sz="1600" kern="1200" dirty="0" smtClean="0">
                <a:solidFill>
                  <a:srgbClr val="262626"/>
                </a:solidFill>
                <a:latin typeface="+mn-lt"/>
                <a:ea typeface="+mn-ea"/>
                <a:cs typeface="+mn-cs"/>
              </a:defRPr>
            </a:lvl2pPr>
            <a:lvl3pPr marL="822960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D1564"/>
              </a:buClr>
              <a:buFont typeface="Wingdings" panose="05000000000000000000" pitchFamily="2" charset="2"/>
              <a:buChar char="§"/>
              <a:defRPr lang="en-US" sz="1600" kern="1200" dirty="0" smtClean="0">
                <a:solidFill>
                  <a:srgbClr val="262626"/>
                </a:solidFill>
                <a:latin typeface="+mn-lt"/>
                <a:ea typeface="+mn-ea"/>
                <a:cs typeface="+mn-cs"/>
              </a:defRPr>
            </a:lvl3pPr>
            <a:lvl4pPr marL="1097280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D1564"/>
              </a:buClr>
              <a:buFont typeface="Arial" panose="020B0604020202020204" pitchFamily="34" charset="0"/>
              <a:buChar char="•"/>
              <a:defRPr lang="en-US" sz="1600" kern="1200" dirty="0" smtClean="0">
                <a:solidFill>
                  <a:srgbClr val="262626"/>
                </a:solidFill>
                <a:latin typeface="+mn-lt"/>
                <a:ea typeface="+mn-ea"/>
                <a:cs typeface="+mn-cs"/>
              </a:defRPr>
            </a:lvl4pPr>
            <a:lvl5pPr marL="1371600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D1564"/>
              </a:buClr>
              <a:buFont typeface="Courier New" panose="02070309020205020404" pitchFamily="49" charset="0"/>
              <a:buChar char="o"/>
              <a:defRPr lang="en-US" sz="1600" kern="1200" dirty="0">
                <a:solidFill>
                  <a:srgbClr val="262626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C85A651-D2E5-C340-A433-6D68EFF231A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06677" y="6217919"/>
            <a:ext cx="1355998" cy="451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83022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520336" y="648333"/>
            <a:ext cx="9250362" cy="461665"/>
          </a:xfrm>
          <a:prstGeom prst="rect">
            <a:avLst/>
          </a:prstGeom>
        </p:spPr>
        <p:txBody>
          <a:bodyPr wrap="none" lIns="0" rIns="0" anchor="ctr">
            <a:noAutofit/>
          </a:bodyPr>
          <a:lstStyle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400" b="0" kern="1200" baseline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>
          <a:xfrm>
            <a:off x="168365" y="6457950"/>
            <a:ext cx="703943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50">
                <a:solidFill>
                  <a:schemeClr val="accent1"/>
                </a:solidFill>
                <a:latin typeface="+mj-lt"/>
              </a:defRPr>
            </a:lvl1pPr>
          </a:lstStyle>
          <a:p>
            <a:fld id="{46616483-2A41-4A20-BD01-F9E46BA69A4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60F511-5604-4848-B430-C09C849A147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10423" y="6217919"/>
            <a:ext cx="1348505" cy="45199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26BE787-5CAB-924F-9402-77E03E56C3A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10800000"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7AE919E-F3E3-614F-B830-39BA0FFE7B16}"/>
              </a:ext>
            </a:extLst>
          </p:cNvPr>
          <p:cNvSpPr/>
          <p:nvPr userDrawn="1"/>
        </p:nvSpPr>
        <p:spPr>
          <a:xfrm rot="10800000" flipH="1">
            <a:off x="0" y="1"/>
            <a:ext cx="12192000" cy="6984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8243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4C4CB8B0-BC73-F942-BB45-8581E54B431D}"/>
              </a:ext>
            </a:extLst>
          </p:cNvPr>
          <p:cNvSpPr txBox="1">
            <a:spLocks/>
          </p:cNvSpPr>
          <p:nvPr userDrawn="1"/>
        </p:nvSpPr>
        <p:spPr>
          <a:xfrm>
            <a:off x="168365" y="6457950"/>
            <a:ext cx="703943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5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6616483-2A41-4A20-BD01-F9E46BA69A42}" type="slidenum">
              <a:rPr lang="en-US" smtClean="0">
                <a:solidFill>
                  <a:schemeClr val="accent1"/>
                </a:solidFill>
              </a:rPr>
              <a:pPr/>
              <a:t>‹#›</a:t>
            </a:fld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520336" y="958092"/>
            <a:ext cx="9250362" cy="461665"/>
          </a:xfrm>
          <a:prstGeom prst="rect">
            <a:avLst/>
          </a:prstGeom>
        </p:spPr>
        <p:txBody>
          <a:bodyPr wrap="none" lIns="0" rIns="0" anchor="ctr">
            <a:noAutofit/>
          </a:bodyPr>
          <a:lstStyle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400" b="0" kern="1200" baseline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520336" y="1772708"/>
            <a:ext cx="9561286" cy="4643211"/>
          </a:xfrm>
          <a:prstGeom prst="rect">
            <a:avLst/>
          </a:prstGeom>
        </p:spPr>
        <p:txBody>
          <a:bodyPr lIns="0" tIns="0" rIns="0" bIns="0"/>
          <a:lstStyle>
            <a:lvl1pPr marL="274320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  <a:defRPr lang="en-US" sz="1600" kern="1200" dirty="0" smtClean="0">
                <a:solidFill>
                  <a:srgbClr val="262626"/>
                </a:solidFill>
                <a:latin typeface="+mn-lt"/>
                <a:ea typeface="+mn-ea"/>
                <a:cs typeface="+mn-cs"/>
              </a:defRPr>
            </a:lvl1pPr>
            <a:lvl2pPr marL="548640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D1564"/>
              </a:buClr>
              <a:buSzPct val="75000"/>
              <a:buFont typeface="Wingdings" panose="05000000000000000000" pitchFamily="2" charset="2"/>
              <a:buChar char="v"/>
              <a:defRPr lang="en-US" sz="1600" kern="1200" dirty="0" smtClean="0">
                <a:solidFill>
                  <a:srgbClr val="262626"/>
                </a:solidFill>
                <a:latin typeface="+mn-lt"/>
                <a:ea typeface="+mn-ea"/>
                <a:cs typeface="+mn-cs"/>
              </a:defRPr>
            </a:lvl2pPr>
            <a:lvl3pPr marL="822960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D1564"/>
              </a:buClr>
              <a:buFont typeface="Wingdings" panose="05000000000000000000" pitchFamily="2" charset="2"/>
              <a:buChar char="§"/>
              <a:defRPr lang="en-US" sz="1600" kern="1200" dirty="0" smtClean="0">
                <a:solidFill>
                  <a:srgbClr val="262626"/>
                </a:solidFill>
                <a:latin typeface="+mn-lt"/>
                <a:ea typeface="+mn-ea"/>
                <a:cs typeface="+mn-cs"/>
              </a:defRPr>
            </a:lvl3pPr>
            <a:lvl4pPr marL="1097280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D1564"/>
              </a:buClr>
              <a:buFont typeface="Arial" panose="020B0604020202020204" pitchFamily="34" charset="0"/>
              <a:buChar char="•"/>
              <a:defRPr lang="en-US" sz="1600" kern="1200" dirty="0" smtClean="0">
                <a:solidFill>
                  <a:srgbClr val="262626"/>
                </a:solidFill>
                <a:latin typeface="+mn-lt"/>
                <a:ea typeface="+mn-ea"/>
                <a:cs typeface="+mn-cs"/>
              </a:defRPr>
            </a:lvl4pPr>
            <a:lvl5pPr marL="1371600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D1564"/>
              </a:buClr>
              <a:buFont typeface="Courier New" panose="02070309020205020404" pitchFamily="49" charset="0"/>
              <a:buChar char="o"/>
              <a:defRPr lang="en-US" sz="1600" kern="1200" dirty="0">
                <a:solidFill>
                  <a:srgbClr val="262626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18B1814-8187-604F-BB35-1ED23A564EF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10423" y="6217919"/>
            <a:ext cx="1348505" cy="45199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5F483BD-9067-A74B-9DE3-D4DBAEC41D4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10800000"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B641A0E5-B6BB-5A4E-A439-D3DE43390EB0}"/>
              </a:ext>
            </a:extLst>
          </p:cNvPr>
          <p:cNvSpPr/>
          <p:nvPr userDrawn="1"/>
        </p:nvSpPr>
        <p:spPr>
          <a:xfrm rot="10800000" flipH="1">
            <a:off x="0" y="1"/>
            <a:ext cx="12192000" cy="6984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9635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B3303BC2-BE3B-E74E-8F32-DC9FE778E313}"/>
              </a:ext>
            </a:extLst>
          </p:cNvPr>
          <p:cNvSpPr/>
          <p:nvPr userDrawn="1"/>
        </p:nvSpPr>
        <p:spPr>
          <a:xfrm>
            <a:off x="0" y="6135624"/>
            <a:ext cx="12192000" cy="722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4C4CB8B0-BC73-F942-BB45-8581E54B431D}"/>
              </a:ext>
            </a:extLst>
          </p:cNvPr>
          <p:cNvSpPr txBox="1">
            <a:spLocks/>
          </p:cNvSpPr>
          <p:nvPr userDrawn="1"/>
        </p:nvSpPr>
        <p:spPr>
          <a:xfrm>
            <a:off x="168365" y="6457950"/>
            <a:ext cx="703943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5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6616483-2A41-4A20-BD01-F9E46BA69A4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314552" y="333373"/>
            <a:ext cx="9250362" cy="461665"/>
          </a:xfrm>
          <a:prstGeom prst="rect">
            <a:avLst/>
          </a:prstGeom>
        </p:spPr>
        <p:txBody>
          <a:bodyPr wrap="none" lIns="0" rIns="0" anchor="ctr">
            <a:noAutofit/>
          </a:bodyPr>
          <a:lstStyle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400" b="0" kern="1200" baseline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314552" y="1147989"/>
            <a:ext cx="9561286" cy="4643211"/>
          </a:xfrm>
          <a:prstGeom prst="rect">
            <a:avLst/>
          </a:prstGeom>
        </p:spPr>
        <p:txBody>
          <a:bodyPr lIns="0" tIns="0" rIns="0" bIns="0"/>
          <a:lstStyle>
            <a:lvl1pPr marL="274320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  <a:defRPr lang="en-US" sz="1600" kern="1200" dirty="0" smtClean="0">
                <a:solidFill>
                  <a:srgbClr val="262626"/>
                </a:solidFill>
                <a:latin typeface="+mn-lt"/>
                <a:ea typeface="+mn-ea"/>
                <a:cs typeface="+mn-cs"/>
              </a:defRPr>
            </a:lvl1pPr>
            <a:lvl2pPr marL="548640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D1564"/>
              </a:buClr>
              <a:buSzPct val="75000"/>
              <a:buFont typeface="Wingdings" panose="05000000000000000000" pitchFamily="2" charset="2"/>
              <a:buChar char="v"/>
              <a:defRPr lang="en-US" sz="1600" kern="1200" dirty="0" smtClean="0">
                <a:solidFill>
                  <a:srgbClr val="262626"/>
                </a:solidFill>
                <a:latin typeface="+mn-lt"/>
                <a:ea typeface="+mn-ea"/>
                <a:cs typeface="+mn-cs"/>
              </a:defRPr>
            </a:lvl2pPr>
            <a:lvl3pPr marL="822960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D1564"/>
              </a:buClr>
              <a:buFont typeface="Wingdings" panose="05000000000000000000" pitchFamily="2" charset="2"/>
              <a:buChar char="§"/>
              <a:defRPr lang="en-US" sz="1600" kern="1200" dirty="0" smtClean="0">
                <a:solidFill>
                  <a:srgbClr val="262626"/>
                </a:solidFill>
                <a:latin typeface="+mn-lt"/>
                <a:ea typeface="+mn-ea"/>
                <a:cs typeface="+mn-cs"/>
              </a:defRPr>
            </a:lvl3pPr>
            <a:lvl4pPr marL="1097280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D1564"/>
              </a:buClr>
              <a:buFont typeface="Arial" panose="020B0604020202020204" pitchFamily="34" charset="0"/>
              <a:buChar char="•"/>
              <a:defRPr lang="en-US" sz="1600" kern="1200" dirty="0" smtClean="0">
                <a:solidFill>
                  <a:srgbClr val="262626"/>
                </a:solidFill>
                <a:latin typeface="+mn-lt"/>
                <a:ea typeface="+mn-ea"/>
                <a:cs typeface="+mn-cs"/>
              </a:defRPr>
            </a:lvl4pPr>
            <a:lvl5pPr marL="1371600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D1564"/>
              </a:buClr>
              <a:buFont typeface="Courier New" panose="02070309020205020404" pitchFamily="49" charset="0"/>
              <a:buChar char="o"/>
              <a:defRPr lang="en-US" sz="1600" kern="1200" dirty="0">
                <a:solidFill>
                  <a:srgbClr val="262626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2380843-F36E-1949-B9A3-F9B0FEC10BA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06677" y="6217919"/>
            <a:ext cx="1355998" cy="45199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5439FC3-82D0-864B-805C-6103C617B7B8}"/>
              </a:ext>
            </a:extLst>
          </p:cNvPr>
          <p:cNvSpPr/>
          <p:nvPr userDrawn="1"/>
        </p:nvSpPr>
        <p:spPr>
          <a:xfrm>
            <a:off x="0" y="6788150"/>
            <a:ext cx="12192000" cy="6984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8550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857"/>
            <a:ext cx="12188952" cy="6856285"/>
          </a:xfrm>
          <a:prstGeom prst="rect">
            <a:avLst/>
          </a:prstGeom>
        </p:spPr>
      </p:pic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05EB7333-1EA9-C143-81E6-31F92E2FBCA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321719" y="2947779"/>
            <a:ext cx="2881826" cy="962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5189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829" y="5791200"/>
            <a:ext cx="1416269" cy="474787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14552" y="333373"/>
            <a:ext cx="9253728" cy="466344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GS Doctop Placeholder" hidden="1"/>
          <p:cNvSpPr txBox="1"/>
          <p:nvPr userDrawn="1"/>
        </p:nvSpPr>
        <p:spPr>
          <a:xfrm>
            <a:off x="546100" y="0"/>
            <a:ext cx="56515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00" b="0">
                <a:latin typeface="Arial" panose="020B0604020202020204" pitchFamily="34" charset="0"/>
              </a:rPr>
              <a:t>IBDROOT\PROJECTS\IBD-NY\VISTAS2020\657440_1\Due Diligence\Presentation\Project SYMPHONY_Oboe Diligence Materials_v06.pptx</a:t>
            </a:r>
            <a:endParaRPr lang="en-US" sz="800" b="0" dirty="0">
              <a:latin typeface="Arial" panose="020B0604020202020204" pitchFamily="34" charset="0"/>
            </a:endParaRPr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314552" y="1147989"/>
            <a:ext cx="9561286" cy="464321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marL="274320" lvl="0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/>
              <a:t>Edit Master text styles</a:t>
            </a:r>
          </a:p>
          <a:p>
            <a:pPr marL="548640" lvl="1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D1564"/>
              </a:buClr>
              <a:buSzPct val="75000"/>
              <a:buFont typeface="Wingdings" panose="05000000000000000000" pitchFamily="2" charset="2"/>
              <a:buChar char="v"/>
            </a:pPr>
            <a:r>
              <a:rPr lang="en-US" dirty="0"/>
              <a:t>Second level</a:t>
            </a:r>
          </a:p>
          <a:p>
            <a:pPr marL="822960" lvl="2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D1564"/>
              </a:buClr>
              <a:buFont typeface="Wingdings" panose="05000000000000000000" pitchFamily="2" charset="2"/>
              <a:buChar char="§"/>
            </a:pPr>
            <a:r>
              <a:rPr lang="en-US" dirty="0"/>
              <a:t>Third level</a:t>
            </a:r>
          </a:p>
          <a:p>
            <a:pPr marL="1097280" lvl="3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D1564"/>
              </a:buClr>
              <a:buFont typeface="Arial" panose="020B0604020202020204" pitchFamily="34" charset="0"/>
              <a:buChar char="•"/>
            </a:pPr>
            <a:r>
              <a:rPr lang="en-US" dirty="0"/>
              <a:t>Fourth level</a:t>
            </a:r>
          </a:p>
          <a:p>
            <a:pPr marL="1371600" lvl="4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D1564"/>
              </a:buClr>
              <a:buFont typeface="Courier New" panose="02070309020205020404" pitchFamily="49" charset="0"/>
              <a:buChar char="o"/>
            </a:pPr>
            <a:r>
              <a:rPr lang="en-US" dirty="0"/>
              <a:t>Fifth level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>
          <a:xfrm>
            <a:off x="11161485" y="6356350"/>
            <a:ext cx="703943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fld id="{46616483-2A41-4A20-BD01-F9E46BA69A4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55052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31" r:id="rId2"/>
    <p:sldLayoutId id="2147483727" r:id="rId3"/>
    <p:sldLayoutId id="2147483730" r:id="rId4"/>
    <p:sldLayoutId id="2147483728" r:id="rId5"/>
    <p:sldLayoutId id="2147483729" r:id="rId6"/>
    <p:sldLayoutId id="2147483732" r:id="rId7"/>
    <p:sldLayoutId id="2147483733" r:id="rId8"/>
    <p:sldLayoutId id="2147483734" r:id="rId9"/>
    <p:sldLayoutId id="2147483735" r:id="rId10"/>
  </p:sldLayoutIdLst>
  <p:hf hdr="0" ftr="0" dt="0"/>
  <p:txStyles>
    <p:titleStyle>
      <a:lvl1pPr marL="0" algn="l" defTabSz="914400" rtl="0" eaLnBrk="1" latinLnBrk="0" hangingPunct="1">
        <a:lnSpc>
          <a:spcPct val="100000"/>
        </a:lnSpc>
        <a:spcBef>
          <a:spcPct val="0"/>
        </a:spcBef>
        <a:buNone/>
        <a:defRPr lang="en-US" sz="2400" b="0" kern="1200" baseline="0" dirty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§"/>
        <a:defRPr lang="en-US" sz="16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731520" indent="-4572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lang="en-US" sz="16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834390" indent="-28575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lang="en-US" sz="16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108710" indent="-285750" algn="l" defTabSz="9906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lang="en-US" sz="16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440180" indent="-3429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lang="en-US" sz="16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3" userDrawn="1">
          <p15:clr>
            <a:srgbClr val="F26B43"/>
          </p15:clr>
        </p15:guide>
        <p15:guide id="3" orient="horz" pos="624" userDrawn="1">
          <p15:clr>
            <a:srgbClr val="F26B43"/>
          </p15:clr>
        </p15:guide>
        <p15:guide id="4" pos="6221" userDrawn="1">
          <p15:clr>
            <a:srgbClr val="F26B43"/>
          </p15:clr>
        </p15:guide>
        <p15:guide id="5" pos="189" userDrawn="1">
          <p15:clr>
            <a:srgbClr val="F26B43"/>
          </p15:clr>
        </p15:guide>
        <p15:guide id="6" orient="horz" pos="714" userDrawn="1">
          <p15:clr>
            <a:srgbClr val="F26B43"/>
          </p15:clr>
        </p15:guide>
        <p15:guide id="7" orient="horz" pos="3738" userDrawn="1">
          <p15:clr>
            <a:srgbClr val="F26B43"/>
          </p15:clr>
        </p15:guide>
        <p15:guide id="8" orient="horz" pos="364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98843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F7F289D-2757-0342-BE5D-531BF0C679A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299317" y="5049618"/>
            <a:ext cx="6978033" cy="495300"/>
          </a:xfrm>
        </p:spPr>
        <p:txBody>
          <a:bodyPr>
            <a:normAutofit/>
          </a:bodyPr>
          <a:lstStyle/>
          <a:p>
            <a:r>
              <a:rPr lang="en-US" sz="2500" b="1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14381898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D67FF-75AE-4F22-8549-01C40EE1D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 dirty="0">
                <a:latin typeface="Calibri" panose="020F0502020204030204" pitchFamily="34" charset="0"/>
                <a:cs typeface="Calibri" panose="020F0502020204030204" pitchFamily="34" charset="0"/>
              </a:rPr>
              <a:t>Nuclear Medicine</a:t>
            </a:r>
            <a:endParaRPr lang="en-US" sz="36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8F123B-625D-4706-99CC-8894E356DA9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4551" y="992777"/>
            <a:ext cx="11350580" cy="4963886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Root Type </a:t>
            </a:r>
            <a:endParaRPr lang="en-US" sz="1800" b="1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r>
              <a:rPr lang="en-US" sz="18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Planar </a:t>
            </a:r>
          </a:p>
          <a:p>
            <a:pPr algn="just"/>
            <a:r>
              <a:rPr lang="en-US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Imaging 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Introduction of radioactive materials into the body for a single plane display of images developed from the capture of radioactive </a:t>
            </a:r>
            <a:r>
              <a:rPr lang="en-US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emissions</a:t>
            </a:r>
          </a:p>
          <a:p>
            <a:pPr marL="0" indent="0" algn="just">
              <a:buNone/>
            </a:pPr>
            <a:r>
              <a:rPr 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Tomographic (</a:t>
            </a:r>
            <a:r>
              <a:rPr lang="en-US" sz="1800" b="1" dirty="0" err="1">
                <a:latin typeface="Calibri" panose="020F0502020204030204" pitchFamily="34" charset="0"/>
                <a:cs typeface="Calibri" panose="020F0502020204030204" pitchFamily="34" charset="0"/>
              </a:rPr>
              <a:t>Tomo</a:t>
            </a:r>
            <a:r>
              <a:rPr 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) Imaging </a:t>
            </a:r>
            <a:endParaRPr lang="en-US" sz="1800" b="1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Introduction 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of radioactive materials into the body for three dimensional display of images developed from the capture of radioactive </a:t>
            </a:r>
            <a:r>
              <a:rPr lang="en-US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emissions</a:t>
            </a:r>
          </a:p>
          <a:p>
            <a:pPr marL="0" indent="0" algn="just">
              <a:buNone/>
            </a:pPr>
            <a:r>
              <a:rPr 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Positron Emission Tomographic (PET) </a:t>
            </a:r>
            <a:r>
              <a:rPr lang="en-US" sz="18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Imaging</a:t>
            </a:r>
          </a:p>
          <a:p>
            <a:pPr algn="just"/>
            <a:r>
              <a:rPr lang="en-US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Introduction of radioactive materials into the body for three dimensional display of images developed from the </a:t>
            </a:r>
            <a:r>
              <a:rPr lang="en-US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simultaneous 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capture, 180 degrees apart, of radioactive </a:t>
            </a:r>
            <a:r>
              <a:rPr lang="en-US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emissions</a:t>
            </a:r>
          </a:p>
          <a:p>
            <a:pPr marL="0" indent="0" algn="just">
              <a:buNone/>
            </a:pPr>
            <a:r>
              <a:rPr lang="en-US" sz="1800" b="1" dirty="0" err="1">
                <a:latin typeface="Calibri" panose="020F0502020204030204" pitchFamily="34" charset="0"/>
                <a:cs typeface="Calibri" panose="020F0502020204030204" pitchFamily="34" charset="0"/>
              </a:rPr>
              <a:t>Nonimaging</a:t>
            </a:r>
            <a:r>
              <a:rPr 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 Uptake </a:t>
            </a:r>
            <a:endParaRPr lang="en-US" sz="1800" b="1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Introduction 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of radioactive materials into the body for measurements of organ function, from the detection of radioactive emissions</a:t>
            </a:r>
          </a:p>
        </p:txBody>
      </p:sp>
    </p:spTree>
    <p:extLst>
      <p:ext uri="{BB962C8B-B14F-4D97-AF65-F5344CB8AC3E}">
        <p14:creationId xmlns:p14="http://schemas.microsoft.com/office/powerpoint/2010/main" val="31859430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2C452-7771-4936-82B0-C2E929A9F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007" y="235131"/>
            <a:ext cx="9355907" cy="559907"/>
          </a:xfrm>
        </p:spPr>
        <p:txBody>
          <a:bodyPr/>
          <a:lstStyle/>
          <a:p>
            <a:r>
              <a:rPr lang="en-IN" sz="3600" b="1" dirty="0">
                <a:latin typeface="Calibri" panose="020F0502020204030204" pitchFamily="34" charset="0"/>
                <a:cs typeface="Calibri" panose="020F0502020204030204" pitchFamily="34" charset="0"/>
              </a:rPr>
              <a:t>Nuclear Medicine</a:t>
            </a:r>
            <a:endParaRPr lang="en-US" sz="36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E349D4-06F4-4BAC-B173-8E90E9B18E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09007" y="795039"/>
            <a:ext cx="11769632" cy="550125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1800" b="1" dirty="0" err="1">
                <a:latin typeface="Calibri" panose="020F0502020204030204" pitchFamily="34" charset="0"/>
                <a:cs typeface="Calibri" panose="020F0502020204030204" pitchFamily="34" charset="0"/>
              </a:rPr>
              <a:t>Nonimaging</a:t>
            </a:r>
            <a:r>
              <a:rPr 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 Probe </a:t>
            </a:r>
            <a:endParaRPr lang="en-US" sz="1800" b="1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Introduction 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of radioactive materials into the body for the study of distribution and fate of certain substances by the detection of radioactive emissions; or, alternatively, measurement of absorption of radioactive emissions from an external </a:t>
            </a:r>
            <a:r>
              <a:rPr lang="en-US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source</a:t>
            </a:r>
          </a:p>
          <a:p>
            <a:pPr marL="0" indent="0" algn="just">
              <a:buNone/>
            </a:pPr>
            <a:r>
              <a:rPr lang="en-US" sz="1800" b="1" dirty="0" err="1">
                <a:latin typeface="Calibri" panose="020F0502020204030204" pitchFamily="34" charset="0"/>
                <a:cs typeface="Calibri" panose="020F0502020204030204" pitchFamily="34" charset="0"/>
              </a:rPr>
              <a:t>Nonimaging</a:t>
            </a:r>
            <a:r>
              <a:rPr 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 Assay </a:t>
            </a:r>
            <a:endParaRPr lang="en-US" sz="1800" b="1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Introduction 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of radioactive materials into the body for the study of body fluids and blood elements, by the detection of radioactive </a:t>
            </a:r>
            <a:r>
              <a:rPr lang="en-US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emissions</a:t>
            </a:r>
          </a:p>
          <a:p>
            <a:pPr marL="0" indent="0" algn="just">
              <a:buNone/>
            </a:pPr>
            <a:r>
              <a:rPr lang="en-US" sz="18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Systemic </a:t>
            </a:r>
            <a:r>
              <a:rPr 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Therapy </a:t>
            </a:r>
            <a:endParaRPr lang="en-US" sz="1800" b="1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Introduction 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of unsealed radioactive materials into the body for </a:t>
            </a:r>
            <a:r>
              <a:rPr lang="en-US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treatment</a:t>
            </a:r>
          </a:p>
          <a:p>
            <a:pPr marL="0" indent="0" algn="just">
              <a:buNone/>
            </a:pPr>
            <a:r>
              <a:rPr 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Body Part </a:t>
            </a:r>
            <a:endParaRPr lang="en-US" sz="1800" b="1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Indicates 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the body part or region to the degree of specificity that is usual and appropriate for the section </a:t>
            </a:r>
          </a:p>
          <a:p>
            <a:pPr algn="just"/>
            <a:r>
              <a:rPr lang="en-US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Regional 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(e.g., lower extremity veins) and combination body parts (e.g., liver and spleen) are commonly </a:t>
            </a:r>
            <a:r>
              <a:rPr lang="en-US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used</a:t>
            </a:r>
          </a:p>
          <a:p>
            <a:pPr algn="just"/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Character 5 is the source of the radiation </a:t>
            </a:r>
          </a:p>
          <a:p>
            <a:pPr algn="just"/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An “Other Radionuclide” option is included for new FDA approved radiopharmaceuticals</a:t>
            </a:r>
          </a:p>
          <a:p>
            <a:pPr algn="just"/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43673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mega Healthcare">
      <a:dk1>
        <a:srgbClr val="262626"/>
      </a:dk1>
      <a:lt1>
        <a:srgbClr val="FFFFFF"/>
      </a:lt1>
      <a:dk2>
        <a:srgbClr val="1658A4"/>
      </a:dk2>
      <a:lt2>
        <a:srgbClr val="348EC9"/>
      </a:lt2>
      <a:accent1>
        <a:srgbClr val="153166"/>
      </a:accent1>
      <a:accent2>
        <a:srgbClr val="992428"/>
      </a:accent2>
      <a:accent3>
        <a:srgbClr val="77787B"/>
      </a:accent3>
      <a:accent4>
        <a:srgbClr val="BCBEC0"/>
      </a:accent4>
      <a:accent5>
        <a:srgbClr val="F47C23"/>
      </a:accent5>
      <a:accent6>
        <a:srgbClr val="67C189"/>
      </a:accent6>
      <a:hlink>
        <a:srgbClr val="0070C0"/>
      </a:hlink>
      <a:folHlink>
        <a:srgbClr val="90C6F6"/>
      </a:folHlink>
    </a:clrScheme>
    <a:fontScheme name="Omega New Template">
      <a:majorFont>
        <a:latin typeface="Avenir Heavy"/>
        <a:ea typeface=""/>
        <a:cs typeface=""/>
      </a:majorFont>
      <a:minorFont>
        <a:latin typeface="Avenir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mega Healthcare_template" id="{63A0DB61-DB58-1A4A-B042-1839354C95F2}" vid="{E2BCF418-2F16-D54B-8DA6-93CCB280D11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RCM</Template>
  <TotalTime>419</TotalTime>
  <Words>251</Words>
  <Application>Microsoft Office PowerPoint</Application>
  <PresentationFormat>Widescreen</PresentationFormat>
  <Paragraphs>23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Arial</vt:lpstr>
      <vt:lpstr>Avenir Heavy</vt:lpstr>
      <vt:lpstr>Avenir Medium</vt:lpstr>
      <vt:lpstr>Calibri</vt:lpstr>
      <vt:lpstr>Courier New</vt:lpstr>
      <vt:lpstr>Wingdings</vt:lpstr>
      <vt:lpstr>Office Theme</vt:lpstr>
      <vt:lpstr>PowerPoint Presentation</vt:lpstr>
      <vt:lpstr>PowerPoint Presentation</vt:lpstr>
      <vt:lpstr>Nuclear Medicine</vt:lpstr>
      <vt:lpstr>Nuclear Medicine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Vinothini Kirupakaran</dc:creator>
  <cp:lastModifiedBy>Vijayashanthi D</cp:lastModifiedBy>
  <cp:revision>53</cp:revision>
  <dcterms:created xsi:type="dcterms:W3CDTF">2021-08-28T14:27:41Z</dcterms:created>
  <dcterms:modified xsi:type="dcterms:W3CDTF">2022-01-03T13:08:49Z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8b32edde-1ff2-4d4e-a2d7-fbbc106f8d9c</vt:lpwstr>
  </property>
  <property fmtid="{D5CDD505-2E9C-101B-9397-08002B2CF9AE}" pid="3" name="Project">
    <vt:lpwstr>IBDROOT</vt:lpwstr>
  </property>
  <property fmtid="{D5CDD505-2E9C-101B-9397-08002B2CF9AE}" pid="4" name="Classification">
    <vt:lpwstr>I</vt:lpwstr>
  </property>
  <property fmtid="{D5CDD505-2E9C-101B-9397-08002B2CF9AE}" pid="5" name="DocTopsCleaned">
    <vt:lpwstr>True</vt:lpwstr>
  </property>
  <property fmtid="{D5CDD505-2E9C-101B-9397-08002B2CF9AE}" pid="6" name="ShowHideDoctop">
    <vt:lpwstr>False</vt:lpwstr>
  </property>
</Properties>
</file>