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handoutMasterIdLst>
    <p:handoutMasterId r:id="rId13"/>
  </p:handoutMasterIdLst>
  <p:sldIdLst>
    <p:sldId id="516" r:id="rId2"/>
    <p:sldId id="517" r:id="rId3"/>
    <p:sldId id="547" r:id="rId4"/>
    <p:sldId id="548" r:id="rId5"/>
    <p:sldId id="549" r:id="rId6"/>
    <p:sldId id="550" r:id="rId7"/>
    <p:sldId id="551" r:id="rId8"/>
    <p:sldId id="552" r:id="rId9"/>
    <p:sldId id="553" r:id="rId10"/>
    <p:sldId id="55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ontic" initials="l" lastIdx="2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C542"/>
    <a:srgbClr val="2F6193"/>
    <a:srgbClr val="FF8201"/>
    <a:srgbClr val="262626"/>
    <a:srgbClr val="1D1564"/>
    <a:srgbClr val="0B5395"/>
    <a:srgbClr val="0572BC"/>
    <a:srgbClr val="2FA9D7"/>
    <a:srgbClr val="ED9622"/>
    <a:srgbClr val="2D2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17" autoAdjust="0"/>
    <p:restoredTop sz="93957" autoAdjust="0"/>
  </p:normalViewPr>
  <p:slideViewPr>
    <p:cSldViewPr snapToGrid="0">
      <p:cViewPr varScale="1">
        <p:scale>
          <a:sx n="73" d="100"/>
          <a:sy n="73" d="100"/>
        </p:scale>
        <p:origin x="186" y="72"/>
      </p:cViewPr>
      <p:guideLst>
        <p:guide pos="3840"/>
        <p:guide orient="horz" pos="2160"/>
      </p:guideLst>
    </p:cSldViewPr>
  </p:slideViewPr>
  <p:notesTextViewPr>
    <p:cViewPr>
      <p:scale>
        <a:sx n="75" d="100"/>
        <a:sy n="75" d="100"/>
      </p:scale>
      <p:origin x="0" y="0"/>
    </p:cViewPr>
  </p:notesTextViewPr>
  <p:notesViewPr>
    <p:cSldViewPr snapToGrid="0">
      <p:cViewPr varScale="1">
        <p:scale>
          <a:sx n="86" d="100"/>
          <a:sy n="86" d="100"/>
        </p:scale>
        <p:origin x="292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A420ADA-2636-4920-B510-E61DFF0FA5AC}" type="datetimeFigureOut">
              <a:rPr lang="en-IN" smtClean="0"/>
              <a:t>03-01-2022</a:t>
            </a:fld>
            <a:endParaRPr lang="en-IN"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AF8806-B5FA-4027-87F3-47B8EAE39ED3}" type="slidenum">
              <a:rPr lang="en-IN" smtClean="0"/>
              <a:t>‹#›</a:t>
            </a:fld>
            <a:endParaRPr lang="en-IN" dirty="0"/>
          </a:p>
        </p:txBody>
      </p:sp>
    </p:spTree>
    <p:extLst>
      <p:ext uri="{BB962C8B-B14F-4D97-AF65-F5344CB8AC3E}">
        <p14:creationId xmlns:p14="http://schemas.microsoft.com/office/powerpoint/2010/main" val="261774377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D9EAC-9A38-4670-B77A-DD2A7D52B450}" type="datetimeFigureOut">
              <a:rPr lang="en-IN" smtClean="0"/>
              <a:t>03-01-2022</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dirty="0"/>
              <a:t>This presentation is confidential. No part of it may be circulated, quoted, or reproduced for distribution outside the organization without prior written approval from Omega Healthcare. Thank you. </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FA0649-D767-4B37-848A-14C1DC350B70}" type="slidenum">
              <a:rPr lang="en-IN" smtClean="0"/>
              <a:t>‹#›</a:t>
            </a:fld>
            <a:endParaRPr lang="en-IN" dirty="0"/>
          </a:p>
        </p:txBody>
      </p:sp>
    </p:spTree>
    <p:extLst>
      <p:ext uri="{BB962C8B-B14F-4D97-AF65-F5344CB8AC3E}">
        <p14:creationId xmlns:p14="http://schemas.microsoft.com/office/powerpoint/2010/main" val="15264905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897414-F6FA-B34C-90AF-D370F983A965}"/>
              </a:ext>
            </a:extLst>
          </p:cNvPr>
          <p:cNvPicPr>
            <a:picLocks noChangeAspect="1"/>
          </p:cNvPicPr>
          <p:nvPr userDrawn="1"/>
        </p:nvPicPr>
        <p:blipFill>
          <a:blip r:embed="rId2">
            <a:extLst>
              <a:ext uri="{28A0092B-C50C-407E-A947-70E740481C1C}">
                <a14:useLocalDpi xmlns:a14="http://schemas.microsoft.com/office/drawing/2010/main" val="0"/>
              </a:ext>
            </a:extLst>
          </a:blip>
          <a:srcRect t="1778" b="1778"/>
          <a:stretch/>
        </p:blipFill>
        <p:spPr>
          <a:xfrm>
            <a:off x="0" y="243840"/>
            <a:ext cx="12192000" cy="6614160"/>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4272404" y="2536069"/>
            <a:ext cx="3647192" cy="1218051"/>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481076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sp>
        <p:nvSpPr>
          <p:cNvPr id="5" name="Rectangle 4">
            <a:extLst>
              <a:ext uri="{FF2B5EF4-FFF2-40B4-BE49-F238E27FC236}">
                <a16:creationId xmlns:a16="http://schemas.microsoft.com/office/drawing/2014/main" id="{2E38A553-5287-0E41-A5D3-E62002DC4346}"/>
              </a:ext>
            </a:extLst>
          </p:cNvPr>
          <p:cNvSpPr/>
          <p:nvPr userDrawn="1"/>
        </p:nvSpPr>
        <p:spPr>
          <a:xfrm>
            <a:off x="0" y="6693408"/>
            <a:ext cx="12192000" cy="1645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3540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C79E7-7057-AF4F-B18C-E3989117AE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descr="A picture containing text, clipart&#10;&#10;Description automatically generated">
            <a:extLst>
              <a:ext uri="{FF2B5EF4-FFF2-40B4-BE49-F238E27FC236}">
                <a16:creationId xmlns:a16="http://schemas.microsoft.com/office/drawing/2014/main" id="{AD352FF6-569A-064D-B4B2-EF817DBEF35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72404" y="2040769"/>
            <a:ext cx="3647192" cy="1215730"/>
          </a:xfrm>
          <a:prstGeom prst="rect">
            <a:avLst/>
          </a:prstGeom>
        </p:spPr>
      </p:pic>
      <p:sp>
        <p:nvSpPr>
          <p:cNvPr id="6" name="Text Placeholder 10">
            <a:extLst>
              <a:ext uri="{FF2B5EF4-FFF2-40B4-BE49-F238E27FC236}">
                <a16:creationId xmlns:a16="http://schemas.microsoft.com/office/drawing/2014/main" id="{B3357C5F-9929-674B-BF2C-ADB33591FAA9}"/>
              </a:ext>
            </a:extLst>
          </p:cNvPr>
          <p:cNvSpPr>
            <a:spLocks noGrp="1"/>
          </p:cNvSpPr>
          <p:nvPr>
            <p:ph type="body" sz="quarter" idx="10" hasCustomPrompt="1"/>
          </p:nvPr>
        </p:nvSpPr>
        <p:spPr>
          <a:xfrm>
            <a:off x="2914650" y="5049618"/>
            <a:ext cx="6362700" cy="495300"/>
          </a:xfrm>
          <a:prstGeom prst="rect">
            <a:avLst/>
          </a:prstGeom>
        </p:spPr>
        <p:txBody>
          <a:bodyPr anchor="ctr"/>
          <a:lstStyle>
            <a:lvl1pPr marL="0" indent="0" algn="ctr">
              <a:buNone/>
              <a:defRPr lang="en-US" sz="2000" b="0" kern="1200" baseline="0" dirty="0">
                <a:solidFill>
                  <a:schemeClr val="accent1"/>
                </a:solidFill>
                <a:latin typeface="+mj-lt"/>
                <a:ea typeface="+mj-ea"/>
                <a:cs typeface="+mj-cs"/>
              </a:defRPr>
            </a:lvl1pPr>
          </a:lstStyle>
          <a:p>
            <a:pPr lvl="0"/>
            <a:r>
              <a:rPr lang="en-US" dirty="0"/>
              <a:t>SUBTITLE</a:t>
            </a:r>
          </a:p>
        </p:txBody>
      </p:sp>
    </p:spTree>
    <p:extLst>
      <p:ext uri="{BB962C8B-B14F-4D97-AF65-F5344CB8AC3E}">
        <p14:creationId xmlns:p14="http://schemas.microsoft.com/office/powerpoint/2010/main" val="26873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7AE9F9-2984-204C-B427-379965A9AAF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p:cNvSpPr>
            <a:spLocks noGrp="1"/>
          </p:cNvSpPr>
          <p:nvPr>
            <p:ph type="title"/>
          </p:nvPr>
        </p:nvSpPr>
        <p:spPr>
          <a:xfrm>
            <a:off x="2914650" y="2689222"/>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sp>
        <p:nvSpPr>
          <p:cNvPr id="11" name="Text Placeholder 10"/>
          <p:cNvSpPr>
            <a:spLocks noGrp="1"/>
          </p:cNvSpPr>
          <p:nvPr>
            <p:ph type="body" sz="quarter" idx="10" hasCustomPrompt="1"/>
          </p:nvPr>
        </p:nvSpPr>
        <p:spPr>
          <a:xfrm>
            <a:off x="2914650" y="3545210"/>
            <a:ext cx="6362700" cy="495300"/>
          </a:xfrm>
          <a:prstGeom prst="rect">
            <a:avLst/>
          </a:prstGeom>
        </p:spPr>
        <p:txBody>
          <a:bodyPr anchor="ctr"/>
          <a:lstStyle>
            <a:lvl1pPr marL="0" indent="0" algn="ctr">
              <a:buNone/>
              <a:defRPr lang="en-US" sz="2000" b="0" kern="1200" baseline="0" dirty="0">
                <a:solidFill>
                  <a:schemeClr val="bg1"/>
                </a:solidFill>
                <a:latin typeface="+mj-lt"/>
                <a:ea typeface="+mj-ea"/>
                <a:cs typeface="+mj-cs"/>
              </a:defRPr>
            </a:lvl1pPr>
          </a:lstStyle>
          <a:p>
            <a:pPr lvl="0"/>
            <a:r>
              <a:rPr lang="en-US" dirty="0"/>
              <a:t>Subtitle</a:t>
            </a:r>
          </a:p>
        </p:txBody>
      </p:sp>
      <p:pic>
        <p:nvPicPr>
          <p:cNvPr id="6" name="Picture 5">
            <a:extLst>
              <a:ext uri="{FF2B5EF4-FFF2-40B4-BE49-F238E27FC236}">
                <a16:creationId xmlns:a16="http://schemas.microsoft.com/office/drawing/2014/main" id="{6B5C9036-2210-6142-BFDC-7BFE83F361D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spTree>
    <p:extLst>
      <p:ext uri="{BB962C8B-B14F-4D97-AF65-F5344CB8AC3E}">
        <p14:creationId xmlns:p14="http://schemas.microsoft.com/office/powerpoint/2010/main" val="296426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B9BD612-3813-FB4E-865F-FADE0BC7F8B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8" name="Title 7"/>
          <p:cNvSpPr>
            <a:spLocks noGrp="1"/>
          </p:cNvSpPr>
          <p:nvPr>
            <p:ph type="title"/>
          </p:nvPr>
        </p:nvSpPr>
        <p:spPr>
          <a:xfrm>
            <a:off x="2914650" y="3108960"/>
            <a:ext cx="6362700" cy="640080"/>
          </a:xfrm>
          <a:prstGeom prst="rect">
            <a:avLst/>
          </a:prstGeom>
        </p:spPr>
        <p:txBody>
          <a:bodyPr wrap="none" lIns="0" rIns="0" anchor="ctr">
            <a:noAutofit/>
          </a:bodyPr>
          <a:lstStyle>
            <a:lvl1pPr marL="0" algn="ctr" defTabSz="914400" rtl="0" eaLnBrk="1" latinLnBrk="0" hangingPunct="1">
              <a:lnSpc>
                <a:spcPct val="100000"/>
              </a:lnSpc>
              <a:spcBef>
                <a:spcPct val="0"/>
              </a:spcBef>
              <a:buNone/>
              <a:defRPr lang="en-US" sz="3600" b="0" kern="1200" baseline="0" dirty="0">
                <a:solidFill>
                  <a:schemeClr val="bg1"/>
                </a:solidFill>
                <a:latin typeface="+mn-lt"/>
                <a:ea typeface="+mj-ea"/>
                <a:cs typeface="+mj-cs"/>
              </a:defRPr>
            </a:lvl1pPr>
          </a:lstStyle>
          <a:p>
            <a:r>
              <a:rPr lang="en-US"/>
              <a:t>Click to edit Master title style</a:t>
            </a:r>
            <a:endParaRPr lang="en-US" dirty="0"/>
          </a:p>
        </p:txBody>
      </p:sp>
      <p:pic>
        <p:nvPicPr>
          <p:cNvPr id="5" name="Picture 4">
            <a:extLst>
              <a:ext uri="{FF2B5EF4-FFF2-40B4-BE49-F238E27FC236}">
                <a16:creationId xmlns:a16="http://schemas.microsoft.com/office/drawing/2014/main" id="{B1117FC5-AAA0-1041-BC24-5CE254DB526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2079294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B580F0-627E-BF4F-9A0F-3D79B602984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0BDA3B51-831E-2940-8D2F-6C33370C7922}"/>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userDrawn="1">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bg1"/>
                </a:solidFill>
                <a:latin typeface="+mj-lt"/>
              </a:defRPr>
            </a:lvl1pPr>
          </a:lstStyle>
          <a:p>
            <a:fld id="{46616483-2A41-4A20-BD01-F9E46BA69A42}" type="slidenum">
              <a:rPr lang="en-US" smtClean="0"/>
              <a:pPr/>
              <a:t>‹#›</a:t>
            </a:fld>
            <a:endParaRPr lang="en-US" dirty="0"/>
          </a:p>
        </p:txBody>
      </p:sp>
      <p:pic>
        <p:nvPicPr>
          <p:cNvPr id="7" name="Picture 6">
            <a:extLst>
              <a:ext uri="{FF2B5EF4-FFF2-40B4-BE49-F238E27FC236}">
                <a16:creationId xmlns:a16="http://schemas.microsoft.com/office/drawing/2014/main" id="{C22189A4-037B-0845-B243-1FE144E511BB}"/>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318003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5EA7B4-D03C-0542-BDFA-C3169458B7F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A452CB39-3423-8046-836D-596E398D1F5C}"/>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userDrawn="1">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userDrawn="1">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FC85A651-D2E5-C340-A433-6D68EFF231A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Tree>
    <p:extLst>
      <p:ext uri="{BB962C8B-B14F-4D97-AF65-F5344CB8AC3E}">
        <p14:creationId xmlns:p14="http://schemas.microsoft.com/office/powerpoint/2010/main" val="47830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520336" y="64833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Slide Number Placeholder 2"/>
          <p:cNvSpPr>
            <a:spLocks noGrp="1"/>
          </p:cNvSpPr>
          <p:nvPr>
            <p:ph type="sldNum" sz="quarter" idx="4"/>
          </p:nvPr>
        </p:nvSpPr>
        <p:spPr>
          <a:xfrm>
            <a:off x="168365" y="6457950"/>
            <a:ext cx="703943" cy="365125"/>
          </a:xfrm>
          <a:prstGeom prst="rect">
            <a:avLst/>
          </a:prstGeom>
        </p:spPr>
        <p:txBody>
          <a:bodyPr vert="horz" lIns="0" tIns="45720" rIns="0" bIns="45720" rtlCol="0" anchor="ctr"/>
          <a:lstStyle>
            <a:lvl1pPr algn="l">
              <a:defRPr sz="1050">
                <a:solidFill>
                  <a:schemeClr val="accent1"/>
                </a:solidFill>
                <a:latin typeface="+mj-lt"/>
              </a:defRPr>
            </a:lvl1pPr>
          </a:lstStyle>
          <a:p>
            <a:fld id="{46616483-2A41-4A20-BD01-F9E46BA69A42}" type="slidenum">
              <a:rPr lang="en-US" smtClean="0"/>
              <a:pPr/>
              <a:t>‹#›</a:t>
            </a:fld>
            <a:endParaRPr lang="en-US" dirty="0"/>
          </a:p>
        </p:txBody>
      </p:sp>
      <p:pic>
        <p:nvPicPr>
          <p:cNvPr id="6" name="Picture 5">
            <a:extLst>
              <a:ext uri="{FF2B5EF4-FFF2-40B4-BE49-F238E27FC236}">
                <a16:creationId xmlns:a16="http://schemas.microsoft.com/office/drawing/2014/main" id="{9A60F511-5604-4848-B430-C09C849A147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9" name="Picture 8">
            <a:extLst>
              <a:ext uri="{FF2B5EF4-FFF2-40B4-BE49-F238E27FC236}">
                <a16:creationId xmlns:a16="http://schemas.microsoft.com/office/drawing/2014/main" id="{D26BE787-5CAB-924F-9402-77E03E56C3A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0" name="Rectangle 9">
            <a:extLst>
              <a:ext uri="{FF2B5EF4-FFF2-40B4-BE49-F238E27FC236}">
                <a16:creationId xmlns:a16="http://schemas.microsoft.com/office/drawing/2014/main" id="{F7AE919E-F3E3-614F-B830-39BA0FFE7B16}"/>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78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solidFill>
                  <a:schemeClr val="accent1"/>
                </a:solidFill>
              </a:rPr>
              <a:pPr/>
              <a:t>‹#›</a:t>
            </a:fld>
            <a:endParaRPr lang="en-US" dirty="0">
              <a:solidFill>
                <a:schemeClr val="accent1"/>
              </a:solidFill>
            </a:endParaRPr>
          </a:p>
        </p:txBody>
      </p:sp>
      <p:sp>
        <p:nvSpPr>
          <p:cNvPr id="8" name="Title 7"/>
          <p:cNvSpPr>
            <a:spLocks noGrp="1"/>
          </p:cNvSpPr>
          <p:nvPr>
            <p:ph type="title"/>
          </p:nvPr>
        </p:nvSpPr>
        <p:spPr>
          <a:xfrm>
            <a:off x="520336" y="958092"/>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520336" y="1772708"/>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218B1814-8187-604F-BB35-1ED23A564EF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10423" y="6217919"/>
            <a:ext cx="1348505" cy="451999"/>
          </a:xfrm>
          <a:prstGeom prst="rect">
            <a:avLst/>
          </a:prstGeom>
        </p:spPr>
      </p:pic>
      <p:pic>
        <p:nvPicPr>
          <p:cNvPr id="12" name="Picture 11">
            <a:extLst>
              <a:ext uri="{FF2B5EF4-FFF2-40B4-BE49-F238E27FC236}">
                <a16:creationId xmlns:a16="http://schemas.microsoft.com/office/drawing/2014/main" id="{F5F483BD-9067-A74B-9DE3-D4DBAEC41D4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flipH="1">
            <a:off x="0" y="0"/>
            <a:ext cx="12192000" cy="6858000"/>
          </a:xfrm>
          <a:prstGeom prst="rect">
            <a:avLst/>
          </a:prstGeom>
        </p:spPr>
      </p:pic>
      <p:sp>
        <p:nvSpPr>
          <p:cNvPr id="13" name="Rectangle 12">
            <a:extLst>
              <a:ext uri="{FF2B5EF4-FFF2-40B4-BE49-F238E27FC236}">
                <a16:creationId xmlns:a16="http://schemas.microsoft.com/office/drawing/2014/main" id="{B641A0E5-B6BB-5A4E-A439-D3DE43390EB0}"/>
              </a:ext>
            </a:extLst>
          </p:cNvPr>
          <p:cNvSpPr/>
          <p:nvPr userDrawn="1"/>
        </p:nvSpPr>
        <p:spPr>
          <a:xfrm rot="10800000" flipH="1">
            <a:off x="0" y="1"/>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8963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303BC2-BE3B-E74E-8F32-DC9FE778E313}"/>
              </a:ext>
            </a:extLst>
          </p:cNvPr>
          <p:cNvSpPr/>
          <p:nvPr userDrawn="1"/>
        </p:nvSpPr>
        <p:spPr>
          <a:xfrm>
            <a:off x="0" y="6135624"/>
            <a:ext cx="12192000" cy="722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2">
            <a:extLst>
              <a:ext uri="{FF2B5EF4-FFF2-40B4-BE49-F238E27FC236}">
                <a16:creationId xmlns:a16="http://schemas.microsoft.com/office/drawing/2014/main" id="{4C4CB8B0-BC73-F942-BB45-8581E54B431D}"/>
              </a:ext>
            </a:extLst>
          </p:cNvPr>
          <p:cNvSpPr txBox="1">
            <a:spLocks/>
          </p:cNvSpPr>
          <p:nvPr userDrawn="1"/>
        </p:nvSpPr>
        <p:spPr>
          <a:xfrm>
            <a:off x="168365" y="6457950"/>
            <a:ext cx="703943" cy="365125"/>
          </a:xfrm>
          <a:prstGeom prst="rect">
            <a:avLst/>
          </a:prstGeom>
        </p:spPr>
        <p:txBody>
          <a:bodyPr vert="horz" lIns="0" tIns="45720" rIns="0" bIns="45720" rtlCol="0" anchor="ctr"/>
          <a:lstStyle>
            <a:defPPr>
              <a:defRPr lang="en-US"/>
            </a:defPPr>
            <a:lvl1pPr marL="0" algn="l" defTabSz="914400" rtl="0" eaLnBrk="1" latinLnBrk="0" hangingPunct="1">
              <a:defRPr sz="105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16483-2A41-4A20-BD01-F9E46BA69A42}" type="slidenum">
              <a:rPr lang="en-US" smtClean="0"/>
              <a:pPr/>
              <a:t>‹#›</a:t>
            </a:fld>
            <a:endParaRPr lang="en-US" dirty="0"/>
          </a:p>
        </p:txBody>
      </p:sp>
      <p:sp>
        <p:nvSpPr>
          <p:cNvPr id="8" name="Title 7"/>
          <p:cNvSpPr>
            <a:spLocks noGrp="1"/>
          </p:cNvSpPr>
          <p:nvPr>
            <p:ph type="title"/>
          </p:nvPr>
        </p:nvSpPr>
        <p:spPr>
          <a:xfrm>
            <a:off x="314552" y="333373"/>
            <a:ext cx="9250362" cy="461665"/>
          </a:xfrm>
          <a:prstGeom prst="rect">
            <a:avLst/>
          </a:prstGeom>
        </p:spPr>
        <p:txBody>
          <a:bodyPr wrap="none" lIns="0" rIns="0" anchor="ctr">
            <a:noAutofit/>
          </a:bodyPr>
          <a:lst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sz="quarter" idx="10"/>
          </p:nvPr>
        </p:nvSpPr>
        <p:spPr>
          <a:xfrm>
            <a:off x="314552" y="1147989"/>
            <a:ext cx="9561286" cy="4643211"/>
          </a:xfrm>
          <a:prstGeom prst="rect">
            <a:avLst/>
          </a:prstGeom>
        </p:spPr>
        <p:txBody>
          <a:bodyPr lIns="0" tIns="0" rIns="0" bIns="0"/>
          <a:lstStyle>
            <a:lvl1pPr marL="274320" indent="-274320" algn="l" defTabSz="914400" rtl="0" eaLnBrk="1" latinLnBrk="0" hangingPunct="1">
              <a:lnSpc>
                <a:spcPct val="100000"/>
              </a:lnSpc>
              <a:spcBef>
                <a:spcPts val="600"/>
              </a:spcBef>
              <a:spcAft>
                <a:spcPts val="600"/>
              </a:spcAft>
              <a:buFont typeface="Wingdings" panose="05000000000000000000" pitchFamily="2" charset="2"/>
              <a:buChar char="Ø"/>
              <a:defRPr lang="en-US" sz="1600" kern="1200" dirty="0" smtClean="0">
                <a:solidFill>
                  <a:srgbClr val="262626"/>
                </a:solidFill>
                <a:latin typeface="+mn-lt"/>
                <a:ea typeface="+mn-ea"/>
                <a:cs typeface="+mn-cs"/>
              </a:defRPr>
            </a:lvl1pPr>
            <a:lvl2pPr marL="548640"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defRPr lang="en-US" sz="1600" kern="1200" dirty="0" smtClean="0">
                <a:solidFill>
                  <a:srgbClr val="262626"/>
                </a:solidFill>
                <a:latin typeface="+mn-lt"/>
                <a:ea typeface="+mn-ea"/>
                <a:cs typeface="+mn-cs"/>
              </a:defRPr>
            </a:lvl2pPr>
            <a:lvl3pPr marL="822960"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defRPr lang="en-US" sz="1600" kern="1200" dirty="0" smtClean="0">
                <a:solidFill>
                  <a:srgbClr val="262626"/>
                </a:solidFill>
                <a:latin typeface="+mn-lt"/>
                <a:ea typeface="+mn-ea"/>
                <a:cs typeface="+mn-cs"/>
              </a:defRPr>
            </a:lvl3pPr>
            <a:lvl4pPr marL="1097280"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defRPr lang="en-US" sz="1600" kern="1200" dirty="0" smtClean="0">
                <a:solidFill>
                  <a:srgbClr val="262626"/>
                </a:solidFill>
                <a:latin typeface="+mn-lt"/>
                <a:ea typeface="+mn-ea"/>
                <a:cs typeface="+mn-cs"/>
              </a:defRPr>
            </a:lvl4pPr>
            <a:lvl5pPr marL="1371600"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defRPr lang="en-US" sz="1600" kern="1200" dirty="0">
                <a:solidFill>
                  <a:srgbClr val="262626"/>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B2380843-F36E-1949-B9A3-F9B0FEC10BA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606677" y="6217919"/>
            <a:ext cx="1355998" cy="451999"/>
          </a:xfrm>
          <a:prstGeom prst="rect">
            <a:avLst/>
          </a:prstGeom>
        </p:spPr>
      </p:pic>
      <p:sp>
        <p:nvSpPr>
          <p:cNvPr id="2" name="Rectangle 1">
            <a:extLst>
              <a:ext uri="{FF2B5EF4-FFF2-40B4-BE49-F238E27FC236}">
                <a16:creationId xmlns:a16="http://schemas.microsoft.com/office/drawing/2014/main" id="{55439FC3-82D0-864B-805C-6103C617B7B8}"/>
              </a:ext>
            </a:extLst>
          </p:cNvPr>
          <p:cNvSpPr/>
          <p:nvPr userDrawn="1"/>
        </p:nvSpPr>
        <p:spPr>
          <a:xfrm>
            <a:off x="0" y="6788150"/>
            <a:ext cx="12192000" cy="698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5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3_Title Slid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857"/>
            <a:ext cx="12188952" cy="6856285"/>
          </a:xfrm>
          <a:prstGeom prst="rect">
            <a:avLst/>
          </a:prstGeom>
        </p:spPr>
      </p:pic>
      <p:pic>
        <p:nvPicPr>
          <p:cNvPr id="4" name="Picture 3" descr="Logo&#10;&#10;Description automatically generated">
            <a:extLst>
              <a:ext uri="{FF2B5EF4-FFF2-40B4-BE49-F238E27FC236}">
                <a16:creationId xmlns:a16="http://schemas.microsoft.com/office/drawing/2014/main" id="{05EB7333-1EA9-C143-81E6-31F92E2FBCA8}"/>
              </a:ext>
            </a:extLst>
          </p:cNvPr>
          <p:cNvPicPr>
            <a:picLocks noChangeAspect="1"/>
          </p:cNvPicPr>
          <p:nvPr userDrawn="1"/>
        </p:nvPicPr>
        <p:blipFill>
          <a:blip r:embed="rId3"/>
          <a:stretch>
            <a:fillRect/>
          </a:stretch>
        </p:blipFill>
        <p:spPr>
          <a:xfrm>
            <a:off x="3321719" y="2947779"/>
            <a:ext cx="2881826" cy="962442"/>
          </a:xfrm>
          <a:prstGeom prst="rect">
            <a:avLst/>
          </a:prstGeom>
        </p:spPr>
      </p:pic>
    </p:spTree>
    <p:extLst>
      <p:ext uri="{BB962C8B-B14F-4D97-AF65-F5344CB8AC3E}">
        <p14:creationId xmlns:p14="http://schemas.microsoft.com/office/powerpoint/2010/main" val="3525518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493829" y="5791200"/>
            <a:ext cx="1416269" cy="474787"/>
          </a:xfrm>
          <a:prstGeom prst="rect">
            <a:avLst/>
          </a:prstGeom>
        </p:spPr>
      </p:pic>
      <p:sp>
        <p:nvSpPr>
          <p:cNvPr id="2" name="Title Placeholder 1"/>
          <p:cNvSpPr>
            <a:spLocks noGrp="1"/>
          </p:cNvSpPr>
          <p:nvPr>
            <p:ph type="title"/>
          </p:nvPr>
        </p:nvSpPr>
        <p:spPr>
          <a:xfrm>
            <a:off x="314552" y="333373"/>
            <a:ext cx="9253728" cy="466344"/>
          </a:xfrm>
          <a:prstGeom prst="rect">
            <a:avLst/>
          </a:prstGeom>
        </p:spPr>
        <p:txBody>
          <a:bodyPr vert="horz" lIns="0" tIns="0" rIns="0" bIns="0" rtlCol="0" anchor="ctr">
            <a:normAutofit/>
          </a:bodyPr>
          <a:lstStyle/>
          <a:p>
            <a:r>
              <a:rPr lang="en-US"/>
              <a:t>Click to edit Master title style</a:t>
            </a:r>
            <a:endParaRPr lang="en-US" dirty="0"/>
          </a:p>
        </p:txBody>
      </p:sp>
      <p:sp>
        <p:nvSpPr>
          <p:cNvPr id="5" name="GS Doctop Placeholder" hidden="1"/>
          <p:cNvSpPr txBox="1"/>
          <p:nvPr userDrawn="1"/>
        </p:nvSpPr>
        <p:spPr>
          <a:xfrm>
            <a:off x="546100" y="0"/>
            <a:ext cx="5651500" cy="338554"/>
          </a:xfrm>
          <a:prstGeom prst="rect">
            <a:avLst/>
          </a:prstGeom>
          <a:noFill/>
        </p:spPr>
        <p:txBody>
          <a:bodyPr vert="horz" rtlCol="0">
            <a:spAutoFit/>
          </a:bodyPr>
          <a:lstStyle/>
          <a:p>
            <a:pPr algn="l"/>
            <a:r>
              <a:rPr lang="en-US" sz="800" b="0">
                <a:latin typeface="Arial" panose="020B0604020202020204" pitchFamily="34" charset="0"/>
              </a:rPr>
              <a:t>IBDROOT\PROJECTS\IBD-NY\VISTAS2020\657440_1\Due Diligence\Presentation\Project SYMPHONY_Oboe Diligence Materials_v06.pptx</a:t>
            </a:r>
            <a:endParaRPr lang="en-US" sz="800" b="0" dirty="0">
              <a:latin typeface="Arial" panose="020B0604020202020204" pitchFamily="34" charset="0"/>
            </a:endParaRPr>
          </a:p>
        </p:txBody>
      </p:sp>
      <p:sp>
        <p:nvSpPr>
          <p:cNvPr id="9" name="Text Placeholder 8"/>
          <p:cNvSpPr>
            <a:spLocks noGrp="1"/>
          </p:cNvSpPr>
          <p:nvPr>
            <p:ph type="body" idx="1"/>
          </p:nvPr>
        </p:nvSpPr>
        <p:spPr>
          <a:xfrm>
            <a:off x="314552" y="1147989"/>
            <a:ext cx="9561286" cy="4643211"/>
          </a:xfrm>
          <a:prstGeom prst="rect">
            <a:avLst/>
          </a:prstGeom>
        </p:spPr>
        <p:txBody>
          <a:bodyPr vert="horz" lIns="0" tIns="0" rIns="0" bIns="0" rtlCol="0">
            <a:normAutofit/>
          </a:bodyPr>
          <a:lstStyle/>
          <a:p>
            <a:pPr marL="274320" lvl="0" indent="-274320" algn="l" defTabSz="914400" rtl="0" eaLnBrk="1" latinLnBrk="0" hangingPunct="1">
              <a:lnSpc>
                <a:spcPct val="100000"/>
              </a:lnSpc>
              <a:spcBef>
                <a:spcPts val="600"/>
              </a:spcBef>
              <a:spcAft>
                <a:spcPts val="600"/>
              </a:spcAft>
              <a:buFont typeface="Wingdings" panose="05000000000000000000" pitchFamily="2" charset="2"/>
              <a:buChar char="Ø"/>
            </a:pPr>
            <a:r>
              <a:rPr lang="en-US" dirty="0"/>
              <a:t>Edit Master text styles</a:t>
            </a:r>
          </a:p>
          <a:p>
            <a:pPr marL="548640" lvl="1" indent="-274320" algn="l" defTabSz="914400" rtl="0" eaLnBrk="1" latinLnBrk="0" hangingPunct="1">
              <a:lnSpc>
                <a:spcPct val="100000"/>
              </a:lnSpc>
              <a:spcBef>
                <a:spcPts val="600"/>
              </a:spcBef>
              <a:spcAft>
                <a:spcPts val="600"/>
              </a:spcAft>
              <a:buClr>
                <a:srgbClr val="1D1564"/>
              </a:buClr>
              <a:buSzPct val="75000"/>
              <a:buFont typeface="Wingdings" panose="05000000000000000000" pitchFamily="2" charset="2"/>
              <a:buChar char="v"/>
            </a:pPr>
            <a:r>
              <a:rPr lang="en-US" dirty="0"/>
              <a:t>Second level</a:t>
            </a:r>
          </a:p>
          <a:p>
            <a:pPr marL="822960" lvl="2" indent="-274320" algn="l" defTabSz="914400" rtl="0" eaLnBrk="1" latinLnBrk="0" hangingPunct="1">
              <a:lnSpc>
                <a:spcPct val="100000"/>
              </a:lnSpc>
              <a:spcBef>
                <a:spcPts val="600"/>
              </a:spcBef>
              <a:spcAft>
                <a:spcPts val="600"/>
              </a:spcAft>
              <a:buClr>
                <a:srgbClr val="1D1564"/>
              </a:buClr>
              <a:buFont typeface="Wingdings" panose="05000000000000000000" pitchFamily="2" charset="2"/>
              <a:buChar char="§"/>
            </a:pPr>
            <a:r>
              <a:rPr lang="en-US" dirty="0"/>
              <a:t>Third level</a:t>
            </a:r>
          </a:p>
          <a:p>
            <a:pPr marL="1097280" lvl="3" indent="-274320" algn="l" defTabSz="914400" rtl="0" eaLnBrk="1" latinLnBrk="0" hangingPunct="1">
              <a:lnSpc>
                <a:spcPct val="100000"/>
              </a:lnSpc>
              <a:spcBef>
                <a:spcPts val="600"/>
              </a:spcBef>
              <a:spcAft>
                <a:spcPts val="600"/>
              </a:spcAft>
              <a:buClr>
                <a:srgbClr val="1D1564"/>
              </a:buClr>
              <a:buFont typeface="Arial" panose="020B0604020202020204" pitchFamily="34" charset="0"/>
              <a:buChar char="•"/>
            </a:pPr>
            <a:r>
              <a:rPr lang="en-US" dirty="0"/>
              <a:t>Fourth level</a:t>
            </a:r>
          </a:p>
          <a:p>
            <a:pPr marL="1371600" lvl="4" indent="-274320" algn="l" defTabSz="914400" rtl="0" eaLnBrk="1" latinLnBrk="0" hangingPunct="1">
              <a:lnSpc>
                <a:spcPct val="100000"/>
              </a:lnSpc>
              <a:spcBef>
                <a:spcPts val="600"/>
              </a:spcBef>
              <a:spcAft>
                <a:spcPts val="600"/>
              </a:spcAft>
              <a:buClr>
                <a:srgbClr val="1D1564"/>
              </a:buClr>
              <a:buFont typeface="Courier New" panose="02070309020205020404" pitchFamily="49" charset="0"/>
              <a:buChar char="o"/>
            </a:pPr>
            <a:r>
              <a:rPr lang="en-US" dirty="0"/>
              <a:t>Fifth level</a:t>
            </a:r>
          </a:p>
        </p:txBody>
      </p:sp>
      <p:sp>
        <p:nvSpPr>
          <p:cNvPr id="3" name="Slide Number Placeholder 2"/>
          <p:cNvSpPr>
            <a:spLocks noGrp="1"/>
          </p:cNvSpPr>
          <p:nvPr>
            <p:ph type="sldNum" sz="quarter" idx="4"/>
          </p:nvPr>
        </p:nvSpPr>
        <p:spPr>
          <a:xfrm>
            <a:off x="11161485" y="6356350"/>
            <a:ext cx="703943" cy="365125"/>
          </a:xfrm>
          <a:prstGeom prst="rect">
            <a:avLst/>
          </a:prstGeom>
        </p:spPr>
        <p:txBody>
          <a:bodyPr vert="horz" lIns="0" tIns="45720" rIns="0" bIns="45720" rtlCol="0" anchor="ctr"/>
          <a:lstStyle>
            <a:lvl1pPr algn="r">
              <a:defRPr sz="1200">
                <a:solidFill>
                  <a:schemeClr val="bg1"/>
                </a:solidFill>
                <a:latin typeface="+mj-lt"/>
              </a:defRPr>
            </a:lvl1pPr>
          </a:lstStyle>
          <a:p>
            <a:fld id="{46616483-2A41-4A20-BD01-F9E46BA69A42}" type="slidenum">
              <a:rPr lang="en-US" smtClean="0"/>
              <a:pPr/>
              <a:t>‹#›</a:t>
            </a:fld>
            <a:endParaRPr lang="en-US" dirty="0"/>
          </a:p>
        </p:txBody>
      </p:sp>
    </p:spTree>
    <p:extLst>
      <p:ext uri="{BB962C8B-B14F-4D97-AF65-F5344CB8AC3E}">
        <p14:creationId xmlns:p14="http://schemas.microsoft.com/office/powerpoint/2010/main" val="2845505242"/>
      </p:ext>
    </p:extLst>
  </p:cSld>
  <p:clrMap bg1="lt1" tx1="dk1" bg2="lt2" tx2="dk2" accent1="accent1" accent2="accent2" accent3="accent3" accent4="accent4" accent5="accent5" accent6="accent6" hlink="hlink" folHlink="folHlink"/>
  <p:sldLayoutIdLst>
    <p:sldLayoutId id="2147483726" r:id="rId1"/>
    <p:sldLayoutId id="2147483731" r:id="rId2"/>
    <p:sldLayoutId id="2147483727" r:id="rId3"/>
    <p:sldLayoutId id="2147483730" r:id="rId4"/>
    <p:sldLayoutId id="2147483728" r:id="rId5"/>
    <p:sldLayoutId id="2147483729" r:id="rId6"/>
    <p:sldLayoutId id="2147483732" r:id="rId7"/>
    <p:sldLayoutId id="2147483733" r:id="rId8"/>
    <p:sldLayoutId id="2147483734" r:id="rId9"/>
    <p:sldLayoutId id="2147483735" r:id="rId10"/>
  </p:sldLayoutIdLst>
  <p:hf hdr="0" ftr="0" dt="0"/>
  <p:txStyles>
    <p:titleStyle>
      <a:lvl1pPr marL="0" algn="l" defTabSz="914400" rtl="0" eaLnBrk="1" latinLnBrk="0" hangingPunct="1">
        <a:lnSpc>
          <a:spcPct val="100000"/>
        </a:lnSpc>
        <a:spcBef>
          <a:spcPct val="0"/>
        </a:spcBef>
        <a:buNone/>
        <a:defRPr lang="en-US" sz="2400" b="0" kern="1200" baseline="0" dirty="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1pPr>
      <a:lvl2pPr marL="731520" indent="-45720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2pPr>
      <a:lvl3pPr marL="834390" indent="-285750" algn="l" defTabSz="9144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3pPr>
      <a:lvl4pPr marL="1108710" indent="-285750" algn="l" defTabSz="990600" rtl="0" eaLnBrk="1" latinLnBrk="0" hangingPunct="1">
        <a:lnSpc>
          <a:spcPct val="90000"/>
        </a:lnSpc>
        <a:spcBef>
          <a:spcPts val="500"/>
        </a:spcBef>
        <a:buFont typeface="Wingdings" panose="05000000000000000000" pitchFamily="2" charset="2"/>
        <a:buChar char="§"/>
        <a:defRPr lang="en-US" sz="1600" kern="1200" dirty="0" smtClean="0">
          <a:solidFill>
            <a:schemeClr val="tx1">
              <a:lumMod val="85000"/>
              <a:lumOff val="15000"/>
            </a:schemeClr>
          </a:solidFill>
          <a:latin typeface="+mn-lt"/>
          <a:ea typeface="+mn-ea"/>
          <a:cs typeface="+mn-cs"/>
        </a:defRPr>
      </a:lvl4pPr>
      <a:lvl5pPr marL="1440180" indent="-342900" algn="l" defTabSz="914400" rtl="0" eaLnBrk="1" latinLnBrk="0" hangingPunct="1">
        <a:lnSpc>
          <a:spcPct val="90000"/>
        </a:lnSpc>
        <a:spcBef>
          <a:spcPts val="500"/>
        </a:spcBef>
        <a:buFont typeface="Wingdings" panose="05000000000000000000" pitchFamily="2" charset="2"/>
        <a:buChar char="§"/>
        <a:defRPr lang="en-US" sz="1600" kern="1200" dirty="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3" userDrawn="1">
          <p15:clr>
            <a:srgbClr val="F26B43"/>
          </p15:clr>
        </p15:guide>
        <p15:guide id="3" orient="horz" pos="624" userDrawn="1">
          <p15:clr>
            <a:srgbClr val="F26B43"/>
          </p15:clr>
        </p15:guide>
        <p15:guide id="4" pos="6221" userDrawn="1">
          <p15:clr>
            <a:srgbClr val="F26B43"/>
          </p15:clr>
        </p15:guide>
        <p15:guide id="5" pos="189" userDrawn="1">
          <p15:clr>
            <a:srgbClr val="F26B43"/>
          </p15:clr>
        </p15:guide>
        <p15:guide id="6" orient="horz" pos="714" userDrawn="1">
          <p15:clr>
            <a:srgbClr val="F26B43"/>
          </p15:clr>
        </p15:guide>
        <p15:guide id="7" orient="horz" pos="3738" userDrawn="1">
          <p15:clr>
            <a:srgbClr val="F26B43"/>
          </p15:clr>
        </p15:guide>
        <p15:guide id="8" orient="horz" pos="36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988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7F289D-2757-0342-BE5D-531BF0C679A0}"/>
              </a:ext>
            </a:extLst>
          </p:cNvPr>
          <p:cNvSpPr>
            <a:spLocks noGrp="1"/>
          </p:cNvSpPr>
          <p:nvPr>
            <p:ph type="body" sz="quarter" idx="10"/>
          </p:nvPr>
        </p:nvSpPr>
        <p:spPr>
          <a:xfrm>
            <a:off x="2299317" y="5049618"/>
            <a:ext cx="6978033" cy="495300"/>
          </a:xfrm>
        </p:spPr>
        <p:txBody>
          <a:bodyPr>
            <a:normAutofit/>
          </a:bodyPr>
          <a:lstStyle/>
          <a:p>
            <a:r>
              <a:rPr lang="en-IN" sz="3600" b="1" dirty="0">
                <a:latin typeface="Calibri" panose="020F0502020204030204" pitchFamily="34" charset="0"/>
                <a:cs typeface="Calibri" panose="020F0502020204030204" pitchFamily="34" charset="0"/>
              </a:rPr>
              <a:t>Obstetrics</a:t>
            </a:r>
            <a:endParaRPr lang="en-US" sz="3600" b="1" dirty="0"/>
          </a:p>
        </p:txBody>
      </p:sp>
    </p:spTree>
    <p:extLst>
      <p:ext uri="{BB962C8B-B14F-4D97-AF65-F5344CB8AC3E}">
        <p14:creationId xmlns:p14="http://schemas.microsoft.com/office/powerpoint/2010/main" val="1438189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67FF-75AE-4F22-8549-01C40EE1DF3C}"/>
              </a:ext>
            </a:extLst>
          </p:cNvPr>
          <p:cNvSpPr>
            <a:spLocks noGrp="1"/>
          </p:cNvSpPr>
          <p:nvPr>
            <p:ph type="title"/>
          </p:nvPr>
        </p:nvSpPr>
        <p:spPr/>
        <p:txBody>
          <a:bodyPr/>
          <a:lstStyle/>
          <a:p>
            <a:r>
              <a:rPr lang="en-IN" sz="3600" b="1" dirty="0">
                <a:latin typeface="Calibri" panose="020F0502020204030204" pitchFamily="34" charset="0"/>
                <a:cs typeface="Calibri" panose="020F0502020204030204" pitchFamily="34" charset="0"/>
              </a:rPr>
              <a:t>Obstetrics Section</a:t>
            </a: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B98F123B-625D-4706-99CC-8894E356DA91}"/>
              </a:ext>
            </a:extLst>
          </p:cNvPr>
          <p:cNvSpPr>
            <a:spLocks noGrp="1"/>
          </p:cNvSpPr>
          <p:nvPr>
            <p:ph type="body" sz="quarter" idx="10"/>
          </p:nvPr>
        </p:nvSpPr>
        <p:spPr>
          <a:xfrm>
            <a:off x="314552" y="1071155"/>
            <a:ext cx="11259138" cy="4720046"/>
          </a:xfrm>
        </p:spPr>
        <p:txBody>
          <a:bodyPr>
            <a:normAutofit/>
          </a:bodyPr>
          <a:lstStyle/>
          <a:p>
            <a:r>
              <a:rPr lang="en-US" sz="2000" dirty="0">
                <a:latin typeface="Calibri" panose="020F0502020204030204" pitchFamily="34" charset="0"/>
                <a:cs typeface="Calibri" panose="020F0502020204030204" pitchFamily="34" charset="0"/>
              </a:rPr>
              <a:t>Includes only procedures performed on the products of conception </a:t>
            </a:r>
            <a:endParaRPr lang="en-US" sz="2000" dirty="0" smtClean="0">
              <a:latin typeface="Calibri" panose="020F0502020204030204" pitchFamily="34" charset="0"/>
              <a:cs typeface="Calibri" panose="020F0502020204030204" pitchFamily="34" charset="0"/>
            </a:endParaRPr>
          </a:p>
          <a:p>
            <a:r>
              <a:rPr lang="en-US" sz="2000" dirty="0" smtClean="0">
                <a:latin typeface="Calibri" panose="020F0502020204030204" pitchFamily="34" charset="0"/>
                <a:cs typeface="Calibri" panose="020F0502020204030204" pitchFamily="34" charset="0"/>
              </a:rPr>
              <a:t>Operations </a:t>
            </a:r>
            <a:r>
              <a:rPr lang="en-US" sz="2000" dirty="0">
                <a:latin typeface="Calibri" panose="020F0502020204030204" pitchFamily="34" charset="0"/>
                <a:cs typeface="Calibri" panose="020F0502020204030204" pitchFamily="34" charset="0"/>
              </a:rPr>
              <a:t>on the pregnant female are coded in the Medical and Surgical section (e.g., episiotomy) </a:t>
            </a:r>
            <a:endParaRPr lang="en-US" sz="2000" dirty="0" smtClean="0">
              <a:latin typeface="Calibri" panose="020F0502020204030204" pitchFamily="34" charset="0"/>
              <a:cs typeface="Calibri" panose="020F0502020204030204" pitchFamily="34" charset="0"/>
            </a:endParaRPr>
          </a:p>
          <a:p>
            <a:r>
              <a:rPr lang="en-US" sz="2000" dirty="0" smtClean="0">
                <a:latin typeface="Calibri" panose="020F0502020204030204" pitchFamily="34" charset="0"/>
                <a:cs typeface="Calibri" panose="020F0502020204030204" pitchFamily="34" charset="0"/>
              </a:rPr>
              <a:t>Two </a:t>
            </a:r>
            <a:r>
              <a:rPr lang="en-US" sz="2000" dirty="0">
                <a:latin typeface="Calibri" panose="020F0502020204030204" pitchFamily="34" charset="0"/>
                <a:cs typeface="Calibri" panose="020F0502020204030204" pitchFamily="34" charset="0"/>
              </a:rPr>
              <a:t>root operations unique to this </a:t>
            </a:r>
            <a:r>
              <a:rPr lang="en-US" sz="2000" dirty="0" smtClean="0">
                <a:latin typeface="Calibri" panose="020F0502020204030204" pitchFamily="34" charset="0"/>
                <a:cs typeface="Calibri" panose="020F0502020204030204" pitchFamily="34" charset="0"/>
              </a:rPr>
              <a:t>section </a:t>
            </a:r>
          </a:p>
          <a:p>
            <a:r>
              <a:rPr lang="en-US" sz="2000" dirty="0" smtClean="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Other root operations same as Medical and Surgical section (e.g., Drainage, </a:t>
            </a:r>
            <a:r>
              <a:rPr lang="en-US" sz="2000" dirty="0" smtClean="0">
                <a:latin typeface="Calibri" panose="020F0502020204030204" pitchFamily="34" charset="0"/>
                <a:cs typeface="Calibri" panose="020F0502020204030204" pitchFamily="34" charset="0"/>
              </a:rPr>
              <a:t>Inspection)</a:t>
            </a:r>
          </a:p>
          <a:p>
            <a:r>
              <a:rPr lang="en-US" sz="2000" dirty="0">
                <a:latin typeface="Calibri" panose="020F0502020204030204" pitchFamily="34" charset="0"/>
                <a:cs typeface="Calibri" panose="020F0502020204030204" pitchFamily="34" charset="0"/>
              </a:rPr>
              <a:t>Contains a single body system: </a:t>
            </a:r>
            <a:r>
              <a:rPr lang="en-US" sz="2000" dirty="0" smtClean="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Pregnancy </a:t>
            </a:r>
          </a:p>
          <a:p>
            <a:pPr marL="0" indent="0">
              <a:buNone/>
            </a:pPr>
            <a:r>
              <a:rPr lang="en-IN" sz="2000" b="1" dirty="0">
                <a:latin typeface="Calibri" panose="020F0502020204030204" pitchFamily="34" charset="0"/>
                <a:cs typeface="Calibri" panose="020F0502020204030204" pitchFamily="34" charset="0"/>
              </a:rPr>
              <a:t>Root </a:t>
            </a:r>
            <a:r>
              <a:rPr lang="en-IN" sz="2000" b="1" dirty="0" smtClean="0">
                <a:latin typeface="Calibri" panose="020F0502020204030204" pitchFamily="34" charset="0"/>
                <a:cs typeface="Calibri" panose="020F0502020204030204" pitchFamily="34" charset="0"/>
              </a:rPr>
              <a:t>Operation</a:t>
            </a:r>
          </a:p>
          <a:p>
            <a:pPr lvl="1"/>
            <a:r>
              <a:rPr lang="en-US" sz="2000" dirty="0" smtClean="0">
                <a:latin typeface="Calibri" panose="020F0502020204030204" pitchFamily="34" charset="0"/>
                <a:cs typeface="Calibri" panose="020F0502020204030204" pitchFamily="34" charset="0"/>
              </a:rPr>
              <a:t>Abortion</a:t>
            </a:r>
            <a:r>
              <a:rPr lang="en-US" sz="2000" dirty="0">
                <a:latin typeface="Calibri" panose="020F0502020204030204" pitchFamily="34" charset="0"/>
                <a:cs typeface="Calibri" panose="020F0502020204030204" pitchFamily="34" charset="0"/>
              </a:rPr>
              <a:t>: Artificially terminating a pregnancy </a:t>
            </a:r>
          </a:p>
          <a:p>
            <a:pPr lvl="1"/>
            <a:r>
              <a:rPr lang="en-US" sz="2000" dirty="0" smtClean="0">
                <a:latin typeface="Calibri" panose="020F0502020204030204" pitchFamily="34" charset="0"/>
                <a:cs typeface="Calibri" panose="020F0502020204030204" pitchFamily="34" charset="0"/>
              </a:rPr>
              <a:t>Delivery</a:t>
            </a:r>
            <a:r>
              <a:rPr lang="en-US" sz="2000" dirty="0">
                <a:latin typeface="Calibri" panose="020F0502020204030204" pitchFamily="34" charset="0"/>
                <a:cs typeface="Calibri" panose="020F0502020204030204" pitchFamily="34" charset="0"/>
              </a:rPr>
              <a:t>: Assisting the passage of the products of conception from the genital canal</a:t>
            </a:r>
          </a:p>
        </p:txBody>
      </p:sp>
    </p:spTree>
    <p:extLst>
      <p:ext uri="{BB962C8B-B14F-4D97-AF65-F5344CB8AC3E}">
        <p14:creationId xmlns:p14="http://schemas.microsoft.com/office/powerpoint/2010/main" val="3185943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2C452-7771-4936-82B0-C2E929A9F129}"/>
              </a:ext>
            </a:extLst>
          </p:cNvPr>
          <p:cNvSpPr>
            <a:spLocks noGrp="1"/>
          </p:cNvSpPr>
          <p:nvPr>
            <p:ph type="title"/>
          </p:nvPr>
        </p:nvSpPr>
        <p:spPr>
          <a:xfrm>
            <a:off x="314552" y="333373"/>
            <a:ext cx="9250362" cy="581027"/>
          </a:xfrm>
        </p:spPr>
        <p:txBody>
          <a:bodyPr/>
          <a:lstStyle/>
          <a:p>
            <a:r>
              <a:rPr lang="en-IN" sz="3600" b="1" dirty="0">
                <a:latin typeface="Calibri" panose="020F0502020204030204" pitchFamily="34" charset="0"/>
                <a:cs typeface="Calibri" panose="020F0502020204030204" pitchFamily="34" charset="0"/>
              </a:rPr>
              <a:t>Obstetrics Section</a:t>
            </a: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73E349D4-06F4-4BAC-B173-8E90E9B18EE9}"/>
              </a:ext>
            </a:extLst>
          </p:cNvPr>
          <p:cNvSpPr>
            <a:spLocks noGrp="1"/>
          </p:cNvSpPr>
          <p:nvPr>
            <p:ph type="body" sz="quarter" idx="10"/>
          </p:nvPr>
        </p:nvSpPr>
        <p:spPr>
          <a:xfrm>
            <a:off x="314552" y="914400"/>
            <a:ext cx="11415894" cy="5081452"/>
          </a:xfrm>
        </p:spPr>
        <p:txBody>
          <a:bodyPr>
            <a:normAutofit lnSpcReduction="10000"/>
          </a:bodyPr>
          <a:lstStyle/>
          <a:p>
            <a:pPr marL="0" indent="0" algn="just">
              <a:buNone/>
            </a:pPr>
            <a:r>
              <a:rPr lang="en-US" sz="1800" b="1" dirty="0" smtClean="0">
                <a:latin typeface="Calibri" panose="020F0502020204030204" pitchFamily="34" charset="0"/>
                <a:cs typeface="Calibri" panose="020F0502020204030204" pitchFamily="34" charset="0"/>
              </a:rPr>
              <a:t>Body </a:t>
            </a:r>
            <a:r>
              <a:rPr lang="en-US" sz="1800" b="1" dirty="0">
                <a:latin typeface="Calibri" panose="020F0502020204030204" pitchFamily="34" charset="0"/>
                <a:cs typeface="Calibri" panose="020F0502020204030204" pitchFamily="34" charset="0"/>
              </a:rPr>
              <a:t>Part </a:t>
            </a:r>
            <a:endParaRPr lang="en-US" sz="1800" b="1" dirty="0" smtClean="0">
              <a:latin typeface="Calibri" panose="020F0502020204030204" pitchFamily="34" charset="0"/>
              <a:cs typeface="Calibri" panose="020F0502020204030204" pitchFamily="34" charset="0"/>
            </a:endParaRPr>
          </a:p>
          <a:p>
            <a:pPr marL="0" indent="0" algn="just">
              <a:buNone/>
            </a:pPr>
            <a:r>
              <a:rPr lang="en-US" sz="1800" dirty="0" smtClean="0">
                <a:latin typeface="Calibri" panose="020F0502020204030204" pitchFamily="34" charset="0"/>
                <a:cs typeface="Calibri" panose="020F0502020204030204" pitchFamily="34" charset="0"/>
              </a:rPr>
              <a:t>Contains </a:t>
            </a:r>
            <a:r>
              <a:rPr lang="en-US" sz="1800" dirty="0">
                <a:latin typeface="Calibri" panose="020F0502020204030204" pitchFamily="34" charset="0"/>
                <a:cs typeface="Calibri" panose="020F0502020204030204" pitchFamily="34" charset="0"/>
              </a:rPr>
              <a:t>three different values for body part </a:t>
            </a:r>
          </a:p>
          <a:p>
            <a:pPr lvl="1" algn="just"/>
            <a:r>
              <a:rPr lang="en-US" sz="1800" dirty="0">
                <a:latin typeface="Calibri" panose="020F0502020204030204" pitchFamily="34" charset="0"/>
                <a:cs typeface="Calibri" panose="020F0502020204030204" pitchFamily="34" charset="0"/>
              </a:rPr>
              <a:t>Products of Conception </a:t>
            </a:r>
          </a:p>
          <a:p>
            <a:pPr lvl="1" algn="just"/>
            <a:r>
              <a:rPr lang="en-US" sz="1800" dirty="0">
                <a:latin typeface="Calibri" panose="020F0502020204030204" pitchFamily="34" charset="0"/>
                <a:cs typeface="Calibri" panose="020F0502020204030204" pitchFamily="34" charset="0"/>
              </a:rPr>
              <a:t>Products of Conception, Retained </a:t>
            </a:r>
          </a:p>
          <a:p>
            <a:pPr lvl="1" algn="just"/>
            <a:r>
              <a:rPr lang="en-US" sz="1800" dirty="0">
                <a:latin typeface="Calibri" panose="020F0502020204030204" pitchFamily="34" charset="0"/>
                <a:cs typeface="Calibri" panose="020F0502020204030204" pitchFamily="34" charset="0"/>
              </a:rPr>
              <a:t>Products of Conception, </a:t>
            </a:r>
            <a:r>
              <a:rPr lang="en-US" sz="1800" dirty="0" smtClean="0">
                <a:latin typeface="Calibri" panose="020F0502020204030204" pitchFamily="34" charset="0"/>
                <a:cs typeface="Calibri" panose="020F0502020204030204" pitchFamily="34" charset="0"/>
              </a:rPr>
              <a:t>Ectopic</a:t>
            </a:r>
          </a:p>
          <a:p>
            <a:pPr algn="just"/>
            <a:r>
              <a:rPr lang="en-US" sz="1800" dirty="0" smtClean="0">
                <a:latin typeface="Calibri" panose="020F0502020204030204" pitchFamily="34" charset="0"/>
                <a:cs typeface="Calibri" panose="020F0502020204030204" pitchFamily="34" charset="0"/>
              </a:rPr>
              <a:t>Products </a:t>
            </a:r>
            <a:r>
              <a:rPr lang="en-US" sz="1800" dirty="0">
                <a:latin typeface="Calibri" panose="020F0502020204030204" pitchFamily="34" charset="0"/>
                <a:cs typeface="Calibri" panose="020F0502020204030204" pitchFamily="34" charset="0"/>
              </a:rPr>
              <a:t>of conception refers to all components of a pregnancy, including the fetus, embryo, amnion, umbilical cord and placenta </a:t>
            </a:r>
          </a:p>
          <a:p>
            <a:pPr algn="just"/>
            <a:r>
              <a:rPr lang="en-US" sz="1800" dirty="0" smtClean="0">
                <a:latin typeface="Calibri" panose="020F0502020204030204" pitchFamily="34" charset="0"/>
                <a:cs typeface="Calibri" panose="020F0502020204030204" pitchFamily="34" charset="0"/>
              </a:rPr>
              <a:t>There </a:t>
            </a:r>
            <a:r>
              <a:rPr lang="en-US" sz="1800" dirty="0">
                <a:latin typeface="Calibri" panose="020F0502020204030204" pitchFamily="34" charset="0"/>
                <a:cs typeface="Calibri" panose="020F0502020204030204" pitchFamily="34" charset="0"/>
              </a:rPr>
              <a:t>is no differentiation of the products of conception based on gestational age </a:t>
            </a:r>
          </a:p>
          <a:p>
            <a:pPr algn="just"/>
            <a:r>
              <a:rPr lang="en-US" sz="1800" dirty="0" smtClean="0">
                <a:latin typeface="Calibri" panose="020F0502020204030204" pitchFamily="34" charset="0"/>
                <a:cs typeface="Calibri" panose="020F0502020204030204" pitchFamily="34" charset="0"/>
              </a:rPr>
              <a:t>Some </a:t>
            </a:r>
            <a:r>
              <a:rPr lang="en-US" sz="1800" dirty="0">
                <a:latin typeface="Calibri" panose="020F0502020204030204" pitchFamily="34" charset="0"/>
                <a:cs typeface="Calibri" panose="020F0502020204030204" pitchFamily="34" charset="0"/>
              </a:rPr>
              <a:t>device values unique to this </a:t>
            </a:r>
            <a:r>
              <a:rPr lang="en-US" sz="1800" dirty="0" smtClean="0">
                <a:latin typeface="Calibri" panose="020F0502020204030204" pitchFamily="34" charset="0"/>
                <a:cs typeface="Calibri" panose="020F0502020204030204" pitchFamily="34" charset="0"/>
              </a:rPr>
              <a:t>section</a:t>
            </a:r>
          </a:p>
          <a:p>
            <a:pPr marL="0" indent="0" algn="just">
              <a:buNone/>
            </a:pPr>
            <a:r>
              <a:rPr lang="en-IN" sz="1800" dirty="0" smtClean="0">
                <a:latin typeface="Calibri" panose="020F0502020204030204" pitchFamily="34" charset="0"/>
                <a:cs typeface="Calibri" panose="020F0502020204030204" pitchFamily="34" charset="0"/>
              </a:rPr>
              <a:t>Examples</a:t>
            </a:r>
            <a:r>
              <a:rPr lang="en-IN" sz="1800" dirty="0">
                <a:latin typeface="Calibri" panose="020F0502020204030204" pitchFamily="34" charset="0"/>
                <a:cs typeface="Calibri" panose="020F0502020204030204" pitchFamily="34" charset="0"/>
              </a:rPr>
              <a:t>: </a:t>
            </a:r>
            <a:endParaRPr lang="en-IN" sz="1800" dirty="0" smtClean="0">
              <a:latin typeface="Calibri" panose="020F0502020204030204" pitchFamily="34" charset="0"/>
              <a:cs typeface="Calibri" panose="020F0502020204030204" pitchFamily="34" charset="0"/>
            </a:endParaRPr>
          </a:p>
          <a:p>
            <a:pPr lvl="1" algn="just"/>
            <a:r>
              <a:rPr lang="en-IN" sz="1800" dirty="0" err="1" smtClean="0">
                <a:latin typeface="Calibri" panose="020F0502020204030204" pitchFamily="34" charset="0"/>
                <a:cs typeface="Calibri" panose="020F0502020204030204" pitchFamily="34" charset="0"/>
              </a:rPr>
              <a:t>Laminaria</a:t>
            </a:r>
            <a:endParaRPr lang="en-IN" sz="1800" dirty="0">
              <a:latin typeface="Calibri" panose="020F0502020204030204" pitchFamily="34" charset="0"/>
              <a:cs typeface="Calibri" panose="020F0502020204030204" pitchFamily="34" charset="0"/>
            </a:endParaRPr>
          </a:p>
          <a:p>
            <a:pPr lvl="1" algn="just"/>
            <a:r>
              <a:rPr lang="en-IN" sz="1800" dirty="0" smtClean="0">
                <a:latin typeface="Calibri" panose="020F0502020204030204" pitchFamily="34" charset="0"/>
                <a:cs typeface="Calibri" panose="020F0502020204030204" pitchFamily="34" charset="0"/>
              </a:rPr>
              <a:t> Abortifacient </a:t>
            </a:r>
          </a:p>
          <a:p>
            <a:pPr lvl="1" algn="just"/>
            <a:r>
              <a:rPr lang="en-IN" sz="1800" dirty="0" smtClean="0">
                <a:latin typeface="Calibri" panose="020F0502020204030204" pitchFamily="34" charset="0"/>
                <a:cs typeface="Calibri" panose="020F0502020204030204" pitchFamily="34" charset="0"/>
              </a:rPr>
              <a:t>Monitoring </a:t>
            </a:r>
            <a:r>
              <a:rPr lang="en-IN" sz="1800" dirty="0">
                <a:latin typeface="Calibri" panose="020F0502020204030204" pitchFamily="34" charset="0"/>
                <a:cs typeface="Calibri" panose="020F0502020204030204" pitchFamily="34" charset="0"/>
              </a:rPr>
              <a:t>Electrode</a:t>
            </a:r>
            <a:endParaRPr lang="en-US" sz="1800" dirty="0">
              <a:latin typeface="Calibri" panose="020F0502020204030204" pitchFamily="34" charset="0"/>
              <a:cs typeface="Calibri" panose="020F0502020204030204" pitchFamily="34" charset="0"/>
            </a:endParaRPr>
          </a:p>
          <a:p>
            <a:pPr marL="274320" lvl="1" indent="0" algn="just">
              <a:buNone/>
            </a:pPr>
            <a:endParaRPr lang="en-US" sz="1800"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34367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7040-C1DD-436D-8968-A456D5ACF7CE}"/>
              </a:ext>
            </a:extLst>
          </p:cNvPr>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Clinical Examples </a:t>
            </a:r>
            <a:endParaRPr lang="en-US" sz="3600" b="1" dirty="0">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5D5DD4A4-09CB-4070-A810-FFE8EB656FE1}"/>
              </a:ext>
            </a:extLst>
          </p:cNvPr>
          <p:cNvSpPr>
            <a:spLocks noGrp="1"/>
          </p:cNvSpPr>
          <p:nvPr>
            <p:ph type="body" sz="quarter" idx="10"/>
          </p:nvPr>
        </p:nvSpPr>
        <p:spPr>
          <a:xfrm>
            <a:off x="314551" y="1045029"/>
            <a:ext cx="10645185" cy="4872445"/>
          </a:xfrm>
        </p:spPr>
        <p:txBody>
          <a:bodyPr>
            <a:normAutofit/>
          </a:bodyPr>
          <a:lstStyle/>
          <a:p>
            <a:pPr marL="0" indent="0">
              <a:buNone/>
            </a:pPr>
            <a:r>
              <a:rPr lang="en-US" sz="2000" dirty="0" smtClean="0">
                <a:latin typeface="Calibri" panose="020F0502020204030204" pitchFamily="34" charset="0"/>
                <a:cs typeface="Calibri" panose="020F0502020204030204" pitchFamily="34" charset="0"/>
              </a:rPr>
              <a:t>Code the case  Abortion, Spontaneous Manually assisted </a:t>
            </a:r>
          </a:p>
          <a:p>
            <a:pPr marL="0" indent="0">
              <a:buNone/>
            </a:pPr>
            <a:r>
              <a:rPr lang="en-US" sz="2000" b="1" dirty="0" smtClean="0">
                <a:latin typeface="Calibri" panose="020F0502020204030204" pitchFamily="34" charset="0"/>
                <a:cs typeface="Calibri" panose="020F0502020204030204" pitchFamily="34" charset="0"/>
              </a:rPr>
              <a:t>Code Navigation:</a:t>
            </a:r>
          </a:p>
          <a:p>
            <a:pPr marL="0" indent="0">
              <a:buNone/>
            </a:pPr>
            <a:endParaRPr lang="en-US" sz="20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1097279" y="1979866"/>
            <a:ext cx="8948057" cy="3467344"/>
          </a:xfrm>
          <a:prstGeom prst="rect">
            <a:avLst/>
          </a:prstGeom>
        </p:spPr>
      </p:pic>
    </p:spTree>
    <p:extLst>
      <p:ext uri="{BB962C8B-B14F-4D97-AF65-F5344CB8AC3E}">
        <p14:creationId xmlns:p14="http://schemas.microsoft.com/office/powerpoint/2010/main" val="2744948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Calibri" panose="020F0502020204030204" pitchFamily="34" charset="0"/>
                <a:cs typeface="Calibri" panose="020F0502020204030204" pitchFamily="34" charset="0"/>
              </a:rPr>
              <a:t>Clinical Examples </a:t>
            </a:r>
            <a:endParaRPr lang="en-IN" sz="3600" b="1" dirty="0">
              <a:latin typeface="Calibri" panose="020F0502020204030204" pitchFamily="34" charset="0"/>
              <a:cs typeface="Calibri" panose="020F0502020204030204" pitchFamily="34" charset="0"/>
            </a:endParaRPr>
          </a:p>
        </p:txBody>
      </p:sp>
      <p:sp>
        <p:nvSpPr>
          <p:cNvPr id="3" name="Text Placeholder 2"/>
          <p:cNvSpPr>
            <a:spLocks noGrp="1"/>
          </p:cNvSpPr>
          <p:nvPr>
            <p:ph type="body" sz="quarter" idx="10"/>
          </p:nvPr>
        </p:nvSpPr>
        <p:spPr>
          <a:xfrm>
            <a:off x="314552" y="1147989"/>
            <a:ext cx="11050134" cy="5069931"/>
          </a:xfrm>
        </p:spPr>
        <p:txBody>
          <a:bodyPr>
            <a:normAutofit/>
          </a:bodyPr>
          <a:lstStyle/>
          <a:p>
            <a:pPr marL="0" indent="0">
              <a:buNone/>
            </a:pPr>
            <a:r>
              <a:rPr lang="en-US" sz="1800" dirty="0" smtClean="0">
                <a:latin typeface="Calibri" panose="020F0502020204030204" pitchFamily="34" charset="0"/>
                <a:cs typeface="Calibri" panose="020F0502020204030204" pitchFamily="34" charset="0"/>
              </a:rPr>
              <a:t>Tubal Pregnancy, Laparoscopic total removal</a:t>
            </a:r>
          </a:p>
          <a:p>
            <a:pPr marL="0" indent="0">
              <a:buNone/>
            </a:pPr>
            <a:r>
              <a:rPr lang="en-US" sz="1800" b="1" dirty="0">
                <a:latin typeface="Calibri" panose="020F0502020204030204" pitchFamily="34" charset="0"/>
                <a:cs typeface="Calibri" panose="020F0502020204030204" pitchFamily="34" charset="0"/>
              </a:rPr>
              <a:t>Code Navigation:</a:t>
            </a:r>
          </a:p>
          <a:p>
            <a:pPr marL="0" indent="0">
              <a:buNone/>
            </a:pPr>
            <a:endParaRPr lang="en-US" sz="1800" dirty="0">
              <a:latin typeface="Calibri" panose="020F0502020204030204" pitchFamily="34" charset="0"/>
              <a:cs typeface="Calibri" panose="020F0502020204030204" pitchFamily="34" charset="0"/>
            </a:endParaRPr>
          </a:p>
          <a:p>
            <a:pPr marL="0" indent="0">
              <a:buNone/>
            </a:pPr>
            <a:endParaRPr lang="en-IN" sz="1800" dirty="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1985554" y="1973553"/>
            <a:ext cx="8334103" cy="3878606"/>
          </a:xfrm>
          <a:prstGeom prst="rect">
            <a:avLst/>
          </a:prstGeom>
        </p:spPr>
      </p:pic>
    </p:spTree>
    <p:extLst>
      <p:ext uri="{BB962C8B-B14F-4D97-AF65-F5344CB8AC3E}">
        <p14:creationId xmlns:p14="http://schemas.microsoft.com/office/powerpoint/2010/main" val="2156816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Knowledge Check</a:t>
            </a:r>
            <a:endParaRPr lang="en-IN" sz="3600" b="1" dirty="0">
              <a:latin typeface="Calibri" panose="020F0502020204030204" pitchFamily="34" charset="0"/>
              <a:cs typeface="Calibri" panose="020F0502020204030204" pitchFamily="34" charset="0"/>
            </a:endParaRPr>
          </a:p>
        </p:txBody>
      </p:sp>
      <p:sp>
        <p:nvSpPr>
          <p:cNvPr id="3" name="Text Placeholder 2"/>
          <p:cNvSpPr>
            <a:spLocks noGrp="1"/>
          </p:cNvSpPr>
          <p:nvPr>
            <p:ph type="body" sz="quarter" idx="10"/>
          </p:nvPr>
        </p:nvSpPr>
        <p:spPr>
          <a:xfrm>
            <a:off x="314552" y="927463"/>
            <a:ext cx="10880316" cy="5216688"/>
          </a:xfrm>
        </p:spPr>
        <p:txBody>
          <a:bodyPr>
            <a:normAutofit/>
          </a:bodyPr>
          <a:lstStyle/>
          <a:p>
            <a:pPr marL="0" indent="0">
              <a:buNone/>
            </a:pPr>
            <a:r>
              <a:rPr lang="en-US" sz="1800" dirty="0" smtClean="0">
                <a:latin typeface="Calibri" panose="020F0502020204030204" pitchFamily="34" charset="0"/>
                <a:cs typeface="Calibri" panose="020F0502020204030204" pitchFamily="34" charset="0"/>
              </a:rPr>
              <a:t>Delivery, Breech with Vacuum </a:t>
            </a:r>
          </a:p>
          <a:p>
            <a:pPr marL="0" indent="0">
              <a:buNone/>
            </a:pPr>
            <a:r>
              <a:rPr lang="en-US" sz="1800" b="1" dirty="0">
                <a:latin typeface="Calibri" panose="020F0502020204030204" pitchFamily="34" charset="0"/>
                <a:cs typeface="Calibri" panose="020F0502020204030204" pitchFamily="34" charset="0"/>
              </a:rPr>
              <a:t>Code Navigation:</a:t>
            </a:r>
          </a:p>
          <a:p>
            <a:pPr marL="0" indent="0">
              <a:buNone/>
            </a:pPr>
            <a:endParaRPr lang="en-US" sz="1800" dirty="0" smtClean="0">
              <a:latin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2"/>
          <a:stretch>
            <a:fillRect/>
          </a:stretch>
        </p:blipFill>
        <p:spPr>
          <a:xfrm>
            <a:off x="2037805" y="1897878"/>
            <a:ext cx="8412479" cy="4143333"/>
          </a:xfrm>
          <a:prstGeom prst="rect">
            <a:avLst/>
          </a:prstGeom>
        </p:spPr>
      </p:pic>
    </p:spTree>
    <p:extLst>
      <p:ext uri="{BB962C8B-B14F-4D97-AF65-F5344CB8AC3E}">
        <p14:creationId xmlns:p14="http://schemas.microsoft.com/office/powerpoint/2010/main" val="1118789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Calibri" panose="020F0502020204030204" pitchFamily="34" charset="0"/>
                <a:cs typeface="Calibri" panose="020F0502020204030204" pitchFamily="34" charset="0"/>
              </a:rPr>
              <a:t>Knowledge Check</a:t>
            </a:r>
            <a:endParaRPr lang="en-IN" sz="3600" dirty="0"/>
          </a:p>
        </p:txBody>
      </p:sp>
      <p:sp>
        <p:nvSpPr>
          <p:cNvPr id="3" name="Text Placeholder 2"/>
          <p:cNvSpPr>
            <a:spLocks noGrp="1"/>
          </p:cNvSpPr>
          <p:nvPr>
            <p:ph type="body" sz="quarter" idx="10"/>
          </p:nvPr>
        </p:nvSpPr>
        <p:spPr>
          <a:xfrm>
            <a:off x="314551" y="1147989"/>
            <a:ext cx="11533459" cy="5422628"/>
          </a:xfrm>
        </p:spPr>
        <p:txBody>
          <a:bodyPr/>
          <a:lstStyle/>
          <a:p>
            <a:pPr marL="0" indent="0">
              <a:buNone/>
            </a:pPr>
            <a:r>
              <a:rPr lang="en-US" dirty="0" smtClean="0"/>
              <a:t>Amniocentesis for Genetic Testing </a:t>
            </a:r>
          </a:p>
          <a:p>
            <a:pPr marL="0" indent="0">
              <a:buNone/>
            </a:pPr>
            <a:r>
              <a:rPr lang="en-US" b="1" dirty="0"/>
              <a:t>Code Navigation:</a:t>
            </a:r>
          </a:p>
        </p:txBody>
      </p:sp>
      <p:pic>
        <p:nvPicPr>
          <p:cNvPr id="4" name="Picture 3"/>
          <p:cNvPicPr>
            <a:picLocks noChangeAspect="1"/>
          </p:cNvPicPr>
          <p:nvPr/>
        </p:nvPicPr>
        <p:blipFill>
          <a:blip r:embed="rId2"/>
          <a:stretch>
            <a:fillRect/>
          </a:stretch>
        </p:blipFill>
        <p:spPr>
          <a:xfrm>
            <a:off x="2194560" y="1938924"/>
            <a:ext cx="8334101" cy="3920200"/>
          </a:xfrm>
          <a:prstGeom prst="rect">
            <a:avLst/>
          </a:prstGeom>
        </p:spPr>
      </p:pic>
    </p:spTree>
    <p:extLst>
      <p:ext uri="{BB962C8B-B14F-4D97-AF65-F5344CB8AC3E}">
        <p14:creationId xmlns:p14="http://schemas.microsoft.com/office/powerpoint/2010/main" val="236844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Operative Report 1</a:t>
            </a:r>
            <a:endParaRPr lang="en-IN" sz="3600" b="1" dirty="0">
              <a:latin typeface="Calibri" panose="020F0502020204030204" pitchFamily="34" charset="0"/>
              <a:cs typeface="Calibri" panose="020F0502020204030204" pitchFamily="34" charset="0"/>
            </a:endParaRPr>
          </a:p>
        </p:txBody>
      </p:sp>
      <p:pic>
        <p:nvPicPr>
          <p:cNvPr id="5" name="Picture 4"/>
          <p:cNvPicPr>
            <a:picLocks noChangeAspect="1"/>
          </p:cNvPicPr>
          <p:nvPr/>
        </p:nvPicPr>
        <p:blipFill>
          <a:blip r:embed="rId2"/>
          <a:stretch>
            <a:fillRect/>
          </a:stretch>
        </p:blipFill>
        <p:spPr>
          <a:xfrm>
            <a:off x="6537894" y="3541014"/>
            <a:ext cx="3867150" cy="2600325"/>
          </a:xfrm>
          <a:prstGeom prst="rect">
            <a:avLst/>
          </a:prstGeom>
        </p:spPr>
      </p:pic>
      <p:sp>
        <p:nvSpPr>
          <p:cNvPr id="3" name="Text Placeholder 2"/>
          <p:cNvSpPr>
            <a:spLocks noGrp="1"/>
          </p:cNvSpPr>
          <p:nvPr>
            <p:ph type="body" sz="quarter" idx="10"/>
          </p:nvPr>
        </p:nvSpPr>
        <p:spPr>
          <a:xfrm>
            <a:off x="222069" y="940526"/>
            <a:ext cx="11704320" cy="5200813"/>
          </a:xfrm>
        </p:spPr>
        <p:txBody>
          <a:bodyPr>
            <a:normAutofit/>
          </a:bodyPr>
          <a:lstStyle/>
          <a:p>
            <a:pPr algn="just"/>
            <a:r>
              <a:rPr lang="en-US" sz="1800" b="1" dirty="0" smtClean="0">
                <a:latin typeface="Calibri" panose="020F0502020204030204" pitchFamily="34" charset="0"/>
                <a:cs typeface="Calibri" panose="020F0502020204030204" pitchFamily="34" charset="0"/>
              </a:rPr>
              <a:t>Procedure: </a:t>
            </a:r>
            <a:r>
              <a:rPr lang="en-US" sz="1800" dirty="0" smtClean="0">
                <a:latin typeface="Calibri" panose="020F0502020204030204" pitchFamily="34" charset="0"/>
                <a:cs typeface="Calibri" panose="020F0502020204030204" pitchFamily="34" charset="0"/>
              </a:rPr>
              <a:t>Delivery, vaginal with Episiotomy and Repair</a:t>
            </a:r>
          </a:p>
          <a:p>
            <a:pPr algn="just"/>
            <a:r>
              <a:rPr lang="en-US" sz="1800" b="1" dirty="0" smtClean="0">
                <a:latin typeface="Calibri" panose="020F0502020204030204" pitchFamily="34" charset="0"/>
                <a:cs typeface="Calibri" panose="020F0502020204030204" pitchFamily="34" charset="0"/>
              </a:rPr>
              <a:t>Description: </a:t>
            </a:r>
            <a:r>
              <a:rPr lang="en-US" sz="1800" dirty="0" smtClean="0">
                <a:latin typeface="Calibri" panose="020F0502020204030204" pitchFamily="34" charset="0"/>
                <a:cs typeface="Calibri" panose="020F0502020204030204" pitchFamily="34" charset="0"/>
              </a:rPr>
              <a:t>The patient was complete on cervical examination and was encouraged to push. When the fetal head was crowning, a right mediolateral episiotomy was made and after that a live female infant delivered in the occiput anterior position with tight nuchal cord x1 with Apgar of 8, 9, and 9. Weight was 3,350 grams and anterior shoulder and posterior shoulder delivered without any difficulties with the rest of the body. The cord was clamped and cut. The baby was handed to the awaiting pediatrician. The placenta was delivered spontaneously intact with three-vessel cord. Inspection of the perineum showed a second degree left vaginal wall laceration, which was repaired with 2-0 </a:t>
            </a:r>
            <a:r>
              <a:rPr lang="en-US" sz="1800" dirty="0" err="1" smtClean="0">
                <a:latin typeface="Calibri" panose="020F0502020204030204" pitchFamily="34" charset="0"/>
                <a:cs typeface="Calibri" panose="020F0502020204030204" pitchFamily="34" charset="0"/>
              </a:rPr>
              <a:t>Vicryl</a:t>
            </a:r>
            <a:r>
              <a:rPr lang="en-US" sz="1800" dirty="0" smtClean="0">
                <a:latin typeface="Calibri" panose="020F0502020204030204" pitchFamily="34" charset="0"/>
                <a:cs typeface="Calibri" panose="020F0502020204030204" pitchFamily="34" charset="0"/>
              </a:rPr>
              <a:t> and a right mediolateral episiotomy which was repaired with 2-0 and 3-0 </a:t>
            </a:r>
            <a:r>
              <a:rPr lang="en-US" sz="1800" dirty="0" err="1" smtClean="0">
                <a:latin typeface="Calibri" panose="020F0502020204030204" pitchFamily="34" charset="0"/>
                <a:cs typeface="Calibri" panose="020F0502020204030204" pitchFamily="34" charset="0"/>
              </a:rPr>
              <a:t>Vicryl</a:t>
            </a:r>
            <a:r>
              <a:rPr lang="en-US" sz="1800" dirty="0" smtClean="0">
                <a:latin typeface="Calibri" panose="020F0502020204030204" pitchFamily="34" charset="0"/>
                <a:cs typeface="Calibri" panose="020F0502020204030204" pitchFamily="34" charset="0"/>
              </a:rPr>
              <a:t>. The patient tolerated the procedure very well. </a:t>
            </a:r>
          </a:p>
          <a:p>
            <a:pPr algn="just"/>
            <a:r>
              <a:rPr lang="en-US" sz="1800" dirty="0" smtClean="0">
                <a:latin typeface="Calibri" panose="020F0502020204030204" pitchFamily="34" charset="0"/>
                <a:cs typeface="Calibri" panose="020F0502020204030204" pitchFamily="34" charset="0"/>
              </a:rPr>
              <a:t>10E0XZZ – Delivery of Products of Conception, External Approach</a:t>
            </a:r>
          </a:p>
          <a:p>
            <a:pPr algn="just"/>
            <a:r>
              <a:rPr lang="en-US" sz="1800" dirty="0" smtClean="0">
                <a:latin typeface="Calibri" panose="020F0502020204030204" pitchFamily="34" charset="0"/>
                <a:cs typeface="Calibri" panose="020F0502020204030204" pitchFamily="34" charset="0"/>
              </a:rPr>
              <a:t>0W8NXZZ – Division of Female Perineum, External Approach</a:t>
            </a:r>
          </a:p>
          <a:p>
            <a:pPr algn="just"/>
            <a:r>
              <a:rPr lang="en-US" sz="1800" dirty="0" smtClean="0">
                <a:latin typeface="Calibri" panose="020F0502020204030204" pitchFamily="34" charset="0"/>
                <a:cs typeface="Calibri" panose="020F0502020204030204" pitchFamily="34" charset="0"/>
              </a:rPr>
              <a:t>0KQM0ZZ – Repair Perineum Muscle, Open Approach </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1571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latin typeface="Calibri" panose="020F0502020204030204" pitchFamily="34" charset="0"/>
                <a:cs typeface="Calibri" panose="020F0502020204030204" pitchFamily="34" charset="0"/>
              </a:rPr>
              <a:t>Operative Report 2</a:t>
            </a:r>
            <a:endParaRPr lang="en-IN" sz="3600" b="1" dirty="0">
              <a:latin typeface="Calibri" panose="020F0502020204030204" pitchFamily="34" charset="0"/>
              <a:cs typeface="Calibri" panose="020F0502020204030204" pitchFamily="34" charset="0"/>
            </a:endParaRPr>
          </a:p>
        </p:txBody>
      </p:sp>
      <p:sp>
        <p:nvSpPr>
          <p:cNvPr id="3" name="Text Placeholder 2"/>
          <p:cNvSpPr>
            <a:spLocks noGrp="1"/>
          </p:cNvSpPr>
          <p:nvPr>
            <p:ph type="body" sz="quarter" idx="10"/>
          </p:nvPr>
        </p:nvSpPr>
        <p:spPr>
          <a:xfrm>
            <a:off x="314552" y="1147989"/>
            <a:ext cx="10867254" cy="4643211"/>
          </a:xfrm>
        </p:spPr>
        <p:txBody>
          <a:bodyPr>
            <a:normAutofit/>
          </a:bodyPr>
          <a:lstStyle/>
          <a:p>
            <a:pPr algn="just"/>
            <a:r>
              <a:rPr lang="en-US" sz="1800" b="1" dirty="0">
                <a:latin typeface="Calibri" panose="020F0502020204030204" pitchFamily="34" charset="0"/>
                <a:cs typeface="Calibri" panose="020F0502020204030204" pitchFamily="34" charset="0"/>
              </a:rPr>
              <a:t>Procedure: </a:t>
            </a:r>
            <a:r>
              <a:rPr lang="en-US" sz="1800" dirty="0" smtClean="0">
                <a:latin typeface="Calibri" panose="020F0502020204030204" pitchFamily="34" charset="0"/>
                <a:cs typeface="Calibri" panose="020F0502020204030204" pitchFamily="34" charset="0"/>
              </a:rPr>
              <a:t>Cesarean Section, Emergency</a:t>
            </a:r>
            <a:endParaRPr lang="en-US" sz="1800" dirty="0">
              <a:latin typeface="Calibri" panose="020F0502020204030204" pitchFamily="34" charset="0"/>
              <a:cs typeface="Calibri" panose="020F0502020204030204" pitchFamily="34" charset="0"/>
            </a:endParaRPr>
          </a:p>
          <a:p>
            <a:pPr algn="just"/>
            <a:r>
              <a:rPr lang="en-US" sz="1800" b="1" dirty="0">
                <a:latin typeface="Calibri" panose="020F0502020204030204" pitchFamily="34" charset="0"/>
                <a:cs typeface="Calibri" panose="020F0502020204030204" pitchFamily="34" charset="0"/>
              </a:rPr>
              <a:t>Description</a:t>
            </a:r>
            <a:r>
              <a:rPr lang="en-US" sz="1800" b="1" dirty="0" smtClean="0">
                <a:latin typeface="Calibri" panose="020F0502020204030204" pitchFamily="34" charset="0"/>
                <a:cs typeface="Calibri" panose="020F0502020204030204" pitchFamily="34" charset="0"/>
              </a:rPr>
              <a:t>: </a:t>
            </a:r>
            <a:r>
              <a:rPr lang="en-US" sz="1800" dirty="0" smtClean="0">
                <a:latin typeface="Calibri" panose="020F0502020204030204" pitchFamily="34" charset="0"/>
                <a:cs typeface="Calibri" panose="020F0502020204030204" pitchFamily="34" charset="0"/>
              </a:rPr>
              <a:t>A 28-year-old female presented for medical induction of labor due to pre-eclampsia. Three trials of </a:t>
            </a:r>
            <a:r>
              <a:rPr lang="en-US" sz="1800" dirty="0" err="1" smtClean="0">
                <a:latin typeface="Calibri" panose="020F0502020204030204" pitchFamily="34" charset="0"/>
                <a:cs typeface="Calibri" panose="020F0502020204030204" pitchFamily="34" charset="0"/>
              </a:rPr>
              <a:t>Cervidil</a:t>
            </a:r>
            <a:r>
              <a:rPr lang="en-US" sz="1800" dirty="0" smtClean="0">
                <a:latin typeface="Calibri" panose="020F0502020204030204" pitchFamily="34" charset="0"/>
                <a:cs typeface="Calibri" panose="020F0502020204030204" pitchFamily="34" charset="0"/>
              </a:rPr>
              <a:t> failed to produce contractions of adequate strength and duration. On the third day of admission, Pitocin induction was attempted. Due to maternal exhaustion at the trials of labor, the decision was made to rupture membranes. Mid forceps and vacuum assistance were tried to no avail. Despite favorable prenatal </a:t>
            </a:r>
            <a:r>
              <a:rPr lang="en-US" sz="1800" dirty="0" err="1" smtClean="0">
                <a:latin typeface="Calibri" panose="020F0502020204030204" pitchFamily="34" charset="0"/>
                <a:cs typeface="Calibri" panose="020F0502020204030204" pitchFamily="34" charset="0"/>
              </a:rPr>
              <a:t>cephalopelvic</a:t>
            </a:r>
            <a:r>
              <a:rPr lang="en-US" sz="1800" dirty="0" smtClean="0">
                <a:latin typeface="Calibri" panose="020F0502020204030204" pitchFamily="34" charset="0"/>
                <a:cs typeface="Calibri" panose="020F0502020204030204" pitchFamily="34" charset="0"/>
              </a:rPr>
              <a:t> measurements, the patient was determined to be in obstructed labor due to disproportion. After three hours of pushing efforts with assistance and resultant maternal exhaustion, the decision was made to deliver by emergency cesarean section. The patient delivered a term liveborn female infant by  low transverse cesarean section (LTCS)</a:t>
            </a:r>
          </a:p>
          <a:p>
            <a:pPr algn="just"/>
            <a:r>
              <a:rPr lang="en-US" sz="1800" dirty="0" smtClean="0">
                <a:latin typeface="Calibri" panose="020F0502020204030204" pitchFamily="34" charset="0"/>
                <a:cs typeface="Calibri" panose="020F0502020204030204" pitchFamily="34" charset="0"/>
              </a:rPr>
              <a:t>10D00Z1 – Extraction of Products of Conception, Open Approach</a:t>
            </a:r>
          </a:p>
          <a:p>
            <a:pPr algn="just"/>
            <a:r>
              <a:rPr lang="en-US" sz="1800" dirty="0" smtClean="0">
                <a:latin typeface="Calibri" panose="020F0502020204030204" pitchFamily="34" charset="0"/>
                <a:cs typeface="Calibri" panose="020F0502020204030204" pitchFamily="34" charset="0"/>
              </a:rPr>
              <a:t>10907ZC – Drainage of Amniotic Fluid, Therapeutic from Products of Conception, Via Natural or Artificial Opening </a:t>
            </a:r>
          </a:p>
          <a:p>
            <a:pPr algn="just"/>
            <a:r>
              <a:rPr lang="en-US" sz="1800" dirty="0" smtClean="0">
                <a:latin typeface="Calibri" panose="020F0502020204030204" pitchFamily="34" charset="0"/>
                <a:cs typeface="Calibri" panose="020F0502020204030204" pitchFamily="34" charset="0"/>
              </a:rPr>
              <a:t>3E0P7VZ – Introduction of Hormone into Female Reproductive, Via Natural or Artificial Opening  </a:t>
            </a:r>
          </a:p>
          <a:p>
            <a:pPr algn="just"/>
            <a:r>
              <a:rPr lang="en-US" sz="1800" dirty="0" smtClean="0">
                <a:latin typeface="Calibri" panose="020F0502020204030204" pitchFamily="34" charset="0"/>
                <a:cs typeface="Calibri" panose="020F0502020204030204" pitchFamily="34" charset="0"/>
              </a:rPr>
              <a:t>3E033VJ – Introduction of other Hormone into Peripheral Vein, Percutaneous Approach </a:t>
            </a:r>
            <a:endParaRPr lang="en-IN" sz="1800" dirty="0"/>
          </a:p>
        </p:txBody>
      </p:sp>
    </p:spTree>
    <p:extLst>
      <p:ext uri="{BB962C8B-B14F-4D97-AF65-F5344CB8AC3E}">
        <p14:creationId xmlns:p14="http://schemas.microsoft.com/office/powerpoint/2010/main" val="3248940853"/>
      </p:ext>
    </p:extLst>
  </p:cSld>
  <p:clrMapOvr>
    <a:masterClrMapping/>
  </p:clrMapOvr>
</p:sld>
</file>

<file path=ppt/theme/theme1.xml><?xml version="1.0" encoding="utf-8"?>
<a:theme xmlns:a="http://schemas.openxmlformats.org/drawingml/2006/main" name="Office Theme">
  <a:themeElements>
    <a:clrScheme name="Omega Healthcare">
      <a:dk1>
        <a:srgbClr val="262626"/>
      </a:dk1>
      <a:lt1>
        <a:srgbClr val="FFFFFF"/>
      </a:lt1>
      <a:dk2>
        <a:srgbClr val="1658A4"/>
      </a:dk2>
      <a:lt2>
        <a:srgbClr val="348EC9"/>
      </a:lt2>
      <a:accent1>
        <a:srgbClr val="153166"/>
      </a:accent1>
      <a:accent2>
        <a:srgbClr val="992428"/>
      </a:accent2>
      <a:accent3>
        <a:srgbClr val="77787B"/>
      </a:accent3>
      <a:accent4>
        <a:srgbClr val="BCBEC0"/>
      </a:accent4>
      <a:accent5>
        <a:srgbClr val="F47C23"/>
      </a:accent5>
      <a:accent6>
        <a:srgbClr val="67C189"/>
      </a:accent6>
      <a:hlink>
        <a:srgbClr val="0070C0"/>
      </a:hlink>
      <a:folHlink>
        <a:srgbClr val="90C6F6"/>
      </a:folHlink>
    </a:clrScheme>
    <a:fontScheme name="Omega New Template">
      <a:majorFont>
        <a:latin typeface="Avenir Heavy"/>
        <a:ea typeface=""/>
        <a:cs typeface=""/>
      </a:majorFont>
      <a:minorFont>
        <a:latin typeface="Avenir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mega Healthcare_template" id="{63A0DB61-DB58-1A4A-B042-1839354C95F2}" vid="{E2BCF418-2F16-D54B-8DA6-93CCB280D1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RCM</Template>
  <TotalTime>624</TotalTime>
  <Words>575</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Avenir Heavy</vt:lpstr>
      <vt:lpstr>Avenir Medium</vt:lpstr>
      <vt:lpstr>Calibri</vt:lpstr>
      <vt:lpstr>Courier New</vt:lpstr>
      <vt:lpstr>Wingdings</vt:lpstr>
      <vt:lpstr>Office Theme</vt:lpstr>
      <vt:lpstr>PowerPoint Presentation</vt:lpstr>
      <vt:lpstr>PowerPoint Presentation</vt:lpstr>
      <vt:lpstr>Obstetrics Section</vt:lpstr>
      <vt:lpstr>Obstetrics Section</vt:lpstr>
      <vt:lpstr>Clinical Examples </vt:lpstr>
      <vt:lpstr>Clinical Examples </vt:lpstr>
      <vt:lpstr>Knowledge Check</vt:lpstr>
      <vt:lpstr>Knowledge Check</vt:lpstr>
      <vt:lpstr>Operative Report 1</vt:lpstr>
      <vt:lpstr>Operative Report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Vinothini Kirupakaran</dc:creator>
  <cp:lastModifiedBy>Vijayashanthi D</cp:lastModifiedBy>
  <cp:revision>66</cp:revision>
  <dcterms:created xsi:type="dcterms:W3CDTF">2021-08-28T14:27:41Z</dcterms:created>
  <dcterms:modified xsi:type="dcterms:W3CDTF">2022-01-03T11:52:48Z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8b32edde-1ff2-4d4e-a2d7-fbbc106f8d9c</vt:lpwstr>
  </property>
  <property fmtid="{D5CDD505-2E9C-101B-9397-08002B2CF9AE}" pid="3" name="Project">
    <vt:lpwstr>IBDROOT</vt:lpwstr>
  </property>
  <property fmtid="{D5CDD505-2E9C-101B-9397-08002B2CF9AE}" pid="4" name="Classification">
    <vt:lpwstr>I</vt:lpwstr>
  </property>
  <property fmtid="{D5CDD505-2E9C-101B-9397-08002B2CF9AE}" pid="5" name="DocTopsCleaned">
    <vt:lpwstr>True</vt:lpwstr>
  </property>
  <property fmtid="{D5CDD505-2E9C-101B-9397-08002B2CF9AE}" pid="6" name="ShowHideDoctop">
    <vt:lpwstr>False</vt:lpwstr>
  </property>
</Properties>
</file>