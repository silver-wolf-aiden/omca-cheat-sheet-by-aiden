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516" r:id="rId2"/>
    <p:sldId id="517" r:id="rId3"/>
    <p:sldId id="555" r:id="rId4"/>
    <p:sldId id="599" r:id="rId5"/>
    <p:sldId id="547" r:id="rId6"/>
    <p:sldId id="601" r:id="rId7"/>
    <p:sldId id="600" r:id="rId8"/>
    <p:sldId id="579" r:id="rId9"/>
    <p:sldId id="595" r:id="rId10"/>
    <p:sldId id="553" r:id="rId11"/>
    <p:sldId id="554" r:id="rId12"/>
    <p:sldId id="596" r:id="rId13"/>
    <p:sldId id="597" r:id="rId14"/>
    <p:sldId id="598" r:id="rId15"/>
    <p:sldId id="602" r:id="rId16"/>
    <p:sldId id="603" r:id="rId17"/>
    <p:sldId id="604" r:id="rId18"/>
    <p:sldId id="5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tic" initials="l" lastIdx="27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C542"/>
    <a:srgbClr val="2F6193"/>
    <a:srgbClr val="FF8201"/>
    <a:srgbClr val="262626"/>
    <a:srgbClr val="1D1564"/>
    <a:srgbClr val="0B5395"/>
    <a:srgbClr val="0572BC"/>
    <a:srgbClr val="2FA9D7"/>
    <a:srgbClr val="ED9622"/>
    <a:srgbClr val="2D2F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57" autoAdjust="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>
        <p:guide pos="3840"/>
        <p:guide orient="horz" pos="216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20ADA-2636-4920-B510-E61DFF0FA5AC}" type="datetimeFigureOut">
              <a:rPr lang="en-IN" smtClean="0"/>
              <a:t>20-12-2021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F8806-B5FA-4027-87F3-47B8EAE39ED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4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D9EAC-9A38-4670-B77A-DD2A7D52B450}" type="datetimeFigureOut">
              <a:rPr lang="en-IN" smtClean="0"/>
              <a:t>20-12-2021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 dirty="0"/>
              <a:t>This presentation is confidential. No part of it may be circulated, quoted, or reproduced for distribution outside the organization without prior written approval from Omega Healthcare. Thank you.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A0649-D767-4B37-848A-14C1DC350B7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4905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97414-F6FA-B34C-90AF-D370F983A9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8" b="1778"/>
          <a:stretch/>
        </p:blipFill>
        <p:spPr>
          <a:xfrm>
            <a:off x="0" y="243840"/>
            <a:ext cx="12192000" cy="661416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72404" y="2536069"/>
            <a:ext cx="3647192" cy="1218051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481076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38A553-5287-0E41-A5D3-E62002DC4346}"/>
              </a:ext>
            </a:extLst>
          </p:cNvPr>
          <p:cNvSpPr/>
          <p:nvPr userDrawn="1"/>
        </p:nvSpPr>
        <p:spPr>
          <a:xfrm>
            <a:off x="0" y="6693408"/>
            <a:ext cx="12192000" cy="1645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4C79E7-7057-AF4F-B18C-E3989117AE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352FF6-569A-064D-B4B2-EF817DBEF3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404" y="2040769"/>
            <a:ext cx="3647192" cy="121573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3357C5F-9929-674B-BF2C-ADB33591F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5049618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873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AE9F9-2984-204C-B427-379965A9A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2689222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2914650" y="3545210"/>
            <a:ext cx="6362700" cy="4953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S" sz="2000" b="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5C9036-2210-6142-BFDC-7BFE83F36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6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B9BD612-3813-FB4E-865F-FADE0BC7F8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914650" y="3108960"/>
            <a:ext cx="6362700" cy="640080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baseline="0" dirty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17FC5-AAA0-1041-BC24-5CE254DB52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9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B580F0-627E-BF4F-9A0F-3D79B6029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BDA3B51-831E-2940-8D2F-6C33370C7922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 userDrawn="1"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2189A4-037B-0845-B243-1FE144E511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3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B5EA7B4-D03C-0542-BDFA-C3169458B7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52CB39-3423-8046-836D-596E398D1F5C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 userDrawn="1"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85A651-D2E5-C340-A433-6D68EFF23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0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64833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50">
                <a:solidFill>
                  <a:schemeClr val="accent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60F511-5604-4848-B430-C09C849A14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BE787-5CAB-924F-9402-77E03E56C3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AE919E-F3E3-614F-B830-39BA0FFE7B16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>
                <a:solidFill>
                  <a:schemeClr val="accent1"/>
                </a:solidFill>
              </a:rPr>
              <a:pPr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0336" y="958092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20336" y="1772708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B1814-8187-604F-BB35-1ED23A564E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10423" y="6217919"/>
            <a:ext cx="1348505" cy="4519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F483BD-9067-A74B-9DE3-D4DBAEC41D4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1A0E5-B6BB-5A4E-A439-D3DE43390EB0}"/>
              </a:ext>
            </a:extLst>
          </p:cNvPr>
          <p:cNvSpPr/>
          <p:nvPr userDrawn="1"/>
        </p:nvSpPr>
        <p:spPr>
          <a:xfrm rot="10800000" flipH="1">
            <a:off x="0" y="1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6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3303BC2-BE3B-E74E-8F32-DC9FE778E313}"/>
              </a:ext>
            </a:extLst>
          </p:cNvPr>
          <p:cNvSpPr/>
          <p:nvPr userDrawn="1"/>
        </p:nvSpPr>
        <p:spPr>
          <a:xfrm>
            <a:off x="0" y="6135624"/>
            <a:ext cx="12192000" cy="722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4C4CB8B0-BC73-F942-BB45-8581E54B431D}"/>
              </a:ext>
            </a:extLst>
          </p:cNvPr>
          <p:cNvSpPr txBox="1">
            <a:spLocks/>
          </p:cNvSpPr>
          <p:nvPr userDrawn="1"/>
        </p:nvSpPr>
        <p:spPr>
          <a:xfrm>
            <a:off x="168365" y="64579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0362" cy="461665"/>
          </a:xfrm>
          <a:prstGeom prst="rect">
            <a:avLst/>
          </a:prstGeom>
        </p:spPr>
        <p:txBody>
          <a:bodyPr wrap="none" lIns="0" rIns="0" anchor="ctr">
            <a:no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400" b="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lIns="0" tIns="0" rIns="0" bIns="0"/>
          <a:lstStyle>
            <a:lvl1pPr marL="27432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1pPr>
            <a:lvl2pPr marL="54864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2pPr>
            <a:lvl3pPr marL="82296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3pPr>
            <a:lvl4pPr marL="109728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  <a:defRPr lang="en-US" sz="1600" kern="1200" dirty="0" smtClean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4pPr>
            <a:lvl5pPr marL="13716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  <a:defRPr lang="en-US" sz="1600" kern="1200" dirty="0">
                <a:solidFill>
                  <a:srgbClr val="26262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80843-F36E-1949-B9A3-F9B0FEC10B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06677" y="6217919"/>
            <a:ext cx="1355998" cy="4519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5439FC3-82D0-864B-805C-6103C617B7B8}"/>
              </a:ext>
            </a:extLst>
          </p:cNvPr>
          <p:cNvSpPr/>
          <p:nvPr userDrawn="1"/>
        </p:nvSpPr>
        <p:spPr>
          <a:xfrm>
            <a:off x="0" y="6788150"/>
            <a:ext cx="12192000" cy="698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5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57"/>
            <a:ext cx="12188952" cy="6856285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5EB7333-1EA9-C143-81E6-31F92E2FBC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21719" y="2947779"/>
            <a:ext cx="2881826" cy="96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1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829" y="5791200"/>
            <a:ext cx="1416269" cy="47478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552" y="333373"/>
            <a:ext cx="9253728" cy="46634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GS Doctop Placeholder" hidden="1"/>
          <p:cNvSpPr txBox="1"/>
          <p:nvPr userDrawn="1"/>
        </p:nvSpPr>
        <p:spPr>
          <a:xfrm>
            <a:off x="546100" y="0"/>
            <a:ext cx="5651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00" b="0">
                <a:latin typeface="Arial" panose="020B0604020202020204" pitchFamily="34" charset="0"/>
              </a:rPr>
              <a:t>IBDROOT\PROJECTS\IBD-NY\VISTAS2020\657440_1\Due Diligence\Presentation\Project SYMPHONY_Oboe Diligence Materials_v06.pptx</a:t>
            </a:r>
            <a:endParaRPr lang="en-US" sz="800" b="0" dirty="0">
              <a:latin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314552" y="1147989"/>
            <a:ext cx="9561286" cy="46432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274320" lvl="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Edit Master text styles</a:t>
            </a:r>
          </a:p>
          <a:p>
            <a:pPr marL="548640" lvl="1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SzPct val="75000"/>
              <a:buFont typeface="Wingdings" panose="05000000000000000000" pitchFamily="2" charset="2"/>
              <a:buChar char="v"/>
            </a:pPr>
            <a:r>
              <a:rPr lang="en-US" dirty="0"/>
              <a:t>Second level</a:t>
            </a:r>
          </a:p>
          <a:p>
            <a:pPr marL="822960" lvl="2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Wingdings" panose="05000000000000000000" pitchFamily="2" charset="2"/>
              <a:buChar char="§"/>
            </a:pPr>
            <a:r>
              <a:rPr lang="en-US" dirty="0"/>
              <a:t>Third level</a:t>
            </a:r>
          </a:p>
          <a:p>
            <a:pPr marL="1097280" lvl="3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371600" lvl="4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D1564"/>
              </a:buClr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161485" y="6356350"/>
            <a:ext cx="703943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46616483-2A41-4A20-BD01-F9E46BA69A4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50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1" r:id="rId2"/>
    <p:sldLayoutId id="2147483727" r:id="rId3"/>
    <p:sldLayoutId id="2147483730" r:id="rId4"/>
    <p:sldLayoutId id="2147483728" r:id="rId5"/>
    <p:sldLayoutId id="2147483729" r:id="rId6"/>
    <p:sldLayoutId id="2147483732" r:id="rId7"/>
    <p:sldLayoutId id="2147483733" r:id="rId8"/>
    <p:sldLayoutId id="2147483734" r:id="rId9"/>
    <p:sldLayoutId id="2147483735" r:id="rId10"/>
  </p:sldLayoutIdLst>
  <p:hf hdr="0" ftr="0" dt="0"/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0" kern="1200" baseline="0" dirty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31520" indent="-4572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3439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108710" indent="-285750" algn="l" defTabSz="9906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440180" indent="-3429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lang="en-US" sz="16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 userDrawn="1">
          <p15:clr>
            <a:srgbClr val="F26B43"/>
          </p15:clr>
        </p15:guide>
        <p15:guide id="3" orient="horz" pos="624" userDrawn="1">
          <p15:clr>
            <a:srgbClr val="F26B43"/>
          </p15:clr>
        </p15:guide>
        <p15:guide id="4" pos="6221" userDrawn="1">
          <p15:clr>
            <a:srgbClr val="F26B43"/>
          </p15:clr>
        </p15:guide>
        <p15:guide id="5" pos="189" userDrawn="1">
          <p15:clr>
            <a:srgbClr val="F26B43"/>
          </p15:clr>
        </p15:guide>
        <p15:guide id="6" orient="horz" pos="714" userDrawn="1">
          <p15:clr>
            <a:srgbClr val="F26B43"/>
          </p15:clr>
        </p15:guide>
        <p15:guide id="7" orient="horz" pos="3738" userDrawn="1">
          <p15:clr>
            <a:srgbClr val="F26B43"/>
          </p15:clr>
        </p15:guide>
        <p15:guide id="8" orient="horz" pos="36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988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7F289D-2757-0342-BE5D-531BF0C679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70217" y="5049618"/>
            <a:ext cx="5907133" cy="495300"/>
          </a:xfrm>
        </p:spPr>
        <p:txBody>
          <a:bodyPr>
            <a:normAutofit/>
          </a:bodyPr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Mental Health Section G	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18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Understanding Mental health Section G	</a:t>
            </a:r>
            <a:endParaRPr lang="en-US" sz="2000" dirty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Clinical </a:t>
            </a: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for better understanding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 Check  </a:t>
            </a: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 smtClean="0">
                <a:solidFill>
                  <a:srgbClr val="3A383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Exercises</a:t>
            </a:r>
          </a:p>
          <a:p>
            <a:pPr lvl="3">
              <a:lnSpc>
                <a:spcPct val="200000"/>
              </a:lnSpc>
              <a:buFont typeface="Wingdings" panose="05000000000000000000" pitchFamily="2" charset="2"/>
              <a:buChar char="ü"/>
            </a:pPr>
            <a:endParaRPr lang="en-US" sz="2000" dirty="0" smtClean="0">
              <a:solidFill>
                <a:srgbClr val="3A383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7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Mental Health Section G</a:t>
            </a:r>
            <a: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36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Mental Health contains specific values in the third and fourth characters to describe mental health procedures. The remaining characters function as placeholders only.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Third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character describes the mental health procedure root type. 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Fourth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character further specifies the procedure type as needed. </a:t>
            </a:r>
          </a:p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Second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fifth, sixth, and seventh characters do not convey specific information about the procedure. The value Z functions as a placeholder in these characters. </a:t>
            </a:r>
          </a:p>
          <a:p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4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Mental Health Section G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Root Type:</a:t>
            </a:r>
          </a:p>
          <a:p>
            <a:pPr marL="0" indent="0">
              <a:buNone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third character describes the mental health root type. There are 11 root type values in this section, as listed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below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1: Psychological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Tests-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 series of tests conducted by a psychologist, to gather information about how people think, feel, behave and react.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findings are used to develop a report of the person’s abilities and behavior—known as a psychological report—which is then used as a basis to make recommendations for the individual’s treatment.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2: 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Crisis 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Intervention-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Treatment of a traumatized, acutely disturbed or distressed individual for the purpose of short-term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stabilization.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5: Individual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Psychotherapy-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Treatment of an individual with a mental health disorder by behavioral, cognitive, psychoanalytic, psychodynamic or psychophysiological means to improve functioning or well-being.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Counselling –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 application of psychological methods to treat an individual with normal developmental issues and psychological problems in order to increase function, improve well-being, alleviate distress, maladjustment or resolve crises.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4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Mental Health Section G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100" dirty="0" smtClean="0">
                <a:latin typeface="Calibri" panose="020F0502020204030204" pitchFamily="34" charset="0"/>
                <a:cs typeface="Calibri" panose="020F0502020204030204" pitchFamily="34" charset="0"/>
              </a:rPr>
              <a:t>7: Family Psychotherapy-</a:t>
            </a:r>
            <a:r>
              <a:rPr lang="en-US" sz="21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Treatment that includes one or more family members of an individual with a mental health disorder by behavioral, cognitive, psychoanalytic, psychodynamic or psychophysiological means to improve functioning or well-being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100" dirty="0">
                <a:latin typeface="Calibri" panose="020F0502020204030204" pitchFamily="34" charset="0"/>
                <a:cs typeface="Calibri" panose="020F0502020204030204" pitchFamily="34" charset="0"/>
              </a:rPr>
              <a:t>Electroconvulsive Therapy-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Electroconvulsive therapy 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is the application of controlled electrical voltages to treat a mental health disorder.</a:t>
            </a:r>
            <a:endParaRPr lang="en-IN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100" dirty="0">
                <a:latin typeface="Calibri" panose="020F0502020204030204" pitchFamily="34" charset="0"/>
                <a:cs typeface="Calibri" panose="020F0502020204030204" pitchFamily="34" charset="0"/>
              </a:rPr>
              <a:t>C: Biofeedback -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Provision of information from the monitoring and regulating of physiological processes in conjunction with cognitive-behavioral techniques to improve patient functioning or </a:t>
            </a:r>
            <a:r>
              <a:rPr lang="en-US" sz="2100" dirty="0" smtClean="0">
                <a:latin typeface="Calibri" panose="020F0502020204030204" pitchFamily="34" charset="0"/>
                <a:cs typeface="Calibri" panose="020F0502020204030204" pitchFamily="34" charset="0"/>
              </a:rPr>
              <a:t>well-being.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100" dirty="0" smtClean="0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IN" sz="2100" dirty="0">
                <a:latin typeface="Calibri" panose="020F0502020204030204" pitchFamily="34" charset="0"/>
                <a:cs typeface="Calibri" panose="020F0502020204030204" pitchFamily="34" charset="0"/>
              </a:rPr>
              <a:t>: Hypnosis Therapy-</a:t>
            </a:r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 technique that utilizes hypnosis to aid in the treatment of specific symptoms or health conditions. Hypnotherapy works by inducing a hypnotic state marked by waking awareness that allows people to experience detached external attention and to focus on inner experiences.</a:t>
            </a: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2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D67FF-75AE-4F22-8549-01C40EE1D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4" y="333373"/>
            <a:ext cx="8859520" cy="461665"/>
          </a:xfrm>
        </p:spPr>
        <p:txBody>
          <a:bodyPr/>
          <a:lstStyle/>
          <a:p>
            <a:r>
              <a:rPr lang="en-IN" sz="3600" b="1" dirty="0">
                <a:latin typeface="Calibri" panose="020F0502020204030204" pitchFamily="34" charset="0"/>
                <a:cs typeface="Calibri" panose="020F0502020204030204" pitchFamily="34" charset="0"/>
              </a:rPr>
              <a:t>Mental Health Section G</a:t>
            </a:r>
            <a:endParaRPr 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F123B-625D-4706-99CC-8894E356DA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5394" y="1147989"/>
            <a:ext cx="10998926" cy="46432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Narcosynthesis-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Administration of intravenous barbiturates in order to release suppressed or repressed thoughts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: Group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Therapy-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group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therapy is a form of psychotherapy in which one or more therapists treat a small group of clients together as a group</a:t>
            </a: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J: Light 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Therapy-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Application of specialized light treatments to improve functioning or well-being.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80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1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Galvanic skin response (GSR) biofeedback </a:t>
            </a:r>
            <a:endParaRPr lang="en-US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Code: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GZC9ZZZ (Biofeedback)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Coding Navigation: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833" y="2050869"/>
            <a:ext cx="8434796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1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6206" y="333373"/>
            <a:ext cx="8898708" cy="461665"/>
          </a:xfrm>
        </p:spPr>
        <p:txBody>
          <a:bodyPr/>
          <a:lstStyle/>
          <a:p>
            <a:r>
              <a:rPr lang="en-IN" sz="3000" b="1" dirty="0">
                <a:latin typeface="Calibri" panose="020F0502020204030204" pitchFamily="34" charset="0"/>
                <a:cs typeface="Calibri" pitchFamily="34" charset="0"/>
              </a:rPr>
              <a:t>Clinical Example </a:t>
            </a:r>
            <a:r>
              <a:rPr lang="en-IN" sz="3000" b="1" dirty="0" smtClean="0">
                <a:latin typeface="Calibri" panose="020F0502020204030204" pitchFamily="34" charset="0"/>
                <a:cs typeface="Calibri" pitchFamily="34" charset="0"/>
              </a:rPr>
              <a:t>2</a:t>
            </a:r>
            <a:endParaRPr lang="en-IN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6206" y="1018903"/>
            <a:ext cx="11142616" cy="4772298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Cognitive-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behavioral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psychotherapy, individual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GZ58ZZZ (Individual Psychotherapy, Cognitive-Behavioral) 	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Coding Navigation:	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21" y="2142172"/>
            <a:ext cx="7852819" cy="364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1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1147989"/>
            <a:ext cx="11559948" cy="48348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code 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Narcosynthesis?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Codes: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GZGZZZZ (Narcosynthesis)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</a:t>
            </a:r>
            <a:r>
              <a:rPr lang="en-IN" sz="2000" b="1" dirty="0">
                <a:latin typeface="Calibri" pitchFamily="34" charset="0"/>
                <a:cs typeface="Calibri" pitchFamily="34" charset="0"/>
              </a:rPr>
              <a:t>Navigation:</a:t>
            </a:r>
            <a:endParaRPr lang="en-IN" sz="20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20" y="2259874"/>
            <a:ext cx="8586789" cy="305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1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Calibri" pitchFamily="34" charset="0"/>
                <a:cs typeface="Calibri" pitchFamily="34" charset="0"/>
              </a:rPr>
              <a:t>Knowledge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Check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66651"/>
            <a:ext cx="11369448" cy="4951368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code 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Light therapy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GZJZZZZ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Light Therapy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256" y="2129246"/>
            <a:ext cx="9155567" cy="276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2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1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ECT (Electroconvulsive therapy), unilateral, multiple seizure?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GZB1ZZZ (Electroconvulsive Therapy, Unilateral-Multiple Seizure)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634" y="1881051"/>
            <a:ext cx="8830491" cy="416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77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2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code assignment 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Crisis intervention?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Code: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GZ2ZZZZ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Crisis Intervention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/>
            <a:r>
              <a:rPr lang="en-IN" sz="2000" b="1" dirty="0" smtClean="0">
                <a:latin typeface="Calibri" pitchFamily="34" charset="0"/>
                <a:cs typeface="Calibri" pitchFamily="34" charset="0"/>
              </a:rPr>
              <a:t>Code Navigation:</a:t>
            </a:r>
            <a:endParaRPr lang="en-IN" sz="2000" dirty="0" smtClean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73" y="2029505"/>
            <a:ext cx="8382544" cy="284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1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3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Neuropsychological testing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GZ13ZZZ (Psychological Tests, Neuropsychological</a:t>
            </a:r>
            <a:r>
              <a:rPr lang="en-IN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13" y="2425337"/>
            <a:ext cx="74390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8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4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Hypnosis?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GZFZZZZ (Hypnosis)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703" y="2076994"/>
            <a:ext cx="8582297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40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</a:t>
            </a:r>
            <a:r>
              <a:rPr lang="en-IN" sz="3600" b="1" dirty="0">
                <a:latin typeface="Calibri" pitchFamily="34" charset="0"/>
                <a:cs typeface="Calibri" pitchFamily="34" charset="0"/>
              </a:rPr>
              <a:t>5</a:t>
            </a:r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 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Vocational counselling?</a:t>
            </a:r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GZ61ZZZ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(Vocational Counseling)</a:t>
            </a:r>
            <a:endParaRPr lang="en-US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395" y="1926907"/>
            <a:ext cx="8469222" cy="352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 smtClean="0">
                <a:latin typeface="Calibri" pitchFamily="34" charset="0"/>
                <a:cs typeface="Calibri" pitchFamily="34" charset="0"/>
              </a:rPr>
              <a:t>Exercise </a:t>
            </a:r>
            <a:r>
              <a:rPr lang="en-IN" sz="3600" b="1" dirty="0">
                <a:latin typeface="Calibri" pitchFamily="34" charset="0"/>
                <a:cs typeface="Calibri" pitchFamily="34" charset="0"/>
              </a:rPr>
              <a:t>6</a:t>
            </a:r>
            <a:endParaRPr lang="en-IN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14552" y="927462"/>
            <a:ext cx="11369448" cy="5120641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is the 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code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assignment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Family psychotherapy ?</a:t>
            </a:r>
          </a:p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GZ72ZZZ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(Family Psychotherapy)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b="1" dirty="0">
                <a:latin typeface="Calibri" panose="020F0502020204030204" pitchFamily="34" charset="0"/>
                <a:cs typeface="Calibri" panose="020F0502020204030204" pitchFamily="34" charset="0"/>
              </a:rPr>
              <a:t>Code Navigation:</a:t>
            </a: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2" y="2257424"/>
            <a:ext cx="8357644" cy="301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8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616" y="1567543"/>
            <a:ext cx="5280297" cy="2103120"/>
          </a:xfrm>
        </p:spPr>
        <p:txBody>
          <a:bodyPr/>
          <a:lstStyle/>
          <a:p>
            <a:r>
              <a:rPr lang="en-US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8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mega Healthcare">
      <a:dk1>
        <a:srgbClr val="262626"/>
      </a:dk1>
      <a:lt1>
        <a:srgbClr val="FFFFFF"/>
      </a:lt1>
      <a:dk2>
        <a:srgbClr val="1658A4"/>
      </a:dk2>
      <a:lt2>
        <a:srgbClr val="348EC9"/>
      </a:lt2>
      <a:accent1>
        <a:srgbClr val="153166"/>
      </a:accent1>
      <a:accent2>
        <a:srgbClr val="992428"/>
      </a:accent2>
      <a:accent3>
        <a:srgbClr val="77787B"/>
      </a:accent3>
      <a:accent4>
        <a:srgbClr val="BCBEC0"/>
      </a:accent4>
      <a:accent5>
        <a:srgbClr val="F47C23"/>
      </a:accent5>
      <a:accent6>
        <a:srgbClr val="67C189"/>
      </a:accent6>
      <a:hlink>
        <a:srgbClr val="0070C0"/>
      </a:hlink>
      <a:folHlink>
        <a:srgbClr val="90C6F6"/>
      </a:folHlink>
    </a:clrScheme>
    <a:fontScheme name="Omega New Template">
      <a:majorFont>
        <a:latin typeface="Avenir Heavy"/>
        <a:ea typeface=""/>
        <a:cs typeface=""/>
      </a:majorFont>
      <a:minorFont>
        <a:latin typeface="Avenir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mega Healthcare_template" id="{63A0DB61-DB58-1A4A-B042-1839354C95F2}" vid="{E2BCF418-2F16-D54B-8DA6-93CCB280D1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RCM</Template>
  <TotalTime>3439</TotalTime>
  <Words>696</Words>
  <Application>Microsoft Office PowerPoint</Application>
  <PresentationFormat>Widescreen</PresentationFormat>
  <Paragraphs>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Avenir Heavy</vt:lpstr>
      <vt:lpstr>Avenir Medium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Objectives</vt:lpstr>
      <vt:lpstr> Mental Health Section G </vt:lpstr>
      <vt:lpstr>Mental Health Section G</vt:lpstr>
      <vt:lpstr>Mental Health Section G</vt:lpstr>
      <vt:lpstr>Mental Health Section G</vt:lpstr>
      <vt:lpstr>Clinical Example 1</vt:lpstr>
      <vt:lpstr>Clinical Example 2</vt:lpstr>
      <vt:lpstr>Knowledge Check 1 </vt:lpstr>
      <vt:lpstr>Knowledge Check 2 </vt:lpstr>
      <vt:lpstr>Exercise 1 </vt:lpstr>
      <vt:lpstr>Exercise 2 </vt:lpstr>
      <vt:lpstr>Exercise 3 </vt:lpstr>
      <vt:lpstr>Exercise 4 </vt:lpstr>
      <vt:lpstr>Exercise 5 </vt:lpstr>
      <vt:lpstr>Exercise 6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Vinothini Kirupakaran</dc:creator>
  <cp:lastModifiedBy>Nimhor Vashum</cp:lastModifiedBy>
  <cp:revision>285</cp:revision>
  <dcterms:created xsi:type="dcterms:W3CDTF">2021-08-28T14:27:41Z</dcterms:created>
  <dcterms:modified xsi:type="dcterms:W3CDTF">2021-12-21T03:49:24Z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8b32edde-1ff2-4d4e-a2d7-fbbc106f8d9c</vt:lpwstr>
  </property>
  <property fmtid="{D5CDD505-2E9C-101B-9397-08002B2CF9AE}" pid="3" name="Project">
    <vt:lpwstr>IBDROOT</vt:lpwstr>
  </property>
  <property fmtid="{D5CDD505-2E9C-101B-9397-08002B2CF9AE}" pid="4" name="Classification">
    <vt:lpwstr>I</vt:lpwstr>
  </property>
  <property fmtid="{D5CDD505-2E9C-101B-9397-08002B2CF9AE}" pid="5" name="DocTopsCleaned">
    <vt:lpwstr>True</vt:lpwstr>
  </property>
  <property fmtid="{D5CDD505-2E9C-101B-9397-08002B2CF9AE}" pid="6" name="ShowHideDoctop">
    <vt:lpwstr>False</vt:lpwstr>
  </property>
</Properties>
</file>