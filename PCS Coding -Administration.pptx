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516" r:id="rId2"/>
    <p:sldId id="517" r:id="rId3"/>
    <p:sldId id="547" r:id="rId4"/>
    <p:sldId id="548" r:id="rId5"/>
    <p:sldId id="549" r:id="rId6"/>
    <p:sldId id="550" r:id="rId7"/>
    <p:sldId id="551" r:id="rId8"/>
    <p:sldId id="552" r:id="rId9"/>
    <p:sldId id="553" r:id="rId10"/>
    <p:sldId id="55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7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186" y="72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03-01-2022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03-01-2022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Administration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Administration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552" y="1005840"/>
            <a:ext cx="11272202" cy="47853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Body System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(Character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2) 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Contains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three body system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</a:p>
          <a:p>
            <a:pPr lvl="1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Physiological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Systems and Anatomical Regions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Circulatory </a:t>
            </a:r>
          </a:p>
          <a:p>
            <a:pPr lvl="1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Indwelling Device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Root Operation (Character 3)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Physiological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Systems and Anatomical Regions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Putting in a therapeutic, diagnostic, nutritional, physiological or prophylactic substance except blood or blood products </a:t>
            </a:r>
          </a:p>
          <a:p>
            <a:pPr lvl="1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Irrigation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Putting in or on a cleansing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substance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Circulatory System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Transfusion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Putting in blood or blood products</a:t>
            </a:r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C452-7771-4936-82B0-C2E929A9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Administration 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349D4-06F4-4BAC-B173-8E90E9B18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6755" y="1058091"/>
            <a:ext cx="11704320" cy="50161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Body Part (Character </a:t>
            </a:r>
            <a:r>
              <a:rPr lang="en-IN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4)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For Introduction, the body part specifies where the procedure occurs and not necessarily the site where the substance introduced has an effect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For Irrigation, the body part specifies the site of the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irrigation</a:t>
            </a:r>
          </a:p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Approach (Character 5</a:t>
            </a:r>
            <a:r>
              <a:rPr lang="en-IN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Approach uses values defined in the Medical and Surgical section </a:t>
            </a:r>
          </a:p>
          <a:p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approach value for intradermal, subcutaneous and intramuscular introductions (i.e., injections) is percutaneous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If a catheter is used to introduce a substance into a site within the circulatory system, the approach value is also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percutaneous</a:t>
            </a:r>
          </a:p>
          <a:p>
            <a:pPr marL="0" indent="0">
              <a:buNone/>
            </a:pPr>
            <a:r>
              <a:rPr lang="en-IN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Substance 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Substances are specified in broad categories </a:t>
            </a:r>
          </a:p>
          <a:p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Substance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values depend on body part</a:t>
            </a:r>
          </a:p>
        </p:txBody>
      </p:sp>
    </p:spTree>
    <p:extLst>
      <p:ext uri="{BB962C8B-B14F-4D97-AF65-F5344CB8AC3E}">
        <p14:creationId xmlns:p14="http://schemas.microsoft.com/office/powerpoint/2010/main" val="423436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7040-C1DD-436D-8968-A456D5AC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Administration 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DD4A4-09CB-4070-A810-FFE8EB656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943" y="795038"/>
            <a:ext cx="10306594" cy="5318379"/>
          </a:xfrm>
        </p:spPr>
        <p:txBody>
          <a:bodyPr>
            <a:no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Physiological System &amp; Anatomical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Regions</a:t>
            </a:r>
          </a:p>
          <a:p>
            <a:pPr marL="0" indent="0">
              <a:buNone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Common Examples are : </a:t>
            </a:r>
          </a:p>
          <a:p>
            <a:pPr lvl="1"/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Antineoplastic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Thrombolytic </a:t>
            </a: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Anti-infective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Anti-inflammatory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Radioactive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Substance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Nutritional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Substance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Electrolytic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and Water Balance Substance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Irrigating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Substance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Dialysate </a:t>
            </a: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Local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Anesthetic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Regional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Anesthetic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Inhalation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Anesthetic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Gas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Contrast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Agent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4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Administration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795038"/>
            <a:ext cx="9561286" cy="5305315"/>
          </a:xfrm>
        </p:spPr>
        <p:txBody>
          <a:bodyPr>
            <a:no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Circulatory System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Common Examples are : </a:t>
            </a: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Serum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Albumin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Frozen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Plasma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Fresh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Plasma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Plasma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Cryoprecipitate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Red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Blood Cells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Stem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Cells, Hematopoietic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White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Cells</a:t>
            </a: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Platelets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Globulin </a:t>
            </a: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Fibrinogen </a:t>
            </a: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Factor IX</a:t>
            </a:r>
          </a:p>
          <a:p>
            <a:pPr lvl="1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Bone Marrow </a:t>
            </a:r>
          </a:p>
        </p:txBody>
      </p:sp>
    </p:spTree>
    <p:extLst>
      <p:ext uri="{BB962C8B-B14F-4D97-AF65-F5344CB8AC3E}">
        <p14:creationId xmlns:p14="http://schemas.microsoft.com/office/powerpoint/2010/main" val="376475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Administration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N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Qualifier -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May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further specify a substance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Common Examples are : </a:t>
            </a:r>
          </a:p>
          <a:p>
            <a:pPr lvl="1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High-dose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Interleukin-2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Liquid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Brachytherapy Isotope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Insulin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08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Coding Clinic 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14401"/>
            <a:ext cx="11246076" cy="4876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What ICD-10-PCS procedure code should be assigned for a new drug or other therapeutic substance administered in the hospital inpatient setting to treat COVID-19 when there is no unique code for the administration of the specific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substance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Answer: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XW013F5	Introduction of other new technology therapeutic substance into subcutaneous tissue, percutaneous approach, New Technology Group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XW033F5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Introduction of other new technology therapeutic substance into peripheral vein, percutaneous approach, New Technology Group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  <a:p>
            <a:pPr lvl="1"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XW043F5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Introduction of other new technology therapeutic substance into central vein, percutaneous approach, New Technology Group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  <a:p>
            <a:pPr lvl="1"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XW0DXF5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Introduction of other new technology therapeutic substance into mouth and pharynx, external approach, New Technology Group 5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729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Clinical Examples 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018903"/>
            <a:ext cx="11598774" cy="4772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Procedure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: Transplant, Bone Marrow</a:t>
            </a:r>
          </a:p>
          <a:p>
            <a:pPr marL="0" indent="0">
              <a:buNone/>
            </a:pP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a sterile environment, nonautologous bone marrow was delivered into the patient’s bloodstream through a central venous catheter.</a:t>
            </a:r>
          </a:p>
          <a:p>
            <a:pPr marL="0" indent="0">
              <a:buNone/>
            </a:pPr>
            <a:r>
              <a:rPr 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77" y="2134969"/>
            <a:ext cx="8778240" cy="365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2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Clinical Examples 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09007" y="940527"/>
            <a:ext cx="11260182" cy="4850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Infusion, Bezlotoxumab Monoclonal Antibody Via Central Vein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1" y="1929142"/>
            <a:ext cx="9797143" cy="349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10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514</TotalTime>
  <Words>438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Administration</vt:lpstr>
      <vt:lpstr>Administration </vt:lpstr>
      <vt:lpstr>Administration </vt:lpstr>
      <vt:lpstr>Administration </vt:lpstr>
      <vt:lpstr>Administration </vt:lpstr>
      <vt:lpstr>Coding Clinic </vt:lpstr>
      <vt:lpstr>Clinical Examples </vt:lpstr>
      <vt:lpstr>Clinical Examples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Vijayashanthi D</cp:lastModifiedBy>
  <cp:revision>59</cp:revision>
  <dcterms:created xsi:type="dcterms:W3CDTF">2021-08-28T14:27:41Z</dcterms:created>
  <dcterms:modified xsi:type="dcterms:W3CDTF">2022-01-03T13:05:52Z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