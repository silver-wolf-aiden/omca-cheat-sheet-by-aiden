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516" r:id="rId2"/>
    <p:sldId id="517" r:id="rId3"/>
    <p:sldId id="547" r:id="rId4"/>
    <p:sldId id="548" r:id="rId5"/>
    <p:sldId id="549" r:id="rId6"/>
    <p:sldId id="550" r:id="rId7"/>
    <p:sldId id="551" r:id="rId8"/>
    <p:sldId id="552" r:id="rId9"/>
    <p:sldId id="553" r:id="rId10"/>
    <p:sldId id="554" r:id="rId11"/>
    <p:sldId id="555" r:id="rId12"/>
    <p:sldId id="55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ontic" initials="l" lastIdx="2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542"/>
    <a:srgbClr val="2F6193"/>
    <a:srgbClr val="FF8201"/>
    <a:srgbClr val="262626"/>
    <a:srgbClr val="1D1564"/>
    <a:srgbClr val="0B5395"/>
    <a:srgbClr val="0572BC"/>
    <a:srgbClr val="2FA9D7"/>
    <a:srgbClr val="ED9622"/>
    <a:srgbClr val="2D2F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17" autoAdjust="0"/>
    <p:restoredTop sz="93957" autoAdjust="0"/>
  </p:normalViewPr>
  <p:slideViewPr>
    <p:cSldViewPr snapToGrid="0">
      <p:cViewPr varScale="1">
        <p:scale>
          <a:sx n="73" d="100"/>
          <a:sy n="73" d="100"/>
        </p:scale>
        <p:origin x="858" y="78"/>
      </p:cViewPr>
      <p:guideLst>
        <p:guide pos="3840"/>
        <p:guide orient="horz" pos="2160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20ADA-2636-4920-B510-E61DFF0FA5AC}" type="datetimeFigureOut">
              <a:rPr lang="en-IN" smtClean="0"/>
              <a:t>28-12-2021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This presentation is confidential. No part of it may be circulated, quoted, or reproduced for distribution outside the organization without prior written approval from Omega Healthcare. Thank you.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F8806-B5FA-4027-87F3-47B8EAE39ED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7437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D9EAC-9A38-4670-B77A-DD2A7D52B450}" type="datetimeFigureOut">
              <a:rPr lang="en-IN" smtClean="0"/>
              <a:t>28-12-2021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This presentation is confidential. No part of it may be circulated, quoted, or reproduced for distribution outside the organization without prior written approval from Omega Healthcare. Thank you.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A0649-D767-4B37-848A-14C1DC350B7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4905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897414-F6FA-B34C-90AF-D370F983A9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" b="1778"/>
          <a:stretch/>
        </p:blipFill>
        <p:spPr>
          <a:xfrm>
            <a:off x="0" y="243840"/>
            <a:ext cx="12192000" cy="6614160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EB7333-1EA9-C143-81E6-31F92E2FBC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72404" y="2536069"/>
            <a:ext cx="3647192" cy="1218051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3357C5F-9929-674B-BF2C-ADB33591F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4810760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38A553-5287-0E41-A5D3-E62002DC4346}"/>
              </a:ext>
            </a:extLst>
          </p:cNvPr>
          <p:cNvSpPr/>
          <p:nvPr userDrawn="1"/>
        </p:nvSpPr>
        <p:spPr>
          <a:xfrm>
            <a:off x="0" y="6693408"/>
            <a:ext cx="12192000" cy="1645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4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C79E7-7057-AF4F-B18C-E3989117AE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D352FF6-569A-064D-B4B2-EF817DBEF3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404" y="2040769"/>
            <a:ext cx="3647192" cy="1215730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3357C5F-9929-674B-BF2C-ADB33591F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5049618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873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7AE9F9-2984-204C-B427-379965A9AA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914650" y="2689222"/>
            <a:ext cx="6362700" cy="640080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3545210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5C9036-2210-6142-BFDC-7BFE83F36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6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B9BD612-3813-FB4E-865F-FADE0BC7F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914650" y="3108960"/>
            <a:ext cx="6362700" cy="640080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17FC5-AAA0-1041-BC24-5CE254DB52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9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B580F0-627E-BF4F-9A0F-3D79B60298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BDA3B51-831E-2940-8D2F-6C33370C7922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 userDrawn="1"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2189A4-037B-0845-B243-1FE144E511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3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5EA7B4-D03C-0542-BDFA-C3169458B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52CB39-3423-8046-836D-596E398D1F5C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 userDrawn="1"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sz="quarter" idx="10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85A651-D2E5-C340-A433-6D68EFF23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0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0336" y="64833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accent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0F511-5604-4848-B430-C09C849A14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6BE787-5CAB-924F-9402-77E03E56C3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AE919E-F3E3-614F-B830-39BA0FFE7B16}"/>
              </a:ext>
            </a:extLst>
          </p:cNvPr>
          <p:cNvSpPr/>
          <p:nvPr userDrawn="1"/>
        </p:nvSpPr>
        <p:spPr>
          <a:xfrm rot="10800000" flipH="1">
            <a:off x="0" y="1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2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>
                <a:solidFill>
                  <a:schemeClr val="accent1"/>
                </a:solidFill>
              </a:rPr>
              <a:pPr/>
              <a:t>‹#›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0336" y="958092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20336" y="1772708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B1814-8187-604F-BB35-1ED23A564E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F483BD-9067-A74B-9DE3-D4DBAEC41D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641A0E5-B6BB-5A4E-A439-D3DE43390EB0}"/>
              </a:ext>
            </a:extLst>
          </p:cNvPr>
          <p:cNvSpPr/>
          <p:nvPr userDrawn="1"/>
        </p:nvSpPr>
        <p:spPr>
          <a:xfrm rot="10800000" flipH="1">
            <a:off x="0" y="1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63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3303BC2-BE3B-E74E-8F32-DC9FE778E313}"/>
              </a:ext>
            </a:extLst>
          </p:cNvPr>
          <p:cNvSpPr/>
          <p:nvPr userDrawn="1"/>
        </p:nvSpPr>
        <p:spPr>
          <a:xfrm>
            <a:off x="0" y="6135624"/>
            <a:ext cx="12192000" cy="722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380843-F36E-1949-B9A3-F9B0FEC10B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439FC3-82D0-864B-805C-6103C617B7B8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5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57"/>
            <a:ext cx="12188952" cy="6856285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EB7333-1EA9-C143-81E6-31F92E2FBC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21719" y="2947779"/>
            <a:ext cx="2881826" cy="96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18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829" y="5791200"/>
            <a:ext cx="1416269" cy="47478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552" y="333373"/>
            <a:ext cx="9253728" cy="46634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GS Doctop Placeholder" hidden="1"/>
          <p:cNvSpPr txBox="1"/>
          <p:nvPr userDrawn="1"/>
        </p:nvSpPr>
        <p:spPr>
          <a:xfrm>
            <a:off x="546100" y="0"/>
            <a:ext cx="5651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>
                <a:latin typeface="Arial" panose="020B0604020202020204" pitchFamily="34" charset="0"/>
              </a:rPr>
              <a:t>IBDROOT\PROJECTS\IBD-NY\VISTAS2020\657440_1\Due Diligence\Presentation\Project SYMPHONY_Oboe Diligence Materials_v06.pptx</a:t>
            </a:r>
            <a:endParaRPr lang="en-US" sz="800" b="0" dirty="0">
              <a:latin typeface="Arial" panose="020B0604020202020204" pitchFamily="34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74320" lvl="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Edit Master text styles</a:t>
            </a:r>
          </a:p>
          <a:p>
            <a:pPr marL="548640" lvl="1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dirty="0"/>
              <a:t>Second level</a:t>
            </a:r>
          </a:p>
          <a:p>
            <a:pPr marL="822960" lvl="2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</a:pPr>
            <a:r>
              <a:rPr lang="en-US" dirty="0"/>
              <a:t>Third level</a:t>
            </a:r>
          </a:p>
          <a:p>
            <a:pPr marL="1097280" lvl="3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371600" lvl="4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161485" y="63563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50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1" r:id="rId2"/>
    <p:sldLayoutId id="2147483727" r:id="rId3"/>
    <p:sldLayoutId id="2147483730" r:id="rId4"/>
    <p:sldLayoutId id="2147483728" r:id="rId5"/>
    <p:sldLayoutId id="2147483729" r:id="rId6"/>
    <p:sldLayoutId id="2147483732" r:id="rId7"/>
    <p:sldLayoutId id="2147483733" r:id="rId8"/>
    <p:sldLayoutId id="2147483734" r:id="rId9"/>
    <p:sldLayoutId id="2147483735" r:id="rId10"/>
  </p:sldLayoutIdLst>
  <p:hf hdr="0" ftr="0" dt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kern="1200" baseline="0" dirty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31520" indent="-4572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3439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108710" indent="-285750" algn="l" defTabSz="9906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440180" indent="-3429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" userDrawn="1">
          <p15:clr>
            <a:srgbClr val="F26B43"/>
          </p15:clr>
        </p15:guide>
        <p15:guide id="3" orient="horz" pos="624" userDrawn="1">
          <p15:clr>
            <a:srgbClr val="F26B43"/>
          </p15:clr>
        </p15:guide>
        <p15:guide id="4" pos="6221" userDrawn="1">
          <p15:clr>
            <a:srgbClr val="F26B43"/>
          </p15:clr>
        </p15:guide>
        <p15:guide id="5" pos="189" userDrawn="1">
          <p15:clr>
            <a:srgbClr val="F26B43"/>
          </p15:clr>
        </p15:guide>
        <p15:guide id="6" orient="horz" pos="714" userDrawn="1">
          <p15:clr>
            <a:srgbClr val="F26B43"/>
          </p15:clr>
        </p15:guide>
        <p15:guide id="7" orient="horz" pos="3738" userDrawn="1">
          <p15:clr>
            <a:srgbClr val="F26B43"/>
          </p15:clr>
        </p15:guide>
        <p15:guide id="8" orient="horz" pos="36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9884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7F289D-2757-0342-BE5D-531BF0C679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99317" y="5049618"/>
            <a:ext cx="6978033" cy="495300"/>
          </a:xfrm>
        </p:spPr>
        <p:txBody>
          <a:bodyPr>
            <a:normAutofit/>
          </a:bodyPr>
          <a:lstStyle/>
          <a:p>
            <a:r>
              <a:rPr lang="en-US" sz="2500" b="1" dirty="0" smtClean="0"/>
              <a:t>Substance Abuse Treatment section</a:t>
            </a:r>
            <a:endParaRPr lang="en-US" sz="2500" b="1" dirty="0"/>
          </a:p>
        </p:txBody>
      </p:sp>
    </p:spTree>
    <p:extLst>
      <p:ext uri="{BB962C8B-B14F-4D97-AF65-F5344CB8AC3E}">
        <p14:creationId xmlns:p14="http://schemas.microsoft.com/office/powerpoint/2010/main" val="1438189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3"/>
            <a:r>
              <a:rPr lang="en-US" dirty="0"/>
              <a:t> Understanding Section </a:t>
            </a:r>
            <a:r>
              <a:rPr lang="en-US" dirty="0" smtClean="0"/>
              <a:t>substance abuse and treatment </a:t>
            </a:r>
            <a:endParaRPr lang="en-US" dirty="0"/>
          </a:p>
          <a:p>
            <a:pPr lvl="3"/>
            <a:r>
              <a:rPr lang="en-US" dirty="0"/>
              <a:t>Understand the substance abuse and treatment </a:t>
            </a:r>
            <a:r>
              <a:rPr lang="en-US" dirty="0" smtClean="0"/>
              <a:t>section   </a:t>
            </a:r>
            <a:r>
              <a:rPr lang="en-US" dirty="0"/>
              <a:t>Specific Guideline &amp; Coding Tips </a:t>
            </a:r>
          </a:p>
          <a:p>
            <a:pPr lvl="3"/>
            <a:r>
              <a:rPr lang="en-US" dirty="0"/>
              <a:t>Clinical examples for better understanding</a:t>
            </a:r>
          </a:p>
          <a:p>
            <a:pPr lvl="3"/>
            <a:r>
              <a:rPr lang="en-US" dirty="0"/>
              <a:t>Knowledge Check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943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2C452-7771-4936-82B0-C2E929A9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349D4-06F4-4BAC-B173-8E90E9B18E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There are 7 types of procedure performed in this Section.</a:t>
            </a:r>
          </a:p>
          <a:p>
            <a:r>
              <a:rPr lang="en-US" b="1" dirty="0" smtClean="0"/>
              <a:t>Detoxification Service : </a:t>
            </a:r>
            <a:r>
              <a:rPr lang="en-US" b="1" dirty="0" err="1" smtClean="0"/>
              <a:t>Detoxifiction</a:t>
            </a:r>
            <a:r>
              <a:rPr lang="en-US" b="1" dirty="0" smtClean="0"/>
              <a:t> from alcohol and or drugs</a:t>
            </a:r>
          </a:p>
          <a:p>
            <a:r>
              <a:rPr lang="en-US" b="1" dirty="0" smtClean="0"/>
              <a:t>Individual </a:t>
            </a:r>
            <a:r>
              <a:rPr lang="en-US" b="1" dirty="0" err="1" smtClean="0"/>
              <a:t>Councelling</a:t>
            </a:r>
            <a:r>
              <a:rPr lang="en-US" b="1" dirty="0" smtClean="0"/>
              <a:t> : The application of psychological methods to treat an </a:t>
            </a:r>
            <a:r>
              <a:rPr lang="en-US" b="1" dirty="0" smtClean="0"/>
              <a:t>individual with addictive behavior</a:t>
            </a:r>
          </a:p>
          <a:p>
            <a:r>
              <a:rPr lang="en-US" b="1" dirty="0"/>
              <a:t>Group </a:t>
            </a:r>
            <a:r>
              <a:rPr lang="en-US" b="1" dirty="0" err="1"/>
              <a:t>Councelling:The</a:t>
            </a:r>
            <a:r>
              <a:rPr lang="en-US" b="1" dirty="0"/>
              <a:t> application of psychological methods to treat </a:t>
            </a:r>
            <a:r>
              <a:rPr lang="en-US" b="1" dirty="0" smtClean="0"/>
              <a:t>2 or more individuals  </a:t>
            </a:r>
            <a:r>
              <a:rPr lang="en-US" b="1" dirty="0"/>
              <a:t>with addictive </a:t>
            </a:r>
            <a:r>
              <a:rPr lang="en-US" b="1" dirty="0" err="1" smtClean="0"/>
              <a:t>behaviour</a:t>
            </a:r>
            <a:endParaRPr lang="en-US" b="1" dirty="0" smtClean="0"/>
          </a:p>
          <a:p>
            <a:r>
              <a:rPr lang="en-US" b="1" dirty="0" smtClean="0"/>
              <a:t>Individual </a:t>
            </a:r>
            <a:r>
              <a:rPr lang="en-US" b="1" dirty="0" err="1" smtClean="0"/>
              <a:t>Psycotherapy</a:t>
            </a:r>
            <a:r>
              <a:rPr lang="en-US" b="1" dirty="0" smtClean="0"/>
              <a:t> : Treatment of an individual with addictive behavior by behavioral, </a:t>
            </a:r>
            <a:r>
              <a:rPr lang="en-US" b="1" dirty="0" err="1" smtClean="0"/>
              <a:t>cognitive,psychoanalytic,psychodynamic,or</a:t>
            </a:r>
            <a:r>
              <a:rPr lang="en-US" b="1" dirty="0" smtClean="0"/>
              <a:t> psychophysiological means</a:t>
            </a:r>
          </a:p>
          <a:p>
            <a:r>
              <a:rPr lang="en-US" b="1" dirty="0" smtClean="0"/>
              <a:t>Family </a:t>
            </a:r>
            <a:r>
              <a:rPr lang="en-US" b="1" dirty="0" err="1" smtClean="0"/>
              <a:t>Councelling</a:t>
            </a:r>
            <a:r>
              <a:rPr lang="en-US" b="1" dirty="0" smtClean="0"/>
              <a:t>: The application of psychological methods that includes one or more family members to treat an individual with addictive behavior</a:t>
            </a:r>
          </a:p>
          <a:p>
            <a:r>
              <a:rPr lang="en-US" b="1" dirty="0" smtClean="0"/>
              <a:t>Medication management: Monitoring and adjusting the use of replacement medications for the treatment of addiction</a:t>
            </a:r>
          </a:p>
          <a:p>
            <a:r>
              <a:rPr lang="en-US" b="1" dirty="0" err="1" smtClean="0"/>
              <a:t>Phamcotherapy</a:t>
            </a:r>
            <a:r>
              <a:rPr lang="en-US" b="1" dirty="0" smtClean="0"/>
              <a:t>: The use of replacement medication for the treatment of addiction.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34367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017" y="603205"/>
            <a:ext cx="5708469" cy="25971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960" y="3811497"/>
            <a:ext cx="5512526" cy="210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94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 Tip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First </a:t>
            </a:r>
            <a:r>
              <a:rPr lang="en-US" dirty="0" err="1" smtClean="0"/>
              <a:t>charcter</a:t>
            </a:r>
            <a:r>
              <a:rPr lang="en-US" dirty="0" smtClean="0"/>
              <a:t>  value for this section is </a:t>
            </a:r>
            <a:r>
              <a:rPr lang="en-US" b="1" dirty="0" smtClean="0"/>
              <a:t>H</a:t>
            </a:r>
          </a:p>
          <a:p>
            <a:r>
              <a:rPr lang="en-US" b="1" dirty="0" smtClean="0"/>
              <a:t>Second </a:t>
            </a:r>
            <a:r>
              <a:rPr lang="en-US" b="1" dirty="0" err="1" smtClean="0"/>
              <a:t>charcter</a:t>
            </a:r>
            <a:r>
              <a:rPr lang="en-US" b="1" dirty="0" smtClean="0"/>
              <a:t> identifies the body system , in this system always the value will be “none” </a:t>
            </a:r>
          </a:p>
          <a:p>
            <a:r>
              <a:rPr lang="en-US" b="1" dirty="0" smtClean="0"/>
              <a:t>Third </a:t>
            </a:r>
            <a:r>
              <a:rPr lang="en-US" b="1" dirty="0" err="1" smtClean="0"/>
              <a:t>charcter</a:t>
            </a:r>
            <a:r>
              <a:rPr lang="en-US" b="1" dirty="0" smtClean="0"/>
              <a:t> denotes the type of procedure </a:t>
            </a:r>
          </a:p>
          <a:p>
            <a:r>
              <a:rPr lang="en-US" b="1" dirty="0" smtClean="0"/>
              <a:t>Fourth character denotes the procedure type, this will vary dependent upon the root type of procedure</a:t>
            </a:r>
          </a:p>
          <a:p>
            <a:r>
              <a:rPr lang="en-US" b="1" dirty="0" smtClean="0"/>
              <a:t>The fifth, sixth, seventh character denotes as qualifier , so they always have the none value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66186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Clinical Example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/>
              <a:t>Naltrexone treatment for drug dependency ?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ANS:HZ94ZZZ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903" y="1881051"/>
            <a:ext cx="10254343" cy="391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93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Clinical 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/>
              <a:t>Group motivational </a:t>
            </a:r>
            <a:r>
              <a:rPr lang="en-US" b="1" dirty="0" err="1" smtClean="0"/>
              <a:t>councelling</a:t>
            </a:r>
            <a:r>
              <a:rPr lang="en-US" b="1" dirty="0" smtClean="0"/>
              <a:t> ?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ANS: HZ47ZZZ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51" y="2308222"/>
            <a:ext cx="10450285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752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Knowledge check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/>
              <a:t>Post test infectious disease </a:t>
            </a:r>
            <a:r>
              <a:rPr lang="en-US" b="1" dirty="0" err="1" smtClean="0"/>
              <a:t>councelling</a:t>
            </a:r>
            <a:r>
              <a:rPr lang="en-US" b="1" dirty="0" smtClean="0"/>
              <a:t> for IV drug abuser?</a:t>
            </a:r>
          </a:p>
          <a:p>
            <a:r>
              <a:rPr lang="en-US" b="1" dirty="0" smtClean="0"/>
              <a:t>Individual 12-step psychotherapy for substance abuse?</a:t>
            </a:r>
          </a:p>
          <a:p>
            <a:r>
              <a:rPr lang="en-US" b="1" dirty="0" smtClean="0"/>
              <a:t>Patient is on Alcohol detoxification treatment ?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ANS:???????</a:t>
            </a:r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88727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Ans:HZ3CZZZ, HZ53ZZZ,HZ2ZZZZ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1" y="1490392"/>
            <a:ext cx="10593976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619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2" y="176746"/>
            <a:ext cx="10032273" cy="30367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3" y="3507759"/>
            <a:ext cx="9875518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087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304903" y="2495006"/>
            <a:ext cx="4310744" cy="13846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dirty="0" smtClean="0"/>
              <a:t>Thank you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520908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mega Healthcare">
      <a:dk1>
        <a:srgbClr val="262626"/>
      </a:dk1>
      <a:lt1>
        <a:srgbClr val="FFFFFF"/>
      </a:lt1>
      <a:dk2>
        <a:srgbClr val="1658A4"/>
      </a:dk2>
      <a:lt2>
        <a:srgbClr val="348EC9"/>
      </a:lt2>
      <a:accent1>
        <a:srgbClr val="153166"/>
      </a:accent1>
      <a:accent2>
        <a:srgbClr val="992428"/>
      </a:accent2>
      <a:accent3>
        <a:srgbClr val="77787B"/>
      </a:accent3>
      <a:accent4>
        <a:srgbClr val="BCBEC0"/>
      </a:accent4>
      <a:accent5>
        <a:srgbClr val="F47C23"/>
      </a:accent5>
      <a:accent6>
        <a:srgbClr val="67C189"/>
      </a:accent6>
      <a:hlink>
        <a:srgbClr val="0070C0"/>
      </a:hlink>
      <a:folHlink>
        <a:srgbClr val="90C6F6"/>
      </a:folHlink>
    </a:clrScheme>
    <a:fontScheme name="Omega New Template">
      <a:majorFont>
        <a:latin typeface="Avenir Heavy"/>
        <a:ea typeface=""/>
        <a:cs typeface=""/>
      </a:majorFont>
      <a:minorFont>
        <a:latin typeface="Avenir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mega Healthcare_template" id="{63A0DB61-DB58-1A4A-B042-1839354C95F2}" vid="{E2BCF418-2F16-D54B-8DA6-93CCB280D1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RCM</Template>
  <TotalTime>529</TotalTime>
  <Words>270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Avenir Heavy</vt:lpstr>
      <vt:lpstr>Avenir Medium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Objective </vt:lpstr>
      <vt:lpstr>Definition</vt:lpstr>
      <vt:lpstr>PowerPoint Presentation</vt:lpstr>
      <vt:lpstr>Coding Tip</vt:lpstr>
      <vt:lpstr>Clinical Example </vt:lpstr>
      <vt:lpstr>Clinical Example</vt:lpstr>
      <vt:lpstr>Knowledge check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Vinothini Kirupakaran</dc:creator>
  <cp:lastModifiedBy>Durga Ramamoorthy</cp:lastModifiedBy>
  <cp:revision>63</cp:revision>
  <dcterms:created xsi:type="dcterms:W3CDTF">2021-08-28T14:27:41Z</dcterms:created>
  <dcterms:modified xsi:type="dcterms:W3CDTF">2021-12-28T09:10:12Z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8b32edde-1ff2-4d4e-a2d7-fbbc106f8d9c</vt:lpwstr>
  </property>
  <property fmtid="{D5CDD505-2E9C-101B-9397-08002B2CF9AE}" pid="3" name="Project">
    <vt:lpwstr>IBDROOT</vt:lpwstr>
  </property>
  <property fmtid="{D5CDD505-2E9C-101B-9397-08002B2CF9AE}" pid="4" name="Classification">
    <vt:lpwstr>I</vt:lpwstr>
  </property>
  <property fmtid="{D5CDD505-2E9C-101B-9397-08002B2CF9AE}" pid="5" name="DocTopsCleaned">
    <vt:lpwstr>True</vt:lpwstr>
  </property>
  <property fmtid="{D5CDD505-2E9C-101B-9397-08002B2CF9AE}" pid="6" name="ShowHideDoctop">
    <vt:lpwstr>False</vt:lpwstr>
  </property>
</Properties>
</file>