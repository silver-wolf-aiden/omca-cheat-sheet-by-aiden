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16" r:id="rId2"/>
    <p:sldId id="517" r:id="rId3"/>
    <p:sldId id="547" r:id="rId4"/>
    <p:sldId id="548" r:id="rId5"/>
    <p:sldId id="549" r:id="rId6"/>
    <p:sldId id="550" r:id="rId7"/>
    <p:sldId id="551" r:id="rId8"/>
    <p:sldId id="552" r:id="rId9"/>
    <p:sldId id="553" r:id="rId10"/>
    <p:sldId id="554" r:id="rId11"/>
    <p:sldId id="555" r:id="rId12"/>
    <p:sldId id="557" r:id="rId13"/>
    <p:sldId id="55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tic" initials="l" lastIdx="2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42"/>
    <a:srgbClr val="2F6193"/>
    <a:srgbClr val="FF8201"/>
    <a:srgbClr val="262626"/>
    <a:srgbClr val="1D1564"/>
    <a:srgbClr val="0B5395"/>
    <a:srgbClr val="0572BC"/>
    <a:srgbClr val="2FA9D7"/>
    <a:srgbClr val="ED9622"/>
    <a:srgbClr val="2D2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17" autoAdjust="0"/>
    <p:restoredTop sz="93957" autoAdjust="0"/>
  </p:normalViewPr>
  <p:slideViewPr>
    <p:cSldViewPr snapToGrid="0">
      <p:cViewPr varScale="1">
        <p:scale>
          <a:sx n="73" d="100"/>
          <a:sy n="73" d="100"/>
        </p:scale>
        <p:origin x="858" y="78"/>
      </p:cViewPr>
      <p:guideLst>
        <p:guide pos="38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20ADA-2636-4920-B510-E61DFF0FA5AC}" type="datetimeFigureOut">
              <a:rPr lang="en-IN" smtClean="0"/>
              <a:t>30-12-2021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8806-B5FA-4027-87F3-47B8EAE39ED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743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D9EAC-9A38-4670-B77A-DD2A7D52B450}" type="datetimeFigureOut">
              <a:rPr lang="en-IN" smtClean="0"/>
              <a:t>30-12-2021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0649-D767-4B37-848A-14C1DC350B7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4905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97414-F6FA-B34C-90AF-D370F983A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b="1778"/>
          <a:stretch/>
        </p:blipFill>
        <p:spPr>
          <a:xfrm>
            <a:off x="0" y="243840"/>
            <a:ext cx="12192000" cy="6614160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72404" y="2536069"/>
            <a:ext cx="3647192" cy="1218051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481076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8A553-5287-0E41-A5D3-E62002DC4346}"/>
              </a:ext>
            </a:extLst>
          </p:cNvPr>
          <p:cNvSpPr/>
          <p:nvPr userDrawn="1"/>
        </p:nvSpPr>
        <p:spPr>
          <a:xfrm>
            <a:off x="0" y="6693408"/>
            <a:ext cx="12192000" cy="1645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C79E7-7057-AF4F-B18C-E3989117A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352FF6-569A-064D-B4B2-EF817DBEF3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404" y="2040769"/>
            <a:ext cx="3647192" cy="121573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5049618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873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AE9F9-2984-204C-B427-379965A9A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2689222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354521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C9036-2210-6142-BFDC-7BFE83F36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9BD612-3813-FB4E-865F-FADE0BC7F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3108960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17FC5-AAA0-1041-BC24-5CE254DB52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9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B580F0-627E-BF4F-9A0F-3D79B6029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DA3B51-831E-2940-8D2F-6C33370C7922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189A4-037B-0845-B243-1FE144E511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3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5EA7B4-D03C-0542-BDFA-C3169458B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52CB39-3423-8046-836D-596E398D1F5C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5A651-D2E5-C340-A433-6D68EFF23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0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64833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accent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0F511-5604-4848-B430-C09C849A14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BE787-5CAB-924F-9402-77E03E56C3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AE919E-F3E3-614F-B830-39BA0FFE7B16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2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958092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20336" y="1772708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B1814-8187-604F-BB35-1ED23A564E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483BD-9067-A74B-9DE3-D4DBAEC41D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41A0E5-B6BB-5A4E-A439-D3DE43390EB0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6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303BC2-BE3B-E74E-8F32-DC9FE778E313}"/>
              </a:ext>
            </a:extLst>
          </p:cNvPr>
          <p:cNvSpPr/>
          <p:nvPr userDrawn="1"/>
        </p:nvSpPr>
        <p:spPr>
          <a:xfrm>
            <a:off x="0" y="6135624"/>
            <a:ext cx="12192000" cy="722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80843-F36E-1949-B9A3-F9B0FEC10B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439FC3-82D0-864B-805C-6103C617B7B8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5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7"/>
            <a:ext cx="12188952" cy="6856285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21719" y="2947779"/>
            <a:ext cx="2881826" cy="96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829" y="5791200"/>
            <a:ext cx="1416269" cy="47478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3728" cy="4663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GS Doctop Placeholder" hidden="1"/>
          <p:cNvSpPr txBox="1"/>
          <p:nvPr userDrawn="1"/>
        </p:nvSpPr>
        <p:spPr>
          <a:xfrm>
            <a:off x="546100" y="0"/>
            <a:ext cx="5651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>
                <a:latin typeface="Arial" panose="020B0604020202020204" pitchFamily="34" charset="0"/>
              </a:rPr>
              <a:t>IBDROOT\PROJECTS\IBD-NY\VISTAS2020\657440_1\Due Diligence\Presentation\Project SYMPHONY_Oboe Diligence Materials_v06.pptx</a:t>
            </a:r>
            <a:endParaRPr lang="en-US" sz="800" b="0" dirty="0">
              <a:latin typeface="Arial" panose="020B060402020202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74320" lvl="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Edit Master text styles</a:t>
            </a:r>
          </a:p>
          <a:p>
            <a:pPr marL="548640" lvl="1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/>
              <a:t>Second level</a:t>
            </a:r>
          </a:p>
          <a:p>
            <a:pPr marL="822960" lvl="2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1097280" lvl="3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371600" lvl="4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161485" y="63563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5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1" r:id="rId2"/>
    <p:sldLayoutId id="2147483727" r:id="rId3"/>
    <p:sldLayoutId id="2147483730" r:id="rId4"/>
    <p:sldLayoutId id="2147483728" r:id="rId5"/>
    <p:sldLayoutId id="2147483729" r:id="rId6"/>
    <p:sldLayoutId id="2147483732" r:id="rId7"/>
    <p:sldLayoutId id="2147483733" r:id="rId8"/>
    <p:sldLayoutId id="2147483734" r:id="rId9"/>
    <p:sldLayoutId id="2147483735" r:id="rId10"/>
  </p:sldLayoutIdLst>
  <p:hf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kern="1200" baseline="0" dirty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3152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3439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08710" indent="-285750" algn="l" defTabSz="9906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4018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 userDrawn="1">
          <p15:clr>
            <a:srgbClr val="F26B43"/>
          </p15:clr>
        </p15:guide>
        <p15:guide id="3" orient="horz" pos="624" userDrawn="1">
          <p15:clr>
            <a:srgbClr val="F26B43"/>
          </p15:clr>
        </p15:guide>
        <p15:guide id="4" pos="6221" userDrawn="1">
          <p15:clr>
            <a:srgbClr val="F26B43"/>
          </p15:clr>
        </p15:guide>
        <p15:guide id="5" pos="189" userDrawn="1">
          <p15:clr>
            <a:srgbClr val="F26B43"/>
          </p15:clr>
        </p15:guide>
        <p15:guide id="6" orient="horz" pos="714" userDrawn="1">
          <p15:clr>
            <a:srgbClr val="F26B43"/>
          </p15:clr>
        </p15:guide>
        <p15:guide id="7" orient="horz" pos="3738" userDrawn="1">
          <p15:clr>
            <a:srgbClr val="F26B43"/>
          </p15:clr>
        </p15:guide>
        <p15:guide id="8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88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7F289D-2757-0342-BE5D-531BF0C679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9317" y="5049618"/>
            <a:ext cx="6978033" cy="495300"/>
          </a:xfrm>
        </p:spPr>
        <p:txBody>
          <a:bodyPr>
            <a:normAutofit/>
          </a:bodyPr>
          <a:lstStyle/>
          <a:p>
            <a:r>
              <a:rPr lang="en-US" sz="2500" b="1" dirty="0" smtClean="0"/>
              <a:t>Extracorporeal or Systemic Therapies Section</a:t>
            </a: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143818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Objectivies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3"/>
            <a:r>
              <a:rPr lang="en-US" dirty="0"/>
              <a:t>Understanding </a:t>
            </a:r>
            <a:r>
              <a:rPr lang="en-US" dirty="0" smtClean="0"/>
              <a:t>the </a:t>
            </a:r>
            <a:r>
              <a:rPr lang="en-US" dirty="0" err="1" smtClean="0"/>
              <a:t>Extracoporeal</a:t>
            </a:r>
            <a:r>
              <a:rPr lang="en-US" dirty="0" smtClean="0"/>
              <a:t> or systemic therapy section</a:t>
            </a:r>
            <a:endParaRPr lang="en-US" dirty="0"/>
          </a:p>
          <a:p>
            <a:pPr lvl="3"/>
            <a:r>
              <a:rPr lang="en-US" dirty="0"/>
              <a:t>Understand </a:t>
            </a:r>
            <a:r>
              <a:rPr lang="en-US" dirty="0" err="1"/>
              <a:t>Extracoporeal</a:t>
            </a:r>
            <a:r>
              <a:rPr lang="en-US" dirty="0"/>
              <a:t> or systemic therapy section</a:t>
            </a:r>
            <a:r>
              <a:rPr lang="en-US" dirty="0" smtClean="0"/>
              <a:t> </a:t>
            </a:r>
            <a:r>
              <a:rPr lang="en-US" dirty="0"/>
              <a:t>Specific Guideline &amp; Coding Tips </a:t>
            </a:r>
          </a:p>
          <a:p>
            <a:pPr lvl="3"/>
            <a:r>
              <a:rPr lang="en-US" dirty="0"/>
              <a:t>Clinical examples for better understanding</a:t>
            </a:r>
          </a:p>
          <a:p>
            <a:pPr lvl="3"/>
            <a:r>
              <a:rPr lang="en-US" dirty="0"/>
              <a:t>Knowledge Check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94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C452-7771-4936-82B0-C2E929A9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349D4-06F4-4BAC-B173-8E90E9B18E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There are 11 types of root operation in this section.</a:t>
            </a:r>
          </a:p>
          <a:p>
            <a:r>
              <a:rPr lang="en-US" b="1" dirty="0" smtClean="0"/>
              <a:t>Atmospheric Control: </a:t>
            </a:r>
            <a:r>
              <a:rPr lang="en-US" b="1" dirty="0" err="1" smtClean="0"/>
              <a:t>Extrcorporeal</a:t>
            </a:r>
            <a:r>
              <a:rPr lang="en-US" b="1" dirty="0" smtClean="0"/>
              <a:t> control of atmospheric pressure and composition</a:t>
            </a:r>
          </a:p>
          <a:p>
            <a:r>
              <a:rPr lang="en-US" b="1" dirty="0" err="1" smtClean="0"/>
              <a:t>Decompression:Extracorporeal</a:t>
            </a:r>
            <a:r>
              <a:rPr lang="en-US" b="1" dirty="0" smtClean="0"/>
              <a:t> elimination of undissolved gas from body fluids</a:t>
            </a:r>
          </a:p>
          <a:p>
            <a:r>
              <a:rPr lang="en-US" b="1" dirty="0" smtClean="0"/>
              <a:t>Electromagnetic </a:t>
            </a:r>
            <a:r>
              <a:rPr lang="en-US" b="1" dirty="0" err="1" smtClean="0"/>
              <a:t>Therapy:Extracorporeal</a:t>
            </a:r>
            <a:r>
              <a:rPr lang="en-US" b="1" dirty="0" smtClean="0"/>
              <a:t> treatment by electromagnetic rays </a:t>
            </a:r>
          </a:p>
          <a:p>
            <a:r>
              <a:rPr lang="en-US" b="1" dirty="0" err="1" smtClean="0"/>
              <a:t>Hyperthermia:Extracorporeal</a:t>
            </a:r>
            <a:r>
              <a:rPr lang="en-US" b="1" dirty="0" smtClean="0"/>
              <a:t> raising of body temperature</a:t>
            </a:r>
          </a:p>
          <a:p>
            <a:r>
              <a:rPr lang="en-US" b="1" dirty="0" err="1" smtClean="0"/>
              <a:t>Hypothermia:Extracorporeal</a:t>
            </a:r>
            <a:r>
              <a:rPr lang="en-US" b="1" dirty="0" smtClean="0"/>
              <a:t> lowering of body temperature</a:t>
            </a:r>
          </a:p>
          <a:p>
            <a:r>
              <a:rPr lang="en-US" b="1" dirty="0" err="1" smtClean="0"/>
              <a:t>Perfusion:Extracorporeal</a:t>
            </a:r>
            <a:r>
              <a:rPr lang="en-US" b="1" dirty="0" smtClean="0"/>
              <a:t> treatment by diffusion of therapeutic fluids</a:t>
            </a:r>
          </a:p>
          <a:p>
            <a:r>
              <a:rPr lang="en-US" b="1" dirty="0" err="1" smtClean="0"/>
              <a:t>Pheresis:Extracorporeal</a:t>
            </a:r>
            <a:r>
              <a:rPr lang="en-US" b="1" dirty="0" smtClean="0"/>
              <a:t> </a:t>
            </a:r>
            <a:r>
              <a:rPr lang="en-US" b="1" dirty="0" err="1" smtClean="0"/>
              <a:t>sepration</a:t>
            </a:r>
            <a:r>
              <a:rPr lang="en-US" b="1" dirty="0" smtClean="0"/>
              <a:t> of blood products</a:t>
            </a:r>
          </a:p>
          <a:p>
            <a:r>
              <a:rPr lang="en-US" b="1" dirty="0" err="1" smtClean="0"/>
              <a:t>Phototherapy:Extracorporeal</a:t>
            </a:r>
            <a:r>
              <a:rPr lang="en-US" b="1" dirty="0" smtClean="0"/>
              <a:t>  treatment by light rays</a:t>
            </a:r>
          </a:p>
          <a:p>
            <a:r>
              <a:rPr lang="en-US" b="1" dirty="0" smtClean="0"/>
              <a:t>Shock wave </a:t>
            </a:r>
            <a:r>
              <a:rPr lang="en-US" b="1" dirty="0" err="1" smtClean="0"/>
              <a:t>therapy:Extracorporeal</a:t>
            </a:r>
            <a:r>
              <a:rPr lang="en-US" b="1" dirty="0" smtClean="0"/>
              <a:t> treatment by shock waves</a:t>
            </a:r>
          </a:p>
          <a:p>
            <a:r>
              <a:rPr lang="en-US" b="1" dirty="0" smtClean="0"/>
              <a:t>Ultrasound </a:t>
            </a:r>
            <a:r>
              <a:rPr lang="en-US" b="1" dirty="0" err="1" smtClean="0"/>
              <a:t>therapy:Extracorporeal</a:t>
            </a:r>
            <a:r>
              <a:rPr lang="en-US" b="1" dirty="0" smtClean="0"/>
              <a:t> treatment by Ultrasound</a:t>
            </a:r>
          </a:p>
          <a:p>
            <a:r>
              <a:rPr lang="en-US" b="1" dirty="0" smtClean="0"/>
              <a:t>Ultraviolet  </a:t>
            </a:r>
            <a:r>
              <a:rPr lang="en-US" b="1" dirty="0" err="1" smtClean="0"/>
              <a:t>Therapy:Extracorporeal</a:t>
            </a:r>
            <a:r>
              <a:rPr lang="en-US" b="1" dirty="0" smtClean="0"/>
              <a:t> treatment by Ultraviolet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34367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7040-C1DD-436D-8968-A456D5AC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Tip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DD4A4-09CB-4070-A810-FFE8EB656F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First character for this section is value 6</a:t>
            </a:r>
          </a:p>
          <a:p>
            <a:r>
              <a:rPr lang="en-US" b="1" dirty="0" smtClean="0"/>
              <a:t>Second character for </a:t>
            </a:r>
            <a:r>
              <a:rPr lang="en-US" b="1" dirty="0" err="1" smtClean="0"/>
              <a:t>bodysystem</a:t>
            </a:r>
            <a:r>
              <a:rPr lang="en-US" b="1" dirty="0" smtClean="0"/>
              <a:t> is “A” (</a:t>
            </a:r>
            <a:r>
              <a:rPr lang="en-US" b="1" dirty="0" err="1" smtClean="0"/>
              <a:t>i.e</a:t>
            </a:r>
            <a:r>
              <a:rPr lang="en-US" b="1" dirty="0" smtClean="0"/>
              <a:t>) Physiological system</a:t>
            </a:r>
          </a:p>
          <a:p>
            <a:r>
              <a:rPr lang="en-US" b="1" dirty="0" smtClean="0"/>
              <a:t>Third character is root operation, There are 11 as discussed above </a:t>
            </a:r>
          </a:p>
          <a:p>
            <a:r>
              <a:rPr lang="en-US" b="1" dirty="0" smtClean="0"/>
              <a:t>Fourth character specifies where the therapy performed</a:t>
            </a:r>
          </a:p>
          <a:p>
            <a:r>
              <a:rPr lang="en-US" b="1" dirty="0" smtClean="0"/>
              <a:t>Fifth character denotes how many times the procedure </a:t>
            </a:r>
            <a:r>
              <a:rPr lang="en-US" b="1" dirty="0" err="1" smtClean="0"/>
              <a:t>perforemed</a:t>
            </a:r>
            <a:r>
              <a:rPr lang="en-US" b="1" dirty="0" smtClean="0"/>
              <a:t> single or multiple</a:t>
            </a:r>
          </a:p>
          <a:p>
            <a:r>
              <a:rPr lang="en-US" b="1" dirty="0" smtClean="0"/>
              <a:t>Sixth character is No qualifier for this section except for “Perfusion” root operation the qualifier is donor organ</a:t>
            </a:r>
          </a:p>
          <a:p>
            <a:r>
              <a:rPr lang="en-US" b="1" dirty="0" smtClean="0"/>
              <a:t>Seventh character used in </a:t>
            </a:r>
            <a:r>
              <a:rPr lang="en-US" b="1" dirty="0" err="1" smtClean="0"/>
              <a:t>Pheresis</a:t>
            </a:r>
            <a:r>
              <a:rPr lang="en-US" b="1" dirty="0" smtClean="0"/>
              <a:t> root operation to specify the blood component on which is performed, In ultrasound therapy </a:t>
            </a:r>
            <a:r>
              <a:rPr lang="en-US" b="1" dirty="0" err="1" smtClean="0"/>
              <a:t>specifiy</a:t>
            </a:r>
            <a:r>
              <a:rPr lang="en-US" b="1" dirty="0" smtClean="0"/>
              <a:t> site, </a:t>
            </a:r>
          </a:p>
          <a:p>
            <a:r>
              <a:rPr lang="en-US" b="1" dirty="0" smtClean="0"/>
              <a:t>Decompression R.O include only one procedure (</a:t>
            </a:r>
            <a:r>
              <a:rPr lang="en-US" b="1" dirty="0" err="1" smtClean="0"/>
              <a:t>i.e</a:t>
            </a:r>
            <a:r>
              <a:rPr lang="en-US" b="1" dirty="0" smtClean="0"/>
              <a:t>) treatment for decompression sickness in a hyperbaric chamber</a:t>
            </a:r>
          </a:p>
          <a:p>
            <a:r>
              <a:rPr lang="en-US" b="1" dirty="0" smtClean="0"/>
              <a:t>Hyperthermia is used to describe both temperature imbalance an adjunct radiation treatment for cancer.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94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When it is done for cancer treatment  it is coded under radiation therapy</a:t>
            </a:r>
          </a:p>
          <a:p>
            <a:r>
              <a:rPr lang="en-US" b="1" dirty="0" err="1" smtClean="0"/>
              <a:t>Pheresis</a:t>
            </a:r>
            <a:r>
              <a:rPr lang="en-US" b="1" dirty="0" smtClean="0"/>
              <a:t> is used in 2 main purpose to treat disease when too much blood component is produced </a:t>
            </a:r>
            <a:r>
              <a:rPr lang="en-US" b="1" dirty="0" err="1" smtClean="0"/>
              <a:t>eg:leukemia,and</a:t>
            </a:r>
            <a:r>
              <a:rPr lang="en-US" b="1" dirty="0" smtClean="0"/>
              <a:t> to remove blood product such removal of platelet from donor</a:t>
            </a:r>
          </a:p>
          <a:p>
            <a:r>
              <a:rPr lang="en-US" b="1" dirty="0" smtClean="0"/>
              <a:t>Phototherapy involves using a machine that exposes the blood to light rays outside the body, recirculates it and then returns it to body.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25916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Donor </a:t>
            </a:r>
            <a:r>
              <a:rPr lang="en-US" b="1" dirty="0" err="1" smtClean="0"/>
              <a:t>thrombocytapheresis</a:t>
            </a:r>
            <a:r>
              <a:rPr lang="en-US" b="1" dirty="0" smtClean="0"/>
              <a:t>, Single encounter?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      Ans:6A550Z2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43" y="2019103"/>
            <a:ext cx="10528663" cy="351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00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Therapeutic ultrasound of peripheral vessels, Single treatment ?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  ANS:6A750Z6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34" y="2090550"/>
            <a:ext cx="9875519" cy="37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97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Knowledge check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/>
              <a:t>Shock wave therapy of plantar fascia, Single treatment ?</a:t>
            </a:r>
          </a:p>
          <a:p>
            <a:r>
              <a:rPr lang="en-US" b="1" dirty="0" smtClean="0"/>
              <a:t>Transcranial magnetic stimulation series treatment ?</a:t>
            </a:r>
          </a:p>
          <a:p>
            <a:r>
              <a:rPr lang="en-US" b="1" dirty="0" smtClean="0"/>
              <a:t>Circulatory phototherapy, Single encounter?</a:t>
            </a:r>
          </a:p>
          <a:p>
            <a:r>
              <a:rPr lang="en-US" b="1" dirty="0" smtClean="0"/>
              <a:t>Extracorporeal electromagnetic stimulation for urinary incontinence, Single treatment 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3675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6A930ZZ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6A221ZZ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6A650ZZ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6A210ZZ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49" y="2677886"/>
            <a:ext cx="10306594" cy="250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78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6" y="244499"/>
            <a:ext cx="8882743" cy="22672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5" y="3521761"/>
            <a:ext cx="9405256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12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1" y="1365593"/>
            <a:ext cx="9562011" cy="303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97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709851" y="2756262"/>
            <a:ext cx="4441372" cy="1397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 smtClean="0"/>
              <a:t>Thank You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239402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mega Healthcare">
      <a:dk1>
        <a:srgbClr val="262626"/>
      </a:dk1>
      <a:lt1>
        <a:srgbClr val="FFFFFF"/>
      </a:lt1>
      <a:dk2>
        <a:srgbClr val="1658A4"/>
      </a:dk2>
      <a:lt2>
        <a:srgbClr val="348EC9"/>
      </a:lt2>
      <a:accent1>
        <a:srgbClr val="153166"/>
      </a:accent1>
      <a:accent2>
        <a:srgbClr val="992428"/>
      </a:accent2>
      <a:accent3>
        <a:srgbClr val="77787B"/>
      </a:accent3>
      <a:accent4>
        <a:srgbClr val="BCBEC0"/>
      </a:accent4>
      <a:accent5>
        <a:srgbClr val="F47C23"/>
      </a:accent5>
      <a:accent6>
        <a:srgbClr val="67C189"/>
      </a:accent6>
      <a:hlink>
        <a:srgbClr val="0070C0"/>
      </a:hlink>
      <a:folHlink>
        <a:srgbClr val="90C6F6"/>
      </a:folHlink>
    </a:clrScheme>
    <a:fontScheme name="Omega New Template">
      <a:majorFont>
        <a:latin typeface="Avenir Heavy"/>
        <a:ea typeface=""/>
        <a:cs typeface=""/>
      </a:majorFont>
      <a:minorFont>
        <a:latin typeface="Avenir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mega Healthcare_template" id="{63A0DB61-DB58-1A4A-B042-1839354C95F2}" vid="{E2BCF418-2F16-D54B-8DA6-93CCB280D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RCM</Template>
  <TotalTime>455</TotalTime>
  <Words>372</Words>
  <Application>Microsoft Office PowerPoint</Application>
  <PresentationFormat>Widescreen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Avenir Heavy</vt:lpstr>
      <vt:lpstr>Avenir Medium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Objectivies</vt:lpstr>
      <vt:lpstr>Definition</vt:lpstr>
      <vt:lpstr>Coding Tip</vt:lpstr>
      <vt:lpstr>Contd….</vt:lpstr>
      <vt:lpstr>Clinical Example</vt:lpstr>
      <vt:lpstr>Clinical Example</vt:lpstr>
      <vt:lpstr>Knowledge check</vt:lpstr>
      <vt:lpstr>Answer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Vinothini Kirupakaran</dc:creator>
  <cp:lastModifiedBy>Durga Ramamoorthy</cp:lastModifiedBy>
  <cp:revision>62</cp:revision>
  <dcterms:created xsi:type="dcterms:W3CDTF">2021-08-28T14:27:41Z</dcterms:created>
  <dcterms:modified xsi:type="dcterms:W3CDTF">2021-12-30T06:11:09Z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8b32edde-1ff2-4d4e-a2d7-fbbc106f8d9c</vt:lpwstr>
  </property>
  <property fmtid="{D5CDD505-2E9C-101B-9397-08002B2CF9AE}" pid="3" name="Project">
    <vt:lpwstr>IBDROOT</vt:lpwstr>
  </property>
  <property fmtid="{D5CDD505-2E9C-101B-9397-08002B2CF9AE}" pid="4" name="Classification">
    <vt:lpwstr>I</vt:lpwstr>
  </property>
  <property fmtid="{D5CDD505-2E9C-101B-9397-08002B2CF9AE}" pid="5" name="DocTopsCleaned">
    <vt:lpwstr>True</vt:lpwstr>
  </property>
  <property fmtid="{D5CDD505-2E9C-101B-9397-08002B2CF9AE}" pid="6" name="ShowHideDoctop">
    <vt:lpwstr>False</vt:lpwstr>
  </property>
</Properties>
</file>