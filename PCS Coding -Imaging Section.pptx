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handoutMasterIdLst>
    <p:handoutMasterId r:id="rId11"/>
  </p:handoutMasterIdLst>
  <p:sldIdLst>
    <p:sldId id="516" r:id="rId2"/>
    <p:sldId id="517" r:id="rId3"/>
    <p:sldId id="547" r:id="rId4"/>
    <p:sldId id="548" r:id="rId5"/>
    <p:sldId id="549" r:id="rId6"/>
    <p:sldId id="550" r:id="rId7"/>
    <p:sldId id="551" r:id="rId8"/>
    <p:sldId id="55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tic"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542"/>
    <a:srgbClr val="2F6193"/>
    <a:srgbClr val="FF8201"/>
    <a:srgbClr val="262626"/>
    <a:srgbClr val="1D1564"/>
    <a:srgbClr val="0B5395"/>
    <a:srgbClr val="0572BC"/>
    <a:srgbClr val="2FA9D7"/>
    <a:srgbClr val="ED9622"/>
    <a:srgbClr val="2D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7" autoAdjust="0"/>
    <p:restoredTop sz="93957" autoAdjust="0"/>
  </p:normalViewPr>
  <p:slideViewPr>
    <p:cSldViewPr snapToGrid="0">
      <p:cViewPr varScale="1">
        <p:scale>
          <a:sx n="73" d="100"/>
          <a:sy n="73" d="100"/>
        </p:scale>
        <p:origin x="186" y="72"/>
      </p:cViewPr>
      <p:guideLst>
        <p:guide pos="3840"/>
        <p:guide orient="horz" pos="2160"/>
      </p:guideLst>
    </p:cSldViewPr>
  </p:slideViewPr>
  <p:notesTextViewPr>
    <p:cViewPr>
      <p:scale>
        <a:sx n="75" d="100"/>
        <a:sy n="75" d="100"/>
      </p:scale>
      <p:origin x="0" y="0"/>
    </p:cViewPr>
  </p:notesTextViewPr>
  <p:notesViewPr>
    <p:cSldViewPr snapToGrid="0">
      <p:cViewPr varScale="1">
        <p:scale>
          <a:sx n="86" d="100"/>
          <a:sy n="86" d="100"/>
        </p:scale>
        <p:origin x="292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20ADA-2636-4920-B510-E61DFF0FA5AC}" type="datetimeFigureOut">
              <a:rPr lang="en-IN" smtClean="0"/>
              <a:t>05-01-2022</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AF8806-B5FA-4027-87F3-47B8EAE39ED3}" type="slidenum">
              <a:rPr lang="en-IN" smtClean="0"/>
              <a:t>‹#›</a:t>
            </a:fld>
            <a:endParaRPr lang="en-IN" dirty="0"/>
          </a:p>
        </p:txBody>
      </p:sp>
    </p:spTree>
    <p:extLst>
      <p:ext uri="{BB962C8B-B14F-4D97-AF65-F5344CB8AC3E}">
        <p14:creationId xmlns:p14="http://schemas.microsoft.com/office/powerpoint/2010/main" val="2617743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D9EAC-9A38-4670-B77A-DD2A7D52B450}" type="datetimeFigureOut">
              <a:rPr lang="en-IN" smtClean="0"/>
              <a:t>05-01-2022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0649-D767-4B37-848A-14C1DC350B70}" type="slidenum">
              <a:rPr lang="en-IN" smtClean="0"/>
              <a:t>‹#›</a:t>
            </a:fld>
            <a:endParaRPr lang="en-IN" dirty="0"/>
          </a:p>
        </p:txBody>
      </p:sp>
    </p:spTree>
    <p:extLst>
      <p:ext uri="{BB962C8B-B14F-4D97-AF65-F5344CB8AC3E}">
        <p14:creationId xmlns:p14="http://schemas.microsoft.com/office/powerpoint/2010/main" val="15264905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97414-F6FA-B34C-90AF-D370F983A965}"/>
              </a:ext>
            </a:extLst>
          </p:cNvPr>
          <p:cNvPicPr>
            <a:picLocks noChangeAspect="1"/>
          </p:cNvPicPr>
          <p:nvPr userDrawn="1"/>
        </p:nvPicPr>
        <p:blipFill>
          <a:blip r:embed="rId2">
            <a:extLst>
              <a:ext uri="{28A0092B-C50C-407E-A947-70E740481C1C}">
                <a14:useLocalDpi xmlns:a14="http://schemas.microsoft.com/office/drawing/2010/main" val="0"/>
              </a:ext>
            </a:extLst>
          </a:blip>
          <a:srcRect t="1778" b="1778"/>
          <a:stretch/>
        </p:blipFill>
        <p:spPr>
          <a:xfrm>
            <a:off x="0" y="243840"/>
            <a:ext cx="12192000" cy="6614160"/>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4272404" y="2536069"/>
            <a:ext cx="3647192" cy="1218051"/>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481076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sp>
        <p:nvSpPr>
          <p:cNvPr id="5" name="Rectangle 4">
            <a:extLst>
              <a:ext uri="{FF2B5EF4-FFF2-40B4-BE49-F238E27FC236}">
                <a16:creationId xmlns:a16="http://schemas.microsoft.com/office/drawing/2014/main" id="{2E38A553-5287-0E41-A5D3-E62002DC4346}"/>
              </a:ext>
            </a:extLst>
          </p:cNvPr>
          <p:cNvSpPr/>
          <p:nvPr userDrawn="1"/>
        </p:nvSpPr>
        <p:spPr>
          <a:xfrm>
            <a:off x="0" y="6693408"/>
            <a:ext cx="12192000" cy="1645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54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C79E7-7057-AF4F-B18C-E3989117A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AD352FF6-569A-064D-B4B2-EF817DBEF3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72404" y="2040769"/>
            <a:ext cx="3647192" cy="1215730"/>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5049618"/>
            <a:ext cx="6362700" cy="495300"/>
          </a:xfrm>
          <a:prstGeom prst="rect">
            <a:avLst/>
          </a:prstGeom>
        </p:spPr>
        <p:txBody>
          <a:bodyPr anchor="ctr"/>
          <a:lstStyle>
            <a:lvl1pPr marL="0" indent="0" algn="ctr">
              <a:buNone/>
              <a:defRPr lang="en-US" sz="2000" b="0" kern="1200" baseline="0" dirty="0">
                <a:solidFill>
                  <a:schemeClr val="accent1"/>
                </a:solidFill>
                <a:latin typeface="+mj-lt"/>
                <a:ea typeface="+mj-ea"/>
                <a:cs typeface="+mj-cs"/>
              </a:defRPr>
            </a:lvl1pPr>
          </a:lstStyle>
          <a:p>
            <a:pPr lvl="0"/>
            <a:r>
              <a:rPr lang="en-US" dirty="0"/>
              <a:t>SUBTITLE</a:t>
            </a:r>
          </a:p>
        </p:txBody>
      </p:sp>
    </p:spTree>
    <p:extLst>
      <p:ext uri="{BB962C8B-B14F-4D97-AF65-F5344CB8AC3E}">
        <p14:creationId xmlns:p14="http://schemas.microsoft.com/office/powerpoint/2010/main" val="26873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AE9F9-2984-204C-B427-379965A9AA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p:cNvSpPr>
            <a:spLocks noGrp="1"/>
          </p:cNvSpPr>
          <p:nvPr>
            <p:ph type="title"/>
          </p:nvPr>
        </p:nvSpPr>
        <p:spPr>
          <a:xfrm>
            <a:off x="2914650" y="2689222"/>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sp>
        <p:nvSpPr>
          <p:cNvPr id="11" name="Text Placeholder 10"/>
          <p:cNvSpPr>
            <a:spLocks noGrp="1"/>
          </p:cNvSpPr>
          <p:nvPr>
            <p:ph type="body" sz="quarter" idx="10" hasCustomPrompt="1"/>
          </p:nvPr>
        </p:nvSpPr>
        <p:spPr>
          <a:xfrm>
            <a:off x="2914650" y="354521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pic>
        <p:nvPicPr>
          <p:cNvPr id="6" name="Picture 5">
            <a:extLst>
              <a:ext uri="{FF2B5EF4-FFF2-40B4-BE49-F238E27FC236}">
                <a16:creationId xmlns:a16="http://schemas.microsoft.com/office/drawing/2014/main" id="{6B5C9036-2210-6142-BFDC-7BFE83F361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spTree>
    <p:extLst>
      <p:ext uri="{BB962C8B-B14F-4D97-AF65-F5344CB8AC3E}">
        <p14:creationId xmlns:p14="http://schemas.microsoft.com/office/powerpoint/2010/main" val="296426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B9BD612-3813-FB4E-865F-FADE0BC7F8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8" name="Title 7"/>
          <p:cNvSpPr>
            <a:spLocks noGrp="1"/>
          </p:cNvSpPr>
          <p:nvPr>
            <p:ph type="title"/>
          </p:nvPr>
        </p:nvSpPr>
        <p:spPr>
          <a:xfrm>
            <a:off x="2914650" y="3108960"/>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B1117FC5-AAA0-1041-BC24-5CE254DB52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207929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B580F0-627E-BF4F-9A0F-3D79B602984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BDA3B51-831E-2940-8D2F-6C33370C7922}"/>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userDrawn="1">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bg1"/>
                </a:solidFill>
                <a:latin typeface="+mj-lt"/>
              </a:defRPr>
            </a:lvl1pPr>
          </a:lstStyle>
          <a:p>
            <a:fld id="{46616483-2A41-4A20-BD01-F9E46BA69A42}" type="slidenum">
              <a:rPr lang="en-US" smtClean="0"/>
              <a:pPr/>
              <a:t>‹#›</a:t>
            </a:fld>
            <a:endParaRPr lang="en-US" dirty="0"/>
          </a:p>
        </p:txBody>
      </p:sp>
      <p:pic>
        <p:nvPicPr>
          <p:cNvPr id="7" name="Picture 6">
            <a:extLst>
              <a:ext uri="{FF2B5EF4-FFF2-40B4-BE49-F238E27FC236}">
                <a16:creationId xmlns:a16="http://schemas.microsoft.com/office/drawing/2014/main" id="{C22189A4-037B-0845-B243-1FE144E511B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318003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5EA7B4-D03C-0542-BDFA-C3169458B7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A452CB39-3423-8046-836D-596E398D1F5C}"/>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userDrawn="1">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FC85A651-D2E5-C340-A433-6D68EFF231A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47830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520336" y="64833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accent1"/>
                </a:solidFill>
                <a:latin typeface="+mj-lt"/>
              </a:defRPr>
            </a:lvl1pPr>
          </a:lstStyle>
          <a:p>
            <a:fld id="{46616483-2A41-4A20-BD01-F9E46BA69A42}" type="slidenum">
              <a:rPr lang="en-US" smtClean="0"/>
              <a:pPr/>
              <a:t>‹#›</a:t>
            </a:fld>
            <a:endParaRPr lang="en-US" dirty="0"/>
          </a:p>
        </p:txBody>
      </p:sp>
      <p:pic>
        <p:nvPicPr>
          <p:cNvPr id="6" name="Picture 5">
            <a:extLst>
              <a:ext uri="{FF2B5EF4-FFF2-40B4-BE49-F238E27FC236}">
                <a16:creationId xmlns:a16="http://schemas.microsoft.com/office/drawing/2014/main" id="{9A60F511-5604-4848-B430-C09C849A14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9" name="Picture 8">
            <a:extLst>
              <a:ext uri="{FF2B5EF4-FFF2-40B4-BE49-F238E27FC236}">
                <a16:creationId xmlns:a16="http://schemas.microsoft.com/office/drawing/2014/main" id="{D26BE787-5CAB-924F-9402-77E03E56C3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0" name="Rectangle 9">
            <a:extLst>
              <a:ext uri="{FF2B5EF4-FFF2-40B4-BE49-F238E27FC236}">
                <a16:creationId xmlns:a16="http://schemas.microsoft.com/office/drawing/2014/main" id="{F7AE919E-F3E3-614F-B830-39BA0FFE7B16}"/>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solidFill>
                  <a:schemeClr val="accent1"/>
                </a:solidFill>
              </a:rPr>
              <a:pPr/>
              <a:t>‹#›</a:t>
            </a:fld>
            <a:endParaRPr lang="en-US" dirty="0">
              <a:solidFill>
                <a:schemeClr val="accent1"/>
              </a:solidFill>
            </a:endParaRPr>
          </a:p>
        </p:txBody>
      </p:sp>
      <p:sp>
        <p:nvSpPr>
          <p:cNvPr id="8" name="Title 7"/>
          <p:cNvSpPr>
            <a:spLocks noGrp="1"/>
          </p:cNvSpPr>
          <p:nvPr>
            <p:ph type="title"/>
          </p:nvPr>
        </p:nvSpPr>
        <p:spPr>
          <a:xfrm>
            <a:off x="520336" y="958092"/>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520336" y="1772708"/>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18B1814-8187-604F-BB35-1ED23A564E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12" name="Picture 11">
            <a:extLst>
              <a:ext uri="{FF2B5EF4-FFF2-40B4-BE49-F238E27FC236}">
                <a16:creationId xmlns:a16="http://schemas.microsoft.com/office/drawing/2014/main" id="{F5F483BD-9067-A74B-9DE3-D4DBAEC41D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3" name="Rectangle 12">
            <a:extLst>
              <a:ext uri="{FF2B5EF4-FFF2-40B4-BE49-F238E27FC236}">
                <a16:creationId xmlns:a16="http://schemas.microsoft.com/office/drawing/2014/main" id="{B641A0E5-B6BB-5A4E-A439-D3DE43390EB0}"/>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96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303BC2-BE3B-E74E-8F32-DC9FE778E313}"/>
              </a:ext>
            </a:extLst>
          </p:cNvPr>
          <p:cNvSpPr/>
          <p:nvPr userDrawn="1"/>
        </p:nvSpPr>
        <p:spPr>
          <a:xfrm>
            <a:off x="0" y="6135624"/>
            <a:ext cx="1219200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B2380843-F36E-1949-B9A3-F9B0FEC10B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
        <p:nvSpPr>
          <p:cNvPr id="2" name="Rectangle 1">
            <a:extLst>
              <a:ext uri="{FF2B5EF4-FFF2-40B4-BE49-F238E27FC236}">
                <a16:creationId xmlns:a16="http://schemas.microsoft.com/office/drawing/2014/main" id="{55439FC3-82D0-864B-805C-6103C617B7B8}"/>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5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857"/>
            <a:ext cx="12188952" cy="6856285"/>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3321719" y="2947779"/>
            <a:ext cx="2881826" cy="962442"/>
          </a:xfrm>
          <a:prstGeom prst="rect">
            <a:avLst/>
          </a:prstGeom>
        </p:spPr>
      </p:pic>
    </p:spTree>
    <p:extLst>
      <p:ext uri="{BB962C8B-B14F-4D97-AF65-F5344CB8AC3E}">
        <p14:creationId xmlns:p14="http://schemas.microsoft.com/office/powerpoint/2010/main" val="352551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493829" y="5791200"/>
            <a:ext cx="1416269" cy="474787"/>
          </a:xfrm>
          <a:prstGeom prst="rect">
            <a:avLst/>
          </a:prstGeom>
        </p:spPr>
      </p:pic>
      <p:sp>
        <p:nvSpPr>
          <p:cNvPr id="2" name="Title Placeholder 1"/>
          <p:cNvSpPr>
            <a:spLocks noGrp="1"/>
          </p:cNvSpPr>
          <p:nvPr>
            <p:ph type="title"/>
          </p:nvPr>
        </p:nvSpPr>
        <p:spPr>
          <a:xfrm>
            <a:off x="314552" y="333373"/>
            <a:ext cx="9253728" cy="466344"/>
          </a:xfrm>
          <a:prstGeom prst="rect">
            <a:avLst/>
          </a:prstGeom>
        </p:spPr>
        <p:txBody>
          <a:bodyPr vert="horz" lIns="0" tIns="0" rIns="0" bIns="0" rtlCol="0" anchor="ctr">
            <a:normAutofit/>
          </a:bodyPr>
          <a:lstStyle/>
          <a:p>
            <a:r>
              <a:rPr lang="en-US"/>
              <a:t>Click to edit Master title style</a:t>
            </a:r>
            <a:endParaRPr lang="en-US" dirty="0"/>
          </a:p>
        </p:txBody>
      </p:sp>
      <p:sp>
        <p:nvSpPr>
          <p:cNvPr id="5" name="GS Doctop Placeholder" hidden="1"/>
          <p:cNvSpPr txBox="1"/>
          <p:nvPr userDrawn="1"/>
        </p:nvSpPr>
        <p:spPr>
          <a:xfrm>
            <a:off x="546100" y="0"/>
            <a:ext cx="5651500" cy="338554"/>
          </a:xfrm>
          <a:prstGeom prst="rect">
            <a:avLst/>
          </a:prstGeom>
          <a:noFill/>
        </p:spPr>
        <p:txBody>
          <a:bodyPr vert="horz" rtlCol="0">
            <a:spAutoFit/>
          </a:bodyPr>
          <a:lstStyle/>
          <a:p>
            <a:pPr algn="l"/>
            <a:r>
              <a:rPr lang="en-US" sz="800" b="0">
                <a:latin typeface="Arial" panose="020B0604020202020204" pitchFamily="34" charset="0"/>
              </a:rPr>
              <a:t>IBDROOT\PROJECTS\IBD-NY\VISTAS2020\657440_1\Due Diligence\Presentation\Project SYMPHONY_Oboe Diligence Materials_v06.pptx</a:t>
            </a:r>
            <a:endParaRPr lang="en-US" sz="800" b="0" dirty="0">
              <a:latin typeface="Arial" panose="020B0604020202020204" pitchFamily="34" charset="0"/>
            </a:endParaRPr>
          </a:p>
        </p:txBody>
      </p:sp>
      <p:sp>
        <p:nvSpPr>
          <p:cNvPr id="9" name="Text Placeholder 8"/>
          <p:cNvSpPr>
            <a:spLocks noGrp="1"/>
          </p:cNvSpPr>
          <p:nvPr>
            <p:ph type="body" idx="1"/>
          </p:nvPr>
        </p:nvSpPr>
        <p:spPr>
          <a:xfrm>
            <a:off x="314552" y="1147989"/>
            <a:ext cx="9561286" cy="4643211"/>
          </a:xfrm>
          <a:prstGeom prst="rect">
            <a:avLst/>
          </a:prstGeom>
        </p:spPr>
        <p:txBody>
          <a:bodyPr vert="horz" lIns="0" tIns="0" rIns="0" bIns="0" rtlCol="0">
            <a:normAutofit/>
          </a:bodyPr>
          <a:lstStyle/>
          <a:p>
            <a:pPr marL="274320" lvl="0" indent="-274320" algn="l" defTabSz="914400" rtl="0" eaLnBrk="1" latinLnBrk="0" hangingPunct="1">
              <a:lnSpc>
                <a:spcPct val="100000"/>
              </a:lnSpc>
              <a:spcBef>
                <a:spcPts val="600"/>
              </a:spcBef>
              <a:spcAft>
                <a:spcPts val="600"/>
              </a:spcAft>
              <a:buFont typeface="Wingdings" panose="05000000000000000000" pitchFamily="2" charset="2"/>
              <a:buChar char="Ø"/>
            </a:pPr>
            <a:r>
              <a:rPr lang="en-US" dirty="0"/>
              <a:t>Edit Master text styles</a:t>
            </a:r>
          </a:p>
          <a:p>
            <a:pPr marL="548640" lvl="1"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pPr>
            <a:r>
              <a:rPr lang="en-US" dirty="0"/>
              <a:t>Second level</a:t>
            </a:r>
          </a:p>
          <a:p>
            <a:pPr marL="822960" lvl="2"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pPr>
            <a:r>
              <a:rPr lang="en-US" dirty="0"/>
              <a:t>Third level</a:t>
            </a:r>
          </a:p>
          <a:p>
            <a:pPr marL="1097280" lvl="3"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pPr>
            <a:r>
              <a:rPr lang="en-US" dirty="0"/>
              <a:t>Fourth level</a:t>
            </a:r>
          </a:p>
          <a:p>
            <a:pPr marL="1371600" lvl="4"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pPr>
            <a:r>
              <a:rPr lang="en-US" dirty="0"/>
              <a:t>Fifth level</a:t>
            </a:r>
          </a:p>
        </p:txBody>
      </p:sp>
      <p:sp>
        <p:nvSpPr>
          <p:cNvPr id="3" name="Slide Number Placeholder 2"/>
          <p:cNvSpPr>
            <a:spLocks noGrp="1"/>
          </p:cNvSpPr>
          <p:nvPr>
            <p:ph type="sldNum" sz="quarter" idx="4"/>
          </p:nvPr>
        </p:nvSpPr>
        <p:spPr>
          <a:xfrm>
            <a:off x="11161485" y="6356350"/>
            <a:ext cx="703943" cy="365125"/>
          </a:xfrm>
          <a:prstGeom prst="rect">
            <a:avLst/>
          </a:prstGeom>
        </p:spPr>
        <p:txBody>
          <a:bodyPr vert="horz" lIns="0" tIns="45720" rIns="0" bIns="45720" rtlCol="0" anchor="ctr"/>
          <a:lstStyle>
            <a:lvl1pPr algn="r">
              <a:defRPr sz="1200">
                <a:solidFill>
                  <a:schemeClr val="bg1"/>
                </a:solidFill>
                <a:latin typeface="+mj-lt"/>
              </a:defRPr>
            </a:lvl1pPr>
          </a:lstStyle>
          <a:p>
            <a:fld id="{46616483-2A41-4A20-BD01-F9E46BA69A42}" type="slidenum">
              <a:rPr lang="en-US" smtClean="0"/>
              <a:pPr/>
              <a:t>‹#›</a:t>
            </a:fld>
            <a:endParaRPr lang="en-US" dirty="0"/>
          </a:p>
        </p:txBody>
      </p:sp>
    </p:spTree>
    <p:extLst>
      <p:ext uri="{BB962C8B-B14F-4D97-AF65-F5344CB8AC3E}">
        <p14:creationId xmlns:p14="http://schemas.microsoft.com/office/powerpoint/2010/main" val="2845505242"/>
      </p:ext>
    </p:extLst>
  </p:cSld>
  <p:clrMap bg1="lt1" tx1="dk1" bg2="lt2" tx2="dk2" accent1="accent1" accent2="accent2" accent3="accent3" accent4="accent4" accent5="accent5" accent6="accent6" hlink="hlink" folHlink="folHlink"/>
  <p:sldLayoutIdLst>
    <p:sldLayoutId id="2147483726" r:id="rId1"/>
    <p:sldLayoutId id="2147483731" r:id="rId2"/>
    <p:sldLayoutId id="2147483727" r:id="rId3"/>
    <p:sldLayoutId id="2147483730" r:id="rId4"/>
    <p:sldLayoutId id="2147483728" r:id="rId5"/>
    <p:sldLayoutId id="2147483729" r:id="rId6"/>
    <p:sldLayoutId id="2147483732" r:id="rId7"/>
    <p:sldLayoutId id="2147483733" r:id="rId8"/>
    <p:sldLayoutId id="2147483734" r:id="rId9"/>
    <p:sldLayoutId id="2147483735" r:id="rId10"/>
  </p:sldLayoutIdLst>
  <p:hf hdr="0" ftr="0" dt="0"/>
  <p:txStyles>
    <p:title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1pPr>
      <a:lvl2pPr marL="731520" indent="-45720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2pPr>
      <a:lvl3pPr marL="834390" indent="-28575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3pPr>
      <a:lvl4pPr marL="1108710" indent="-285750" algn="l" defTabSz="9906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4pPr>
      <a:lvl5pPr marL="1440180" indent="-342900" algn="l" defTabSz="914400" rtl="0" eaLnBrk="1" latinLnBrk="0" hangingPunct="1">
        <a:lnSpc>
          <a:spcPct val="90000"/>
        </a:lnSpc>
        <a:spcBef>
          <a:spcPts val="500"/>
        </a:spcBef>
        <a:buFont typeface="Wingdings" panose="05000000000000000000" pitchFamily="2" charset="2"/>
        <a:buChar char="§"/>
        <a:defRPr lang="en-US" sz="1600" kern="1200" dirty="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userDrawn="1">
          <p15:clr>
            <a:srgbClr val="F26B43"/>
          </p15:clr>
        </p15:guide>
        <p15:guide id="3" orient="horz" pos="624" userDrawn="1">
          <p15:clr>
            <a:srgbClr val="F26B43"/>
          </p15:clr>
        </p15:guide>
        <p15:guide id="4" pos="6221" userDrawn="1">
          <p15:clr>
            <a:srgbClr val="F26B43"/>
          </p15:clr>
        </p15:guide>
        <p15:guide id="5" pos="189" userDrawn="1">
          <p15:clr>
            <a:srgbClr val="F26B43"/>
          </p15:clr>
        </p15:guide>
        <p15:guide id="6" orient="horz" pos="714" userDrawn="1">
          <p15:clr>
            <a:srgbClr val="F26B43"/>
          </p15:clr>
        </p15:guide>
        <p15:guide id="7" orient="horz" pos="3738" userDrawn="1">
          <p15:clr>
            <a:srgbClr val="F26B43"/>
          </p15:clr>
        </p15:guide>
        <p15:guide id="8"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88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7F289D-2757-0342-BE5D-531BF0C679A0}"/>
              </a:ext>
            </a:extLst>
          </p:cNvPr>
          <p:cNvSpPr>
            <a:spLocks noGrp="1"/>
          </p:cNvSpPr>
          <p:nvPr>
            <p:ph type="body" sz="quarter" idx="10"/>
          </p:nvPr>
        </p:nvSpPr>
        <p:spPr>
          <a:xfrm>
            <a:off x="2299317" y="5049618"/>
            <a:ext cx="6978033" cy="495300"/>
          </a:xfrm>
        </p:spPr>
        <p:txBody>
          <a:bodyPr>
            <a:normAutofit/>
          </a:bodyPr>
          <a:lstStyle/>
          <a:p>
            <a:r>
              <a:rPr lang="en-IN" sz="3600" b="1" dirty="0" smtClean="0">
                <a:latin typeface="Calibri" panose="020F0502020204030204" pitchFamily="34" charset="0"/>
                <a:cs typeface="Calibri" panose="020F0502020204030204" pitchFamily="34" charset="0"/>
              </a:rPr>
              <a:t>Imaging</a:t>
            </a:r>
            <a:endParaRPr lang="en-US"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818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Imaging</a:t>
            </a: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314552" y="1005839"/>
            <a:ext cx="9561286" cy="5068390"/>
          </a:xfrm>
        </p:spPr>
        <p:txBody>
          <a:bodyPr>
            <a:noAutofit/>
          </a:bodyPr>
          <a:lstStyle/>
          <a:p>
            <a:pPr marL="0" indent="0">
              <a:buNone/>
            </a:pPr>
            <a:r>
              <a:rPr lang="en-US" sz="1800" b="1" dirty="0">
                <a:latin typeface="Calibri" panose="020F0502020204030204" pitchFamily="34" charset="0"/>
                <a:cs typeface="Calibri" panose="020F0502020204030204" pitchFamily="34" charset="0"/>
              </a:rPr>
              <a:t>Imaging Section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Contains </a:t>
            </a:r>
            <a:r>
              <a:rPr lang="en-US" sz="1800" dirty="0">
                <a:latin typeface="Calibri" panose="020F0502020204030204" pitchFamily="34" charset="0"/>
                <a:cs typeface="Calibri" panose="020F0502020204030204" pitchFamily="34" charset="0"/>
              </a:rPr>
              <a:t>diagnostic radiology procedures </a:t>
            </a:r>
            <a:endParaRPr lang="en-US" sz="1800" dirty="0" smtClean="0">
              <a:latin typeface="Calibri" panose="020F0502020204030204" pitchFamily="34" charset="0"/>
              <a:cs typeface="Calibri" panose="020F0502020204030204" pitchFamily="34" charset="0"/>
            </a:endParaRPr>
          </a:p>
          <a:p>
            <a:pPr lvl="1"/>
            <a:r>
              <a:rPr lang="en-US" sz="1800" dirty="0">
                <a:latin typeface="Calibri" panose="020F0502020204030204" pitchFamily="34" charset="0"/>
                <a:cs typeface="Calibri" panose="020F0502020204030204" pitchFamily="34" charset="0"/>
              </a:rPr>
              <a:t>Nuclear medicine is a separate section </a:t>
            </a:r>
          </a:p>
          <a:p>
            <a:pPr lvl="1"/>
            <a:r>
              <a:rPr lang="en-US" sz="1800" dirty="0">
                <a:latin typeface="Calibri" panose="020F0502020204030204" pitchFamily="34" charset="0"/>
                <a:cs typeface="Calibri" panose="020F0502020204030204" pitchFamily="34" charset="0"/>
              </a:rPr>
              <a:t>Radiation Oncology is a separate section </a:t>
            </a:r>
          </a:p>
          <a:p>
            <a:pPr lvl="1"/>
            <a:r>
              <a:rPr lang="en-US" sz="1800" dirty="0">
                <a:latin typeface="Calibri" panose="020F0502020204030204" pitchFamily="34" charset="0"/>
                <a:cs typeface="Calibri" panose="020F0502020204030204" pitchFamily="34" charset="0"/>
              </a:rPr>
              <a:t>Interventional Radiology </a:t>
            </a:r>
          </a:p>
          <a:p>
            <a:pPr lvl="2"/>
            <a:r>
              <a:rPr lang="en-US" sz="1800" dirty="0">
                <a:latin typeface="Calibri" panose="020F0502020204030204" pitchFamily="34" charset="0"/>
                <a:cs typeface="Calibri" panose="020F0502020204030204" pitchFamily="34" charset="0"/>
              </a:rPr>
              <a:t>The intervention procedure is coded in the Medical and Surgical section</a:t>
            </a:r>
          </a:p>
          <a:p>
            <a:pPr marL="0" indent="0">
              <a:buNone/>
            </a:pPr>
            <a:r>
              <a:rPr lang="en-US" sz="1800" b="1" dirty="0" smtClean="0">
                <a:latin typeface="Calibri" panose="020F0502020204030204" pitchFamily="34" charset="0"/>
                <a:cs typeface="Calibri" panose="020F0502020204030204" pitchFamily="34" charset="0"/>
              </a:rPr>
              <a:t>Root type (</a:t>
            </a:r>
            <a:r>
              <a:rPr lang="en-US" sz="1800" b="1" dirty="0">
                <a:latin typeface="Calibri" panose="020F0502020204030204" pitchFamily="34" charset="0"/>
                <a:cs typeface="Calibri" panose="020F0502020204030204" pitchFamily="34" charset="0"/>
              </a:rPr>
              <a:t>Character </a:t>
            </a:r>
            <a:r>
              <a:rPr lang="en-US" sz="1800" b="1" dirty="0" smtClean="0">
                <a:latin typeface="Calibri" panose="020F0502020204030204" pitchFamily="34" charset="0"/>
                <a:cs typeface="Calibri" panose="020F0502020204030204" pitchFamily="34" charset="0"/>
              </a:rPr>
              <a:t>3) </a:t>
            </a:r>
            <a:endParaRPr lang="en-US" sz="1800" b="1" dirty="0">
              <a:latin typeface="Calibri" panose="020F0502020204030204" pitchFamily="34" charset="0"/>
              <a:cs typeface="Calibri" panose="020F0502020204030204" pitchFamily="34" charset="0"/>
            </a:endParaRPr>
          </a:p>
          <a:p>
            <a:pPr lvl="1"/>
            <a:r>
              <a:rPr lang="en-IN" sz="1800" dirty="0" smtClean="0">
                <a:latin typeface="Calibri" panose="020F0502020204030204" pitchFamily="34" charset="0"/>
                <a:cs typeface="Calibri" panose="020F0502020204030204" pitchFamily="34" charset="0"/>
              </a:rPr>
              <a:t>Plain </a:t>
            </a:r>
            <a:r>
              <a:rPr lang="en-IN" sz="1800" dirty="0">
                <a:latin typeface="Calibri" panose="020F0502020204030204" pitchFamily="34" charset="0"/>
                <a:cs typeface="Calibri" panose="020F0502020204030204" pitchFamily="34" charset="0"/>
              </a:rPr>
              <a:t>Radiography </a:t>
            </a:r>
            <a:endParaRPr lang="en-IN" sz="1800" dirty="0" smtClean="0">
              <a:latin typeface="Calibri" panose="020F0502020204030204" pitchFamily="34" charset="0"/>
              <a:cs typeface="Calibri" panose="020F0502020204030204" pitchFamily="34" charset="0"/>
            </a:endParaRPr>
          </a:p>
          <a:p>
            <a:pPr lvl="1"/>
            <a:r>
              <a:rPr lang="en-IN" sz="1800" dirty="0" smtClean="0">
                <a:latin typeface="Calibri" panose="020F0502020204030204" pitchFamily="34" charset="0"/>
                <a:cs typeface="Calibri" panose="020F0502020204030204" pitchFamily="34" charset="0"/>
              </a:rPr>
              <a:t>Fluoroscopy </a:t>
            </a:r>
          </a:p>
          <a:p>
            <a:pPr lvl="1"/>
            <a:r>
              <a:rPr lang="en-IN" sz="1800" dirty="0" smtClean="0">
                <a:latin typeface="Calibri" panose="020F0502020204030204" pitchFamily="34" charset="0"/>
                <a:cs typeface="Calibri" panose="020F0502020204030204" pitchFamily="34" charset="0"/>
              </a:rPr>
              <a:t> </a:t>
            </a:r>
            <a:r>
              <a:rPr lang="en-IN" sz="1800" dirty="0">
                <a:latin typeface="Calibri" panose="020F0502020204030204" pitchFamily="34" charset="0"/>
                <a:cs typeface="Calibri" panose="020F0502020204030204" pitchFamily="34" charset="0"/>
              </a:rPr>
              <a:t>CT Scan </a:t>
            </a:r>
            <a:endParaRPr lang="en-IN" sz="1800" dirty="0" smtClean="0">
              <a:latin typeface="Calibri" panose="020F0502020204030204" pitchFamily="34" charset="0"/>
              <a:cs typeface="Calibri" panose="020F0502020204030204" pitchFamily="34" charset="0"/>
            </a:endParaRPr>
          </a:p>
          <a:p>
            <a:pPr lvl="1"/>
            <a:r>
              <a:rPr lang="en-IN" sz="1800" dirty="0" smtClean="0">
                <a:latin typeface="Calibri" panose="020F0502020204030204" pitchFamily="34" charset="0"/>
                <a:cs typeface="Calibri" panose="020F0502020204030204" pitchFamily="34" charset="0"/>
              </a:rPr>
              <a:t>MRI </a:t>
            </a:r>
          </a:p>
          <a:p>
            <a:pPr lvl="1"/>
            <a:r>
              <a:rPr lang="en-IN" sz="1800" dirty="0" smtClean="0">
                <a:latin typeface="Calibri" panose="020F0502020204030204" pitchFamily="34" charset="0"/>
                <a:cs typeface="Calibri" panose="020F0502020204030204" pitchFamily="34" charset="0"/>
              </a:rPr>
              <a:t>Ultrasound</a:t>
            </a:r>
            <a:endParaRPr lang="en-US" sz="1800" dirty="0" smtClean="0">
              <a:latin typeface="Calibri" panose="020F0502020204030204" pitchFamily="34" charset="0"/>
              <a:cs typeface="Calibri" panose="020F0502020204030204" pitchFamily="34" charset="0"/>
            </a:endParaRPr>
          </a:p>
          <a:p>
            <a:pPr marL="548640" lvl="2" indent="0">
              <a:buNone/>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94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C452-7771-4936-82B0-C2E929A9F129}"/>
              </a:ext>
            </a:extLst>
          </p:cNvPr>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Imaging</a:t>
            </a:r>
          </a:p>
        </p:txBody>
      </p:sp>
      <p:sp>
        <p:nvSpPr>
          <p:cNvPr id="3" name="Text Placeholder 2">
            <a:extLst>
              <a:ext uri="{FF2B5EF4-FFF2-40B4-BE49-F238E27FC236}">
                <a16:creationId xmlns:a16="http://schemas.microsoft.com/office/drawing/2014/main" id="{73E349D4-06F4-4BAC-B173-8E90E9B18EE9}"/>
              </a:ext>
            </a:extLst>
          </p:cNvPr>
          <p:cNvSpPr>
            <a:spLocks noGrp="1"/>
          </p:cNvSpPr>
          <p:nvPr>
            <p:ph type="body" sz="quarter" idx="10"/>
          </p:nvPr>
        </p:nvSpPr>
        <p:spPr>
          <a:xfrm>
            <a:off x="314552" y="1147989"/>
            <a:ext cx="11598774" cy="4643211"/>
          </a:xfrm>
        </p:spPr>
        <p:txBody>
          <a:bodyPr>
            <a:normAutofit/>
          </a:bodyPr>
          <a:lstStyle/>
          <a:p>
            <a:pPr marL="0" indent="0">
              <a:buNone/>
            </a:pPr>
            <a:r>
              <a:rPr lang="en-US" sz="1800" b="1" dirty="0">
                <a:latin typeface="Calibri" panose="020F0502020204030204" pitchFamily="34" charset="0"/>
                <a:cs typeface="Calibri" panose="020F0502020204030204" pitchFamily="34" charset="0"/>
              </a:rPr>
              <a:t>Plain </a:t>
            </a:r>
            <a:r>
              <a:rPr lang="en-US" sz="1800" b="1" dirty="0" smtClean="0">
                <a:latin typeface="Calibri" panose="020F0502020204030204" pitchFamily="34" charset="0"/>
                <a:cs typeface="Calibri" panose="020F0502020204030204" pitchFamily="34" charset="0"/>
              </a:rPr>
              <a:t>Radiography</a:t>
            </a:r>
          </a:p>
          <a:p>
            <a:r>
              <a:rPr lang="en-US" sz="1800" dirty="0" smtClean="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Planar display of an image developed from the capture of external ionizing radiation on photographic or photoconductive </a:t>
            </a:r>
            <a:r>
              <a:rPr lang="en-US" sz="1800" dirty="0" smtClean="0">
                <a:latin typeface="Calibri" panose="020F0502020204030204" pitchFamily="34" charset="0"/>
                <a:cs typeface="Calibri" panose="020F0502020204030204" pitchFamily="34" charset="0"/>
              </a:rPr>
              <a:t>plate</a:t>
            </a:r>
          </a:p>
          <a:p>
            <a:pPr marL="0" indent="0">
              <a:buNone/>
            </a:pPr>
            <a:r>
              <a:rPr lang="en-US" sz="1800" b="1" dirty="0">
                <a:latin typeface="Calibri" panose="020F0502020204030204" pitchFamily="34" charset="0"/>
                <a:cs typeface="Calibri" panose="020F0502020204030204" pitchFamily="34" charset="0"/>
              </a:rPr>
              <a:t>Fluoroscopy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Single </a:t>
            </a:r>
            <a:r>
              <a:rPr lang="en-US" sz="1800" dirty="0">
                <a:latin typeface="Calibri" panose="020F0502020204030204" pitchFamily="34" charset="0"/>
                <a:cs typeface="Calibri" panose="020F0502020204030204" pitchFamily="34" charset="0"/>
              </a:rPr>
              <a:t>plane or bi-plane real time display of an image developed from the capture of external ionizing radiation on a fluorescent screen. The image may also be stored by either digital or analog </a:t>
            </a:r>
            <a:r>
              <a:rPr lang="en-US" sz="1800" dirty="0" smtClean="0">
                <a:latin typeface="Calibri" panose="020F0502020204030204" pitchFamily="34" charset="0"/>
                <a:cs typeface="Calibri" panose="020F0502020204030204" pitchFamily="34" charset="0"/>
              </a:rPr>
              <a:t>means</a:t>
            </a:r>
          </a:p>
          <a:p>
            <a:pPr marL="0" indent="0">
              <a:buNone/>
            </a:pPr>
            <a:r>
              <a:rPr lang="en-US" sz="1800" b="1" dirty="0">
                <a:latin typeface="Calibri" panose="020F0502020204030204" pitchFamily="34" charset="0"/>
                <a:cs typeface="Calibri" panose="020F0502020204030204" pitchFamily="34" charset="0"/>
              </a:rPr>
              <a:t>Computerized Tomography (CT Scan)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Computer-reformatted </a:t>
            </a:r>
            <a:r>
              <a:rPr lang="en-US" sz="1800" dirty="0">
                <a:latin typeface="Calibri" panose="020F0502020204030204" pitchFamily="34" charset="0"/>
                <a:cs typeface="Calibri" panose="020F0502020204030204" pitchFamily="34" charset="0"/>
              </a:rPr>
              <a:t>digital display of </a:t>
            </a:r>
            <a:r>
              <a:rPr lang="en-US" sz="1800" dirty="0" err="1">
                <a:latin typeface="Calibri" panose="020F0502020204030204" pitchFamily="34" charset="0"/>
                <a:cs typeface="Calibri" panose="020F0502020204030204" pitchFamily="34" charset="0"/>
              </a:rPr>
              <a:t>multiplanar</a:t>
            </a:r>
            <a:r>
              <a:rPr lang="en-US" sz="1800" dirty="0">
                <a:latin typeface="Calibri" panose="020F0502020204030204" pitchFamily="34" charset="0"/>
                <a:cs typeface="Calibri" panose="020F0502020204030204" pitchFamily="34" charset="0"/>
              </a:rPr>
              <a:t> images developed from the capture of multiple exposures of external ionizing </a:t>
            </a:r>
            <a:r>
              <a:rPr lang="en-US" sz="1800" dirty="0" smtClean="0">
                <a:latin typeface="Calibri" panose="020F0502020204030204" pitchFamily="34" charset="0"/>
                <a:cs typeface="Calibri" panose="020F0502020204030204" pitchFamily="34" charset="0"/>
              </a:rPr>
              <a:t>radiation</a:t>
            </a:r>
          </a:p>
          <a:p>
            <a:pPr marL="0" indent="0">
              <a:buNone/>
            </a:pPr>
            <a:r>
              <a:rPr lang="en-US" sz="1800" b="1" dirty="0">
                <a:latin typeface="Calibri" panose="020F0502020204030204" pitchFamily="34" charset="0"/>
                <a:cs typeface="Calibri" panose="020F0502020204030204" pitchFamily="34" charset="0"/>
              </a:rPr>
              <a:t>Magnetic Resonance Imaging (MRI)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Computer-reformatted </a:t>
            </a:r>
            <a:r>
              <a:rPr lang="en-US" sz="1800" dirty="0">
                <a:latin typeface="Calibri" panose="020F0502020204030204" pitchFamily="34" charset="0"/>
                <a:cs typeface="Calibri" panose="020F0502020204030204" pitchFamily="34" charset="0"/>
              </a:rPr>
              <a:t>digital display of </a:t>
            </a:r>
            <a:r>
              <a:rPr lang="en-US" sz="1800" dirty="0" err="1">
                <a:latin typeface="Calibri" panose="020F0502020204030204" pitchFamily="34" charset="0"/>
                <a:cs typeface="Calibri" panose="020F0502020204030204" pitchFamily="34" charset="0"/>
              </a:rPr>
              <a:t>multiplanar</a:t>
            </a:r>
            <a:r>
              <a:rPr lang="en-US" sz="1800" dirty="0">
                <a:latin typeface="Calibri" panose="020F0502020204030204" pitchFamily="34" charset="0"/>
                <a:cs typeface="Calibri" panose="020F0502020204030204" pitchFamily="34" charset="0"/>
              </a:rPr>
              <a:t> images developed from the capture of radio-frequency signals emitted by nuclei in a body site excited within a magnetic field</a:t>
            </a:r>
          </a:p>
        </p:txBody>
      </p:sp>
    </p:spTree>
    <p:extLst>
      <p:ext uri="{BB962C8B-B14F-4D97-AF65-F5344CB8AC3E}">
        <p14:creationId xmlns:p14="http://schemas.microsoft.com/office/powerpoint/2010/main" val="4234367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7040-C1DD-436D-8968-A456D5ACF7CE}"/>
              </a:ext>
            </a:extLst>
          </p:cNvPr>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Imaging</a:t>
            </a:r>
          </a:p>
        </p:txBody>
      </p:sp>
      <p:sp>
        <p:nvSpPr>
          <p:cNvPr id="3" name="Text Placeholder 2">
            <a:extLst>
              <a:ext uri="{FF2B5EF4-FFF2-40B4-BE49-F238E27FC236}">
                <a16:creationId xmlns:a16="http://schemas.microsoft.com/office/drawing/2014/main" id="{5D5DD4A4-09CB-4070-A810-FFE8EB656FE1}"/>
              </a:ext>
            </a:extLst>
          </p:cNvPr>
          <p:cNvSpPr>
            <a:spLocks noGrp="1"/>
          </p:cNvSpPr>
          <p:nvPr>
            <p:ph type="body" sz="quarter" idx="10"/>
          </p:nvPr>
        </p:nvSpPr>
        <p:spPr>
          <a:xfrm>
            <a:off x="314552" y="1147989"/>
            <a:ext cx="11455082" cy="4643211"/>
          </a:xfrm>
        </p:spPr>
        <p:txBody>
          <a:bodyPr>
            <a:normAutofit/>
          </a:bodyPr>
          <a:lstStyle/>
          <a:p>
            <a:pPr marL="0" indent="0">
              <a:buNone/>
            </a:pPr>
            <a:r>
              <a:rPr lang="en-US" sz="1800" b="1" dirty="0">
                <a:latin typeface="Calibri" panose="020F0502020204030204" pitchFamily="34" charset="0"/>
                <a:cs typeface="Calibri" panose="020F0502020204030204" pitchFamily="34" charset="0"/>
              </a:rPr>
              <a:t>Magnetic Resonance Imaging (MRI)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Computer-reformatted </a:t>
            </a:r>
            <a:r>
              <a:rPr lang="en-US" sz="1800" dirty="0">
                <a:latin typeface="Calibri" panose="020F0502020204030204" pitchFamily="34" charset="0"/>
                <a:cs typeface="Calibri" panose="020F0502020204030204" pitchFamily="34" charset="0"/>
              </a:rPr>
              <a:t>digital display of </a:t>
            </a:r>
            <a:r>
              <a:rPr lang="en-US" sz="1800" dirty="0" err="1">
                <a:latin typeface="Calibri" panose="020F0502020204030204" pitchFamily="34" charset="0"/>
                <a:cs typeface="Calibri" panose="020F0502020204030204" pitchFamily="34" charset="0"/>
              </a:rPr>
              <a:t>multiplanar</a:t>
            </a:r>
            <a:r>
              <a:rPr lang="en-US" sz="1800" dirty="0">
                <a:latin typeface="Calibri" panose="020F0502020204030204" pitchFamily="34" charset="0"/>
                <a:cs typeface="Calibri" panose="020F0502020204030204" pitchFamily="34" charset="0"/>
              </a:rPr>
              <a:t> images developed from the capture of radio-frequency signals emitted by nuclei in a body site excited within a magnetic </a:t>
            </a:r>
            <a:r>
              <a:rPr lang="en-US" sz="1800" dirty="0" smtClean="0">
                <a:latin typeface="Calibri" panose="020F0502020204030204" pitchFamily="34" charset="0"/>
                <a:cs typeface="Calibri" panose="020F0502020204030204" pitchFamily="34" charset="0"/>
              </a:rPr>
              <a:t>field</a:t>
            </a:r>
          </a:p>
          <a:p>
            <a:pPr marL="0" indent="0">
              <a:buNone/>
            </a:pPr>
            <a:r>
              <a:rPr lang="en-US" sz="1800" b="1" dirty="0">
                <a:latin typeface="Calibri" panose="020F0502020204030204" pitchFamily="34" charset="0"/>
                <a:cs typeface="Calibri" panose="020F0502020204030204" pitchFamily="34" charset="0"/>
              </a:rPr>
              <a:t>Contrast Material (Character 5) </a:t>
            </a:r>
            <a:endParaRPr lang="en-US" sz="1800" b="1" dirty="0" smtClean="0">
              <a:latin typeface="Calibri" panose="020F0502020204030204" pitchFamily="34" charset="0"/>
              <a:cs typeface="Calibri" panose="020F0502020204030204" pitchFamily="34" charset="0"/>
            </a:endParaRPr>
          </a:p>
          <a:p>
            <a:r>
              <a:rPr lang="en-US" sz="1800" dirty="0" smtClean="0">
                <a:latin typeface="Calibri" panose="020F0502020204030204" pitchFamily="34" charset="0"/>
                <a:cs typeface="Calibri" panose="020F0502020204030204" pitchFamily="34" charset="0"/>
              </a:rPr>
              <a:t>Contrast </a:t>
            </a:r>
            <a:r>
              <a:rPr lang="en-US" sz="1800" dirty="0">
                <a:latin typeface="Calibri" panose="020F0502020204030204" pitchFamily="34" charset="0"/>
                <a:cs typeface="Calibri" panose="020F0502020204030204" pitchFamily="34" charset="0"/>
              </a:rPr>
              <a:t>is differentiated by the concentration of the contrast material (e.g., high or low </a:t>
            </a:r>
            <a:r>
              <a:rPr lang="en-US" sz="1800" dirty="0" err="1">
                <a:latin typeface="Calibri" panose="020F0502020204030204" pitchFamily="34" charset="0"/>
                <a:cs typeface="Calibri" panose="020F0502020204030204" pitchFamily="34" charset="0"/>
              </a:rPr>
              <a:t>osmolar</a:t>
            </a:r>
            <a:r>
              <a:rPr lang="en-US" sz="1800" dirty="0" smtClean="0">
                <a:latin typeface="Calibri" panose="020F0502020204030204" pitchFamily="34" charset="0"/>
                <a:cs typeface="Calibri" panose="020F0502020204030204" pitchFamily="34" charset="0"/>
              </a:rPr>
              <a:t>)</a:t>
            </a:r>
            <a:endParaRPr lang="en-US" sz="1800" dirty="0">
              <a:latin typeface="Calibri" panose="020F0502020204030204" pitchFamily="34" charset="0"/>
              <a:cs typeface="Calibri" panose="020F0502020204030204" pitchFamily="34" charset="0"/>
            </a:endParaRPr>
          </a:p>
          <a:p>
            <a:pPr marL="0" indent="0">
              <a:buNone/>
            </a:pPr>
            <a:r>
              <a:rPr lang="en-US" sz="1800" b="1" dirty="0" smtClean="0">
                <a:latin typeface="Calibri" panose="020F0502020204030204" pitchFamily="34" charset="0"/>
                <a:cs typeface="Calibri" panose="020F0502020204030204" pitchFamily="34" charset="0"/>
              </a:rPr>
              <a:t>Qualifier (Character 6) </a:t>
            </a:r>
          </a:p>
          <a:p>
            <a:r>
              <a:rPr lang="en-US" sz="1800" dirty="0" smtClean="0">
                <a:latin typeface="Calibri" panose="020F0502020204030204" pitchFamily="34" charset="0"/>
                <a:cs typeface="Calibri" panose="020F0502020204030204" pitchFamily="34" charset="0"/>
              </a:rPr>
              <a:t>Specifies </a:t>
            </a:r>
            <a:r>
              <a:rPr lang="en-US" sz="1800" dirty="0">
                <a:latin typeface="Calibri" panose="020F0502020204030204" pitchFamily="34" charset="0"/>
                <a:cs typeface="Calibri" panose="020F0502020204030204" pitchFamily="34" charset="0"/>
              </a:rPr>
              <a:t>an imaging procedure without contrast followed by contrast</a:t>
            </a:r>
          </a:p>
        </p:txBody>
      </p:sp>
    </p:spTree>
    <p:extLst>
      <p:ext uri="{BB962C8B-B14F-4D97-AF65-F5344CB8AC3E}">
        <p14:creationId xmlns:p14="http://schemas.microsoft.com/office/powerpoint/2010/main" val="274494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Coding clinic </a:t>
            </a:r>
            <a:endParaRPr lang="en-IN" b="1" dirty="0"/>
          </a:p>
        </p:txBody>
      </p:sp>
      <p:sp>
        <p:nvSpPr>
          <p:cNvPr id="3" name="Text Placeholder 2"/>
          <p:cNvSpPr>
            <a:spLocks noGrp="1"/>
          </p:cNvSpPr>
          <p:nvPr>
            <p:ph type="body" sz="quarter" idx="10"/>
          </p:nvPr>
        </p:nvSpPr>
        <p:spPr>
          <a:xfrm>
            <a:off x="143691" y="953589"/>
            <a:ext cx="11939452" cy="5107577"/>
          </a:xfrm>
        </p:spPr>
        <p:txBody>
          <a:bodyPr>
            <a:normAutofit/>
          </a:bodyPr>
          <a:lstStyle/>
          <a:p>
            <a:pPr marL="0" indent="0">
              <a:buNone/>
            </a:pPr>
            <a:r>
              <a:rPr lang="en-US" sz="1800" dirty="0" smtClean="0">
                <a:latin typeface="Calibri" panose="020F0502020204030204" pitchFamily="34" charset="0"/>
                <a:cs typeface="Calibri" panose="020F0502020204030204" pitchFamily="34" charset="0"/>
              </a:rPr>
              <a:t>Central </a:t>
            </a:r>
            <a:r>
              <a:rPr lang="en-US" sz="1800" dirty="0">
                <a:latin typeface="Calibri" panose="020F0502020204030204" pitchFamily="34" charset="0"/>
                <a:cs typeface="Calibri" panose="020F0502020204030204" pitchFamily="34" charset="0"/>
              </a:rPr>
              <a:t>venous catheter placement with imaging guidance combines fluoroscopy and ultrasound guidance with catheter insertion in order to accurately align the tip of the catheter in the correct position. In the inpatient setting, coding radiologic guidance is optional. For facilities that wish to collect this information, fluoroscopic guidance is classified in ICD-10-PCS at table B51 with the qualifier value "Guidance."</a:t>
            </a:r>
            <a:endParaRPr lang="en-IN" sz="18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314552" y="2584904"/>
            <a:ext cx="7599560" cy="2888434"/>
          </a:xfrm>
          <a:prstGeom prst="rect">
            <a:avLst/>
          </a:prstGeom>
        </p:spPr>
      </p:pic>
      <p:pic>
        <p:nvPicPr>
          <p:cNvPr id="5" name="Picture 4"/>
          <p:cNvPicPr>
            <a:picLocks noChangeAspect="1"/>
          </p:cNvPicPr>
          <p:nvPr/>
        </p:nvPicPr>
        <p:blipFill>
          <a:blip r:embed="rId3"/>
          <a:stretch>
            <a:fillRect/>
          </a:stretch>
        </p:blipFill>
        <p:spPr>
          <a:xfrm>
            <a:off x="8234014" y="2415115"/>
            <a:ext cx="3744626" cy="3228013"/>
          </a:xfrm>
          <a:prstGeom prst="rect">
            <a:avLst/>
          </a:prstGeom>
        </p:spPr>
      </p:pic>
    </p:spTree>
    <p:extLst>
      <p:ext uri="{BB962C8B-B14F-4D97-AF65-F5344CB8AC3E}">
        <p14:creationId xmlns:p14="http://schemas.microsoft.com/office/powerpoint/2010/main" val="1196407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Clinical Example</a:t>
            </a:r>
            <a:endParaRPr lang="en-IN" sz="3600" b="1" dirty="0">
              <a:latin typeface="Calibri" panose="020F0502020204030204" pitchFamily="34" charset="0"/>
              <a:cs typeface="Calibri" panose="020F0502020204030204" pitchFamily="34" charset="0"/>
            </a:endParaRPr>
          </a:p>
        </p:txBody>
      </p:sp>
      <p:sp>
        <p:nvSpPr>
          <p:cNvPr id="3" name="Text Placeholder 2"/>
          <p:cNvSpPr>
            <a:spLocks noGrp="1"/>
          </p:cNvSpPr>
          <p:nvPr>
            <p:ph type="body" sz="quarter" idx="10"/>
          </p:nvPr>
        </p:nvSpPr>
        <p:spPr>
          <a:xfrm>
            <a:off x="314552" y="927463"/>
            <a:ext cx="11507334" cy="4863737"/>
          </a:xfrm>
        </p:spPr>
        <p:txBody>
          <a:bodyPr>
            <a:normAutofit/>
          </a:bodyPr>
          <a:lstStyle/>
          <a:p>
            <a:r>
              <a:rPr lang="en-US" sz="2000" dirty="0">
                <a:latin typeface="Calibri" panose="020F0502020204030204" pitchFamily="34" charset="0"/>
                <a:cs typeface="Calibri" panose="020F0502020204030204" pitchFamily="34" charset="0"/>
              </a:rPr>
              <a:t>A central venous catheter is inserted for renal dialysis under fluoroscopic guidance without contrast with the tip ending in the superior vena cava. In ICD-10-PCS, table B21 does not provide a "No Contrast" value. What is the correct ICD-10- PCS value for fluoroscopic guidance</a:t>
            </a:r>
            <a:r>
              <a:rPr lang="en-US" sz="2000" dirty="0" smtClean="0">
                <a:latin typeface="Calibri" panose="020F0502020204030204" pitchFamily="34" charset="0"/>
                <a:cs typeface="Calibri" panose="020F0502020204030204" pitchFamily="34" charset="0"/>
              </a:rPr>
              <a:t>?</a:t>
            </a:r>
          </a:p>
          <a:p>
            <a:pPr marL="0" indent="0">
              <a:buNone/>
            </a:pPr>
            <a:r>
              <a:rPr lang="en-US" sz="2000" dirty="0" smtClean="0">
                <a:latin typeface="Calibri" panose="020F0502020204030204" pitchFamily="34" charset="0"/>
                <a:cs typeface="Calibri" panose="020F0502020204030204" pitchFamily="34" charset="0"/>
              </a:rPr>
              <a:t>Coding Navigation:</a:t>
            </a:r>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756263" y="2142309"/>
            <a:ext cx="8490856" cy="3648891"/>
          </a:xfrm>
          <a:prstGeom prst="rect">
            <a:avLst/>
          </a:prstGeom>
        </p:spPr>
      </p:pic>
    </p:spTree>
    <p:extLst>
      <p:ext uri="{BB962C8B-B14F-4D97-AF65-F5344CB8AC3E}">
        <p14:creationId xmlns:p14="http://schemas.microsoft.com/office/powerpoint/2010/main" val="334400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Clinical Example</a:t>
            </a:r>
            <a:endParaRPr lang="en-IN" sz="3600" dirty="0"/>
          </a:p>
        </p:txBody>
      </p:sp>
      <p:sp>
        <p:nvSpPr>
          <p:cNvPr id="3" name="Text Placeholder 2"/>
          <p:cNvSpPr>
            <a:spLocks noGrp="1"/>
          </p:cNvSpPr>
          <p:nvPr>
            <p:ph type="body" sz="quarter" idx="10"/>
          </p:nvPr>
        </p:nvSpPr>
        <p:spPr>
          <a:xfrm>
            <a:off x="314552" y="1147989"/>
            <a:ext cx="11455082" cy="4643211"/>
          </a:xfrm>
        </p:spPr>
        <p:txBody>
          <a:bodyPr>
            <a:normAutofit/>
          </a:bodyPr>
          <a:lstStyle/>
          <a:p>
            <a:pPr marL="0" indent="0" algn="just">
              <a:buNone/>
            </a:pPr>
            <a:r>
              <a:rPr lang="en-US" sz="1800" dirty="0">
                <a:latin typeface="Calibri" panose="020F0502020204030204" pitchFamily="34" charset="0"/>
                <a:cs typeface="Calibri" panose="020F0502020204030204" pitchFamily="34" charset="0"/>
              </a:rPr>
              <a:t>A patient diagnosed with mitral valve stenosis underwent percutaneous balloon </a:t>
            </a:r>
            <a:r>
              <a:rPr lang="en-US" sz="1800" dirty="0" err="1">
                <a:latin typeface="Calibri" panose="020F0502020204030204" pitchFamily="34" charset="0"/>
                <a:cs typeface="Calibri" panose="020F0502020204030204" pitchFamily="34" charset="0"/>
              </a:rPr>
              <a:t>valvuloplasty</a:t>
            </a:r>
            <a:r>
              <a:rPr lang="en-US" sz="1800" dirty="0">
                <a:latin typeface="Calibri" panose="020F0502020204030204" pitchFamily="34" charset="0"/>
                <a:cs typeface="Calibri" panose="020F0502020204030204" pitchFamily="34" charset="0"/>
              </a:rPr>
              <a:t>, right and left heart catheterization (pressure measurements, oximetry sampling, and cardiac output assessment), and left </a:t>
            </a:r>
            <a:r>
              <a:rPr lang="en-US" sz="1800" dirty="0" err="1">
                <a:latin typeface="Calibri" panose="020F0502020204030204" pitchFamily="34" charset="0"/>
                <a:cs typeface="Calibri" panose="020F0502020204030204" pitchFamily="34" charset="0"/>
              </a:rPr>
              <a:t>ventriculogram</a:t>
            </a:r>
            <a:r>
              <a:rPr lang="en-US" sz="1800" dirty="0">
                <a:latin typeface="Calibri" panose="020F0502020204030204" pitchFamily="34" charset="0"/>
                <a:cs typeface="Calibri" panose="020F0502020204030204" pitchFamily="34" charset="0"/>
              </a:rPr>
              <a:t> using low </a:t>
            </a:r>
            <a:r>
              <a:rPr lang="en-US" sz="1800" dirty="0" err="1">
                <a:latin typeface="Calibri" panose="020F0502020204030204" pitchFamily="34" charset="0"/>
                <a:cs typeface="Calibri" panose="020F0502020204030204" pitchFamily="34" charset="0"/>
              </a:rPr>
              <a:t>osmolar</a:t>
            </a:r>
            <a:r>
              <a:rPr lang="en-US" sz="1800" dirty="0">
                <a:latin typeface="Calibri" panose="020F0502020204030204" pitchFamily="34" charset="0"/>
                <a:cs typeface="Calibri" panose="020F0502020204030204" pitchFamily="34" charset="0"/>
              </a:rPr>
              <a:t> contrast. We reported a code for the balloon </a:t>
            </a:r>
            <a:r>
              <a:rPr lang="en-US" sz="1800" dirty="0" err="1">
                <a:latin typeface="Calibri" panose="020F0502020204030204" pitchFamily="34" charset="0"/>
                <a:cs typeface="Calibri" panose="020F0502020204030204" pitchFamily="34" charset="0"/>
              </a:rPr>
              <a:t>valvuloplasty</a:t>
            </a:r>
            <a:r>
              <a:rPr lang="en-US" sz="1800" dirty="0">
                <a:latin typeface="Calibri" panose="020F0502020204030204" pitchFamily="34" charset="0"/>
                <a:cs typeface="Calibri" panose="020F0502020204030204" pitchFamily="34" charset="0"/>
              </a:rPr>
              <a:t>. Would it be appropriate to apply the multiple procedure guideline B3.2c and assign separate codes for the right and left heart catheterization as well as the left </a:t>
            </a:r>
            <a:r>
              <a:rPr lang="en-US" sz="1800" dirty="0" err="1">
                <a:latin typeface="Calibri" panose="020F0502020204030204" pitchFamily="34" charset="0"/>
                <a:cs typeface="Calibri" panose="020F0502020204030204" pitchFamily="34" charset="0"/>
              </a:rPr>
              <a:t>ventriculogram</a:t>
            </a:r>
            <a:r>
              <a:rPr lang="en-US" sz="1800" dirty="0" smtClean="0">
                <a:latin typeface="Calibri" panose="020F0502020204030204" pitchFamily="34" charset="0"/>
                <a:cs typeface="Calibri" panose="020F0502020204030204" pitchFamily="34" charset="0"/>
              </a:rPr>
              <a:t>?</a:t>
            </a:r>
          </a:p>
          <a:p>
            <a:pPr marL="0" indent="0" algn="just">
              <a:buNone/>
            </a:pPr>
            <a:r>
              <a:rPr lang="en-US" sz="1800" dirty="0" smtClean="0">
                <a:latin typeface="Calibri" panose="020F0502020204030204" pitchFamily="34" charset="0"/>
                <a:cs typeface="Calibri" panose="020F0502020204030204" pitchFamily="34" charset="0"/>
              </a:rPr>
              <a:t>In </a:t>
            </a:r>
            <a:r>
              <a:rPr lang="en-US" sz="1800" dirty="0">
                <a:latin typeface="Calibri" panose="020F0502020204030204" pitchFamily="34" charset="0"/>
                <a:cs typeface="Calibri" panose="020F0502020204030204" pitchFamily="34" charset="0"/>
              </a:rPr>
              <a:t>addition to reporting a code for the balloon </a:t>
            </a:r>
            <a:r>
              <a:rPr lang="en-US" sz="1800" dirty="0" err="1">
                <a:latin typeface="Calibri" panose="020F0502020204030204" pitchFamily="34" charset="0"/>
                <a:cs typeface="Calibri" panose="020F0502020204030204" pitchFamily="34" charset="0"/>
              </a:rPr>
              <a:t>valvuloplasty</a:t>
            </a:r>
            <a:r>
              <a:rPr lang="en-US" sz="1800" dirty="0">
                <a:latin typeface="Calibri" panose="020F0502020204030204" pitchFamily="34" charset="0"/>
                <a:cs typeface="Calibri" panose="020F0502020204030204" pitchFamily="34" charset="0"/>
              </a:rPr>
              <a:t>, assign the following codes</a:t>
            </a:r>
            <a:r>
              <a:rPr lang="en-US" sz="1800" dirty="0" smtClean="0">
                <a:latin typeface="Calibri" panose="020F0502020204030204" pitchFamily="34" charset="0"/>
                <a:cs typeface="Calibri" panose="020F0502020204030204" pitchFamily="34" charset="0"/>
              </a:rPr>
              <a:t>:</a:t>
            </a:r>
            <a:endParaRPr lang="en-US" sz="1800" dirty="0">
              <a:latin typeface="Calibri" panose="020F0502020204030204" pitchFamily="34" charset="0"/>
              <a:cs typeface="Calibri" panose="020F0502020204030204" pitchFamily="34" charset="0"/>
            </a:endParaRPr>
          </a:p>
          <a:p>
            <a:pPr marL="0" indent="0" algn="just">
              <a:buNone/>
            </a:pPr>
            <a:r>
              <a:rPr lang="en-US" sz="1800" dirty="0">
                <a:latin typeface="Calibri" panose="020F0502020204030204" pitchFamily="34" charset="0"/>
                <a:cs typeface="Calibri" panose="020F0502020204030204" pitchFamily="34" charset="0"/>
              </a:rPr>
              <a:t>4A023N8	Measurement of cardiac sampling and pressure, bilateral, percutaneous approach, for the right and left heart </a:t>
            </a:r>
            <a:r>
              <a:rPr lang="en-US" sz="1800" dirty="0" smtClean="0">
                <a:latin typeface="Calibri" panose="020F0502020204030204" pitchFamily="34" charset="0"/>
                <a:cs typeface="Calibri" panose="020F0502020204030204" pitchFamily="34" charset="0"/>
              </a:rPr>
              <a:t>catheterization</a:t>
            </a:r>
            <a:r>
              <a:rPr lang="en-US" sz="1800" dirty="0">
                <a:latin typeface="Calibri" panose="020F0502020204030204" pitchFamily="34" charset="0"/>
                <a:cs typeface="Calibri" panose="020F0502020204030204" pitchFamily="34" charset="0"/>
              </a:rPr>
              <a:t>	 </a:t>
            </a:r>
          </a:p>
          <a:p>
            <a:pPr marL="0" indent="0" algn="just">
              <a:buNone/>
            </a:pPr>
            <a:r>
              <a:rPr lang="en-US" sz="1800" dirty="0">
                <a:latin typeface="Calibri" panose="020F0502020204030204" pitchFamily="34" charset="0"/>
                <a:cs typeface="Calibri" panose="020F0502020204030204" pitchFamily="34" charset="0"/>
              </a:rPr>
              <a:t>B2151ZZ	Fluoroscopy of left heart using low </a:t>
            </a:r>
            <a:r>
              <a:rPr lang="en-US" sz="1800" dirty="0" err="1">
                <a:latin typeface="Calibri" panose="020F0502020204030204" pitchFamily="34" charset="0"/>
                <a:cs typeface="Calibri" panose="020F0502020204030204" pitchFamily="34" charset="0"/>
              </a:rPr>
              <a:t>osmolar</a:t>
            </a:r>
            <a:r>
              <a:rPr lang="en-US" sz="1800" dirty="0">
                <a:latin typeface="Calibri" panose="020F0502020204030204" pitchFamily="34" charset="0"/>
                <a:cs typeface="Calibri" panose="020F0502020204030204" pitchFamily="34" charset="0"/>
              </a:rPr>
              <a:t> contrast, for the left </a:t>
            </a:r>
            <a:r>
              <a:rPr lang="en-US" sz="1800" dirty="0" err="1">
                <a:latin typeface="Calibri" panose="020F0502020204030204" pitchFamily="34" charset="0"/>
                <a:cs typeface="Calibri" panose="020F0502020204030204" pitchFamily="34" charset="0"/>
              </a:rPr>
              <a:t>ventriculogram</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2989242"/>
      </p:ext>
    </p:extLst>
  </p:cSld>
  <p:clrMapOvr>
    <a:masterClrMapping/>
  </p:clrMapOvr>
</p:sld>
</file>

<file path=ppt/theme/theme1.xml><?xml version="1.0" encoding="utf-8"?>
<a:theme xmlns:a="http://schemas.openxmlformats.org/drawingml/2006/main" name="Office Theme">
  <a:themeElements>
    <a:clrScheme name="Omega Healthcare">
      <a:dk1>
        <a:srgbClr val="262626"/>
      </a:dk1>
      <a:lt1>
        <a:srgbClr val="FFFFFF"/>
      </a:lt1>
      <a:dk2>
        <a:srgbClr val="1658A4"/>
      </a:dk2>
      <a:lt2>
        <a:srgbClr val="348EC9"/>
      </a:lt2>
      <a:accent1>
        <a:srgbClr val="153166"/>
      </a:accent1>
      <a:accent2>
        <a:srgbClr val="992428"/>
      </a:accent2>
      <a:accent3>
        <a:srgbClr val="77787B"/>
      </a:accent3>
      <a:accent4>
        <a:srgbClr val="BCBEC0"/>
      </a:accent4>
      <a:accent5>
        <a:srgbClr val="F47C23"/>
      </a:accent5>
      <a:accent6>
        <a:srgbClr val="67C189"/>
      </a:accent6>
      <a:hlink>
        <a:srgbClr val="0070C0"/>
      </a:hlink>
      <a:folHlink>
        <a:srgbClr val="90C6F6"/>
      </a:folHlink>
    </a:clrScheme>
    <a:fontScheme name="Omega New Template">
      <a:majorFont>
        <a:latin typeface="Avenir Heavy"/>
        <a:ea typeface=""/>
        <a:cs typeface=""/>
      </a:majorFont>
      <a:minorFont>
        <a:latin typeface="Aveni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ega Healthcare_template" id="{63A0DB61-DB58-1A4A-B042-1839354C95F2}" vid="{E2BCF418-2F16-D54B-8DA6-93CCB280D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RCM</Template>
  <TotalTime>553</TotalTime>
  <Words>483</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Avenir Heavy</vt:lpstr>
      <vt:lpstr>Avenir Medium</vt:lpstr>
      <vt:lpstr>Calibri</vt:lpstr>
      <vt:lpstr>Courier New</vt:lpstr>
      <vt:lpstr>Wingdings</vt:lpstr>
      <vt:lpstr>Office Theme</vt:lpstr>
      <vt:lpstr>PowerPoint Presentation</vt:lpstr>
      <vt:lpstr>PowerPoint Presentation</vt:lpstr>
      <vt:lpstr>Imaging</vt:lpstr>
      <vt:lpstr>Imaging</vt:lpstr>
      <vt:lpstr>Imaging</vt:lpstr>
      <vt:lpstr>Coding clinic </vt:lpstr>
      <vt:lpstr>Clinical Example</vt:lpstr>
      <vt:lpstr>Clinical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Vinothini Kirupakaran</dc:creator>
  <cp:lastModifiedBy>Vijayashanthi D</cp:lastModifiedBy>
  <cp:revision>60</cp:revision>
  <dcterms:created xsi:type="dcterms:W3CDTF">2021-08-28T14:27:41Z</dcterms:created>
  <dcterms:modified xsi:type="dcterms:W3CDTF">2022-01-05T09:35:11Z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8b32edde-1ff2-4d4e-a2d7-fbbc106f8d9c</vt:lpwstr>
  </property>
  <property fmtid="{D5CDD505-2E9C-101B-9397-08002B2CF9AE}" pid="3" name="Project">
    <vt:lpwstr>IBDROOT</vt:lpwstr>
  </property>
  <property fmtid="{D5CDD505-2E9C-101B-9397-08002B2CF9AE}" pid="4" name="Classification">
    <vt:lpwstr>I</vt:lpwstr>
  </property>
  <property fmtid="{D5CDD505-2E9C-101B-9397-08002B2CF9AE}" pid="5" name="DocTopsCleaned">
    <vt:lpwstr>True</vt:lpwstr>
  </property>
  <property fmtid="{D5CDD505-2E9C-101B-9397-08002B2CF9AE}" pid="6" name="ShowHideDoctop">
    <vt:lpwstr>False</vt:lpwstr>
  </property>
</Properties>
</file>