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handoutMasterIdLst>
    <p:handoutMasterId r:id="rId24"/>
  </p:handoutMasterIdLst>
  <p:sldIdLst>
    <p:sldId id="516" r:id="rId2"/>
    <p:sldId id="517" r:id="rId3"/>
    <p:sldId id="555" r:id="rId4"/>
    <p:sldId id="599" r:id="rId5"/>
    <p:sldId id="547" r:id="rId6"/>
    <p:sldId id="600" r:id="rId7"/>
    <p:sldId id="601" r:id="rId8"/>
    <p:sldId id="602" r:id="rId9"/>
    <p:sldId id="603" r:id="rId10"/>
    <p:sldId id="604" r:id="rId11"/>
    <p:sldId id="605" r:id="rId12"/>
    <p:sldId id="606" r:id="rId13"/>
    <p:sldId id="607" r:id="rId14"/>
    <p:sldId id="579" r:id="rId15"/>
    <p:sldId id="595" r:id="rId16"/>
    <p:sldId id="553" r:id="rId17"/>
    <p:sldId id="554" r:id="rId18"/>
    <p:sldId id="596" r:id="rId19"/>
    <p:sldId id="608" r:id="rId20"/>
    <p:sldId id="609" r:id="rId21"/>
    <p:sldId id="5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ontic" initials="l" lastIdx="2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C542"/>
    <a:srgbClr val="2F6193"/>
    <a:srgbClr val="FF8201"/>
    <a:srgbClr val="262626"/>
    <a:srgbClr val="1D1564"/>
    <a:srgbClr val="0B5395"/>
    <a:srgbClr val="0572BC"/>
    <a:srgbClr val="2FA9D7"/>
    <a:srgbClr val="ED9622"/>
    <a:srgbClr val="2D2F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957" autoAdjust="0"/>
  </p:normalViewPr>
  <p:slideViewPr>
    <p:cSldViewPr snapToGrid="0">
      <p:cViewPr varScale="1">
        <p:scale>
          <a:sx n="73" d="100"/>
          <a:sy n="73" d="100"/>
        </p:scale>
        <p:origin x="618" y="72"/>
      </p:cViewPr>
      <p:guideLst>
        <p:guide pos="3840"/>
        <p:guide orient="horz" pos="2160"/>
      </p:guideLst>
    </p:cSldViewPr>
  </p:slideViewPr>
  <p:notesTextViewPr>
    <p:cViewPr>
      <p:scale>
        <a:sx n="75" d="100"/>
        <a:sy n="75" d="100"/>
      </p:scale>
      <p:origin x="0" y="0"/>
    </p:cViewPr>
  </p:notesTextViewPr>
  <p:notesViewPr>
    <p:cSldViewPr snapToGrid="0">
      <p:cViewPr varScale="1">
        <p:scale>
          <a:sx n="86" d="100"/>
          <a:sy n="86" d="100"/>
        </p:scale>
        <p:origin x="2928"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A420ADA-2636-4920-B510-E61DFF0FA5AC}" type="datetimeFigureOut">
              <a:rPr lang="en-IN" smtClean="0"/>
              <a:t>22-12-2021</a:t>
            </a:fld>
            <a:endParaRPr lang="en-IN"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dirty="0"/>
              <a:t>This presentation is confidential. No part of it may be circulated, quoted, or reproduced for distribution outside the organization without prior written approval from Omega Healthcare. Thank you. </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AF8806-B5FA-4027-87F3-47B8EAE39ED3}" type="slidenum">
              <a:rPr lang="en-IN" smtClean="0"/>
              <a:t>‹#›</a:t>
            </a:fld>
            <a:endParaRPr lang="en-IN" dirty="0"/>
          </a:p>
        </p:txBody>
      </p:sp>
    </p:spTree>
    <p:extLst>
      <p:ext uri="{BB962C8B-B14F-4D97-AF65-F5344CB8AC3E}">
        <p14:creationId xmlns:p14="http://schemas.microsoft.com/office/powerpoint/2010/main" val="261774377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8D9EAC-9A38-4670-B77A-DD2A7D52B450}" type="datetimeFigureOut">
              <a:rPr lang="en-IN" smtClean="0"/>
              <a:t>22-12-2021</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dirty="0"/>
              <a:t>This presentation is confidential. No part of it may be circulated, quoted, or reproduced for distribution outside the organization without prior written approval from Omega Healthcare. Thank you. </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FA0649-D767-4B37-848A-14C1DC350B70}" type="slidenum">
              <a:rPr lang="en-IN" smtClean="0"/>
              <a:t>‹#›</a:t>
            </a:fld>
            <a:endParaRPr lang="en-IN" dirty="0"/>
          </a:p>
        </p:txBody>
      </p:sp>
    </p:spTree>
    <p:extLst>
      <p:ext uri="{BB962C8B-B14F-4D97-AF65-F5344CB8AC3E}">
        <p14:creationId xmlns:p14="http://schemas.microsoft.com/office/powerpoint/2010/main" val="15264905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897414-F6FA-B34C-90AF-D370F983A965}"/>
              </a:ext>
            </a:extLst>
          </p:cNvPr>
          <p:cNvPicPr>
            <a:picLocks noChangeAspect="1"/>
          </p:cNvPicPr>
          <p:nvPr userDrawn="1"/>
        </p:nvPicPr>
        <p:blipFill>
          <a:blip r:embed="rId2">
            <a:extLst>
              <a:ext uri="{28A0092B-C50C-407E-A947-70E740481C1C}">
                <a14:useLocalDpi xmlns:a14="http://schemas.microsoft.com/office/drawing/2010/main" val="0"/>
              </a:ext>
            </a:extLst>
          </a:blip>
          <a:srcRect t="1778" b="1778"/>
          <a:stretch/>
        </p:blipFill>
        <p:spPr>
          <a:xfrm>
            <a:off x="0" y="243840"/>
            <a:ext cx="12192000" cy="6614160"/>
          </a:xfrm>
          <a:prstGeom prst="rect">
            <a:avLst/>
          </a:prstGeom>
        </p:spPr>
      </p:pic>
      <p:pic>
        <p:nvPicPr>
          <p:cNvPr id="4" name="Picture 3" descr="Logo&#10;&#10;Description automatically generated">
            <a:extLst>
              <a:ext uri="{FF2B5EF4-FFF2-40B4-BE49-F238E27FC236}">
                <a16:creationId xmlns:a16="http://schemas.microsoft.com/office/drawing/2014/main" id="{05EB7333-1EA9-C143-81E6-31F92E2FBCA8}"/>
              </a:ext>
            </a:extLst>
          </p:cNvPr>
          <p:cNvPicPr>
            <a:picLocks noChangeAspect="1"/>
          </p:cNvPicPr>
          <p:nvPr userDrawn="1"/>
        </p:nvPicPr>
        <p:blipFill>
          <a:blip r:embed="rId3"/>
          <a:stretch>
            <a:fillRect/>
          </a:stretch>
        </p:blipFill>
        <p:spPr>
          <a:xfrm>
            <a:off x="4272404" y="2536069"/>
            <a:ext cx="3647192" cy="1218051"/>
          </a:xfrm>
          <a:prstGeom prst="rect">
            <a:avLst/>
          </a:prstGeom>
        </p:spPr>
      </p:pic>
      <p:sp>
        <p:nvSpPr>
          <p:cNvPr id="6" name="Text Placeholder 10">
            <a:extLst>
              <a:ext uri="{FF2B5EF4-FFF2-40B4-BE49-F238E27FC236}">
                <a16:creationId xmlns:a16="http://schemas.microsoft.com/office/drawing/2014/main" id="{B3357C5F-9929-674B-BF2C-ADB33591FAA9}"/>
              </a:ext>
            </a:extLst>
          </p:cNvPr>
          <p:cNvSpPr>
            <a:spLocks noGrp="1"/>
          </p:cNvSpPr>
          <p:nvPr>
            <p:ph type="body" sz="quarter" idx="10" hasCustomPrompt="1"/>
          </p:nvPr>
        </p:nvSpPr>
        <p:spPr>
          <a:xfrm>
            <a:off x="2914650" y="4810760"/>
            <a:ext cx="6362700" cy="495300"/>
          </a:xfrm>
          <a:prstGeom prst="rect">
            <a:avLst/>
          </a:prstGeom>
        </p:spPr>
        <p:txBody>
          <a:bodyPr anchor="ctr"/>
          <a:lstStyle>
            <a:lvl1pPr marL="0" indent="0" algn="ctr">
              <a:buNone/>
              <a:defRPr lang="en-US" sz="2000" b="0" kern="1200" baseline="0" dirty="0">
                <a:solidFill>
                  <a:schemeClr val="bg1"/>
                </a:solidFill>
                <a:latin typeface="+mj-lt"/>
                <a:ea typeface="+mj-ea"/>
                <a:cs typeface="+mj-cs"/>
              </a:defRPr>
            </a:lvl1pPr>
          </a:lstStyle>
          <a:p>
            <a:pPr lvl="0"/>
            <a:r>
              <a:rPr lang="en-US" dirty="0"/>
              <a:t>SUBTITLE</a:t>
            </a:r>
          </a:p>
        </p:txBody>
      </p:sp>
      <p:sp>
        <p:nvSpPr>
          <p:cNvPr id="5" name="Rectangle 4">
            <a:extLst>
              <a:ext uri="{FF2B5EF4-FFF2-40B4-BE49-F238E27FC236}">
                <a16:creationId xmlns:a16="http://schemas.microsoft.com/office/drawing/2014/main" id="{2E38A553-5287-0E41-A5D3-E62002DC4346}"/>
              </a:ext>
            </a:extLst>
          </p:cNvPr>
          <p:cNvSpPr/>
          <p:nvPr userDrawn="1"/>
        </p:nvSpPr>
        <p:spPr>
          <a:xfrm>
            <a:off x="0" y="6693408"/>
            <a:ext cx="12192000" cy="16459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3540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C79E7-7057-AF4F-B18C-E3989117AE0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descr="A picture containing text, clipart&#10;&#10;Description automatically generated">
            <a:extLst>
              <a:ext uri="{FF2B5EF4-FFF2-40B4-BE49-F238E27FC236}">
                <a16:creationId xmlns:a16="http://schemas.microsoft.com/office/drawing/2014/main" id="{AD352FF6-569A-064D-B4B2-EF817DBEF35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72404" y="2040769"/>
            <a:ext cx="3647192" cy="1215730"/>
          </a:xfrm>
          <a:prstGeom prst="rect">
            <a:avLst/>
          </a:prstGeom>
        </p:spPr>
      </p:pic>
      <p:sp>
        <p:nvSpPr>
          <p:cNvPr id="6" name="Text Placeholder 10">
            <a:extLst>
              <a:ext uri="{FF2B5EF4-FFF2-40B4-BE49-F238E27FC236}">
                <a16:creationId xmlns:a16="http://schemas.microsoft.com/office/drawing/2014/main" id="{B3357C5F-9929-674B-BF2C-ADB33591FAA9}"/>
              </a:ext>
            </a:extLst>
          </p:cNvPr>
          <p:cNvSpPr>
            <a:spLocks noGrp="1"/>
          </p:cNvSpPr>
          <p:nvPr>
            <p:ph type="body" sz="quarter" idx="10" hasCustomPrompt="1"/>
          </p:nvPr>
        </p:nvSpPr>
        <p:spPr>
          <a:xfrm>
            <a:off x="2914650" y="5049618"/>
            <a:ext cx="6362700" cy="495300"/>
          </a:xfrm>
          <a:prstGeom prst="rect">
            <a:avLst/>
          </a:prstGeom>
        </p:spPr>
        <p:txBody>
          <a:bodyPr anchor="ctr"/>
          <a:lstStyle>
            <a:lvl1pPr marL="0" indent="0" algn="ctr">
              <a:buNone/>
              <a:defRPr lang="en-US" sz="2000" b="0" kern="1200" baseline="0" dirty="0">
                <a:solidFill>
                  <a:schemeClr val="accent1"/>
                </a:solidFill>
                <a:latin typeface="+mj-lt"/>
                <a:ea typeface="+mj-ea"/>
                <a:cs typeface="+mj-cs"/>
              </a:defRPr>
            </a:lvl1pPr>
          </a:lstStyle>
          <a:p>
            <a:pPr lvl="0"/>
            <a:r>
              <a:rPr lang="en-US" dirty="0"/>
              <a:t>SUBTITLE</a:t>
            </a:r>
          </a:p>
        </p:txBody>
      </p:sp>
    </p:spTree>
    <p:extLst>
      <p:ext uri="{BB962C8B-B14F-4D97-AF65-F5344CB8AC3E}">
        <p14:creationId xmlns:p14="http://schemas.microsoft.com/office/powerpoint/2010/main" val="268732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7AE9F9-2984-204C-B427-379965A9AAF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p:cNvSpPr>
            <a:spLocks noGrp="1"/>
          </p:cNvSpPr>
          <p:nvPr>
            <p:ph type="title"/>
          </p:nvPr>
        </p:nvSpPr>
        <p:spPr>
          <a:xfrm>
            <a:off x="2914650" y="2689222"/>
            <a:ext cx="6362700" cy="640080"/>
          </a:xfrm>
          <a:prstGeom prst="rect">
            <a:avLst/>
          </a:prstGeom>
        </p:spPr>
        <p:txBody>
          <a:bodyPr wrap="none" lIns="0" rIns="0" anchor="ctr">
            <a:noAutofit/>
          </a:bodyPr>
          <a:lstStyle>
            <a:lvl1pPr marL="0" algn="ctr" defTabSz="914400" rtl="0" eaLnBrk="1" latinLnBrk="0" hangingPunct="1">
              <a:lnSpc>
                <a:spcPct val="100000"/>
              </a:lnSpc>
              <a:spcBef>
                <a:spcPct val="0"/>
              </a:spcBef>
              <a:buNone/>
              <a:defRPr lang="en-US" sz="3600" b="0" kern="1200" baseline="0" dirty="0">
                <a:solidFill>
                  <a:schemeClr val="bg1"/>
                </a:solidFill>
                <a:latin typeface="+mn-lt"/>
                <a:ea typeface="+mj-ea"/>
                <a:cs typeface="+mj-cs"/>
              </a:defRPr>
            </a:lvl1pPr>
          </a:lstStyle>
          <a:p>
            <a:r>
              <a:rPr lang="en-US"/>
              <a:t>Click to edit Master title style</a:t>
            </a:r>
            <a:endParaRPr lang="en-US" dirty="0"/>
          </a:p>
        </p:txBody>
      </p:sp>
      <p:sp>
        <p:nvSpPr>
          <p:cNvPr id="11" name="Text Placeholder 10"/>
          <p:cNvSpPr>
            <a:spLocks noGrp="1"/>
          </p:cNvSpPr>
          <p:nvPr>
            <p:ph type="body" sz="quarter" idx="10" hasCustomPrompt="1"/>
          </p:nvPr>
        </p:nvSpPr>
        <p:spPr>
          <a:xfrm>
            <a:off x="2914650" y="3545210"/>
            <a:ext cx="6362700" cy="495300"/>
          </a:xfrm>
          <a:prstGeom prst="rect">
            <a:avLst/>
          </a:prstGeom>
        </p:spPr>
        <p:txBody>
          <a:bodyPr anchor="ctr"/>
          <a:lstStyle>
            <a:lvl1pPr marL="0" indent="0" algn="ctr">
              <a:buNone/>
              <a:defRPr lang="en-US" sz="2000" b="0" kern="1200" baseline="0" dirty="0">
                <a:solidFill>
                  <a:schemeClr val="bg1"/>
                </a:solidFill>
                <a:latin typeface="+mj-lt"/>
                <a:ea typeface="+mj-ea"/>
                <a:cs typeface="+mj-cs"/>
              </a:defRPr>
            </a:lvl1pPr>
          </a:lstStyle>
          <a:p>
            <a:pPr lvl="0"/>
            <a:r>
              <a:rPr lang="en-US" dirty="0"/>
              <a:t>Subtitle</a:t>
            </a:r>
          </a:p>
        </p:txBody>
      </p:sp>
      <p:pic>
        <p:nvPicPr>
          <p:cNvPr id="6" name="Picture 5">
            <a:extLst>
              <a:ext uri="{FF2B5EF4-FFF2-40B4-BE49-F238E27FC236}">
                <a16:creationId xmlns:a16="http://schemas.microsoft.com/office/drawing/2014/main" id="{6B5C9036-2210-6142-BFDC-7BFE83F361D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spTree>
    <p:extLst>
      <p:ext uri="{BB962C8B-B14F-4D97-AF65-F5344CB8AC3E}">
        <p14:creationId xmlns:p14="http://schemas.microsoft.com/office/powerpoint/2010/main" val="2964261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 Pag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B9BD612-3813-FB4E-865F-FADE0BC7F8B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8" name="Title 7"/>
          <p:cNvSpPr>
            <a:spLocks noGrp="1"/>
          </p:cNvSpPr>
          <p:nvPr>
            <p:ph type="title"/>
          </p:nvPr>
        </p:nvSpPr>
        <p:spPr>
          <a:xfrm>
            <a:off x="2914650" y="3108960"/>
            <a:ext cx="6362700" cy="640080"/>
          </a:xfrm>
          <a:prstGeom prst="rect">
            <a:avLst/>
          </a:prstGeom>
        </p:spPr>
        <p:txBody>
          <a:bodyPr wrap="none" lIns="0" rIns="0" anchor="ctr">
            <a:noAutofit/>
          </a:bodyPr>
          <a:lstStyle>
            <a:lvl1pPr marL="0" algn="ctr" defTabSz="914400" rtl="0" eaLnBrk="1" latinLnBrk="0" hangingPunct="1">
              <a:lnSpc>
                <a:spcPct val="100000"/>
              </a:lnSpc>
              <a:spcBef>
                <a:spcPct val="0"/>
              </a:spcBef>
              <a:buNone/>
              <a:defRPr lang="en-US" sz="3600" b="0" kern="1200" baseline="0" dirty="0">
                <a:solidFill>
                  <a:schemeClr val="bg1"/>
                </a:solidFill>
                <a:latin typeface="+mn-lt"/>
                <a:ea typeface="+mj-ea"/>
                <a:cs typeface="+mj-cs"/>
              </a:defRPr>
            </a:lvl1pPr>
          </a:lstStyle>
          <a:p>
            <a:r>
              <a:rPr lang="en-US"/>
              <a:t>Click to edit Master title style</a:t>
            </a:r>
            <a:endParaRPr lang="en-US" dirty="0"/>
          </a:p>
        </p:txBody>
      </p:sp>
      <p:pic>
        <p:nvPicPr>
          <p:cNvPr id="5" name="Picture 4">
            <a:extLst>
              <a:ext uri="{FF2B5EF4-FFF2-40B4-BE49-F238E27FC236}">
                <a16:creationId xmlns:a16="http://schemas.microsoft.com/office/drawing/2014/main" id="{B1117FC5-AAA0-1041-BC24-5CE254DB526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2079294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B580F0-627E-BF4F-9A0F-3D79B602984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0BDA3B51-831E-2940-8D2F-6C33370C7922}"/>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p:cNvSpPr>
            <a:spLocks noGrp="1"/>
          </p:cNvSpPr>
          <p:nvPr userDrawn="1">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Slide Number Placeholder 2"/>
          <p:cNvSpPr>
            <a:spLocks noGrp="1"/>
          </p:cNvSpPr>
          <p:nvPr userDrawn="1">
            <p:ph type="sldNum" sz="quarter" idx="4"/>
          </p:nvPr>
        </p:nvSpPr>
        <p:spPr>
          <a:xfrm>
            <a:off x="168365" y="6457950"/>
            <a:ext cx="703943" cy="365125"/>
          </a:xfrm>
          <a:prstGeom prst="rect">
            <a:avLst/>
          </a:prstGeom>
        </p:spPr>
        <p:txBody>
          <a:bodyPr vert="horz" lIns="0" tIns="45720" rIns="0" bIns="45720" rtlCol="0" anchor="ctr"/>
          <a:lstStyle>
            <a:lvl1pPr algn="l">
              <a:defRPr sz="1050">
                <a:solidFill>
                  <a:schemeClr val="bg1"/>
                </a:solidFill>
                <a:latin typeface="+mj-lt"/>
              </a:defRPr>
            </a:lvl1pPr>
          </a:lstStyle>
          <a:p>
            <a:fld id="{46616483-2A41-4A20-BD01-F9E46BA69A42}" type="slidenum">
              <a:rPr lang="en-US" smtClean="0"/>
              <a:pPr/>
              <a:t>‹#›</a:t>
            </a:fld>
            <a:endParaRPr lang="en-US" dirty="0"/>
          </a:p>
        </p:txBody>
      </p:sp>
      <p:pic>
        <p:nvPicPr>
          <p:cNvPr id="7" name="Picture 6">
            <a:extLst>
              <a:ext uri="{FF2B5EF4-FFF2-40B4-BE49-F238E27FC236}">
                <a16:creationId xmlns:a16="http://schemas.microsoft.com/office/drawing/2014/main" id="{C22189A4-037B-0845-B243-1FE144E511BB}"/>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3180037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B5EA7B4-D03C-0542-BDFA-C3169458B7F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A452CB39-3423-8046-836D-596E398D1F5C}"/>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pPr/>
              <a:t>‹#›</a:t>
            </a:fld>
            <a:endParaRPr lang="en-US" dirty="0"/>
          </a:p>
        </p:txBody>
      </p:sp>
      <p:sp>
        <p:nvSpPr>
          <p:cNvPr id="8" name="Title 7"/>
          <p:cNvSpPr>
            <a:spLocks noGrp="1"/>
          </p:cNvSpPr>
          <p:nvPr userDrawn="1">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userDrawn="1">
            <p:ph type="body" sz="quarter" idx="10"/>
          </p:nvPr>
        </p:nvSpPr>
        <p:spPr>
          <a:xfrm>
            <a:off x="314552" y="1147989"/>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FC85A651-D2E5-C340-A433-6D68EFF231A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478302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520336" y="64833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Slide Number Placeholder 2"/>
          <p:cNvSpPr>
            <a:spLocks noGrp="1"/>
          </p:cNvSpPr>
          <p:nvPr>
            <p:ph type="sldNum" sz="quarter" idx="4"/>
          </p:nvPr>
        </p:nvSpPr>
        <p:spPr>
          <a:xfrm>
            <a:off x="168365" y="6457950"/>
            <a:ext cx="703943" cy="365125"/>
          </a:xfrm>
          <a:prstGeom prst="rect">
            <a:avLst/>
          </a:prstGeom>
        </p:spPr>
        <p:txBody>
          <a:bodyPr vert="horz" lIns="0" tIns="45720" rIns="0" bIns="45720" rtlCol="0" anchor="ctr"/>
          <a:lstStyle>
            <a:lvl1pPr algn="l">
              <a:defRPr sz="1050">
                <a:solidFill>
                  <a:schemeClr val="accent1"/>
                </a:solidFill>
                <a:latin typeface="+mj-lt"/>
              </a:defRPr>
            </a:lvl1pPr>
          </a:lstStyle>
          <a:p>
            <a:fld id="{46616483-2A41-4A20-BD01-F9E46BA69A42}" type="slidenum">
              <a:rPr lang="en-US" smtClean="0"/>
              <a:pPr/>
              <a:t>‹#›</a:t>
            </a:fld>
            <a:endParaRPr lang="en-US" dirty="0"/>
          </a:p>
        </p:txBody>
      </p:sp>
      <p:pic>
        <p:nvPicPr>
          <p:cNvPr id="6" name="Picture 5">
            <a:extLst>
              <a:ext uri="{FF2B5EF4-FFF2-40B4-BE49-F238E27FC236}">
                <a16:creationId xmlns:a16="http://schemas.microsoft.com/office/drawing/2014/main" id="{9A60F511-5604-4848-B430-C09C849A147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pic>
        <p:nvPicPr>
          <p:cNvPr id="9" name="Picture 8">
            <a:extLst>
              <a:ext uri="{FF2B5EF4-FFF2-40B4-BE49-F238E27FC236}">
                <a16:creationId xmlns:a16="http://schemas.microsoft.com/office/drawing/2014/main" id="{D26BE787-5CAB-924F-9402-77E03E56C3A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10" name="Rectangle 9">
            <a:extLst>
              <a:ext uri="{FF2B5EF4-FFF2-40B4-BE49-F238E27FC236}">
                <a16:creationId xmlns:a16="http://schemas.microsoft.com/office/drawing/2014/main" id="{F7AE919E-F3E3-614F-B830-39BA0FFE7B16}"/>
              </a:ext>
            </a:extLst>
          </p:cNvPr>
          <p:cNvSpPr/>
          <p:nvPr userDrawn="1"/>
        </p:nvSpPr>
        <p:spPr>
          <a:xfrm rot="10800000" flipH="1">
            <a:off x="0" y="1"/>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7824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solidFill>
                  <a:schemeClr val="accent1"/>
                </a:solidFill>
              </a:rPr>
              <a:pPr/>
              <a:t>‹#›</a:t>
            </a:fld>
            <a:endParaRPr lang="en-US" dirty="0">
              <a:solidFill>
                <a:schemeClr val="accent1"/>
              </a:solidFill>
            </a:endParaRPr>
          </a:p>
        </p:txBody>
      </p:sp>
      <p:sp>
        <p:nvSpPr>
          <p:cNvPr id="8" name="Title 7"/>
          <p:cNvSpPr>
            <a:spLocks noGrp="1"/>
          </p:cNvSpPr>
          <p:nvPr>
            <p:ph type="title"/>
          </p:nvPr>
        </p:nvSpPr>
        <p:spPr>
          <a:xfrm>
            <a:off x="520336" y="958092"/>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sz="quarter" idx="10"/>
          </p:nvPr>
        </p:nvSpPr>
        <p:spPr>
          <a:xfrm>
            <a:off x="520336" y="1772708"/>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218B1814-8187-604F-BB35-1ED23A564EF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pic>
        <p:nvPicPr>
          <p:cNvPr id="12" name="Picture 11">
            <a:extLst>
              <a:ext uri="{FF2B5EF4-FFF2-40B4-BE49-F238E27FC236}">
                <a16:creationId xmlns:a16="http://schemas.microsoft.com/office/drawing/2014/main" id="{F5F483BD-9067-A74B-9DE3-D4DBAEC41D4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13" name="Rectangle 12">
            <a:extLst>
              <a:ext uri="{FF2B5EF4-FFF2-40B4-BE49-F238E27FC236}">
                <a16:creationId xmlns:a16="http://schemas.microsoft.com/office/drawing/2014/main" id="{B641A0E5-B6BB-5A4E-A439-D3DE43390EB0}"/>
              </a:ext>
            </a:extLst>
          </p:cNvPr>
          <p:cNvSpPr/>
          <p:nvPr userDrawn="1"/>
        </p:nvSpPr>
        <p:spPr>
          <a:xfrm rot="10800000" flipH="1">
            <a:off x="0" y="1"/>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8963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3303BC2-BE3B-E74E-8F32-DC9FE778E313}"/>
              </a:ext>
            </a:extLst>
          </p:cNvPr>
          <p:cNvSpPr/>
          <p:nvPr userDrawn="1"/>
        </p:nvSpPr>
        <p:spPr>
          <a:xfrm>
            <a:off x="0" y="6135624"/>
            <a:ext cx="12192000" cy="722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pPr/>
              <a:t>‹#›</a:t>
            </a:fld>
            <a:endParaRPr lang="en-US" dirty="0"/>
          </a:p>
        </p:txBody>
      </p:sp>
      <p:sp>
        <p:nvSpPr>
          <p:cNvPr id="8" name="Title 7"/>
          <p:cNvSpPr>
            <a:spLocks noGrp="1"/>
          </p:cNvSpPr>
          <p:nvPr>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sz="quarter" idx="10"/>
          </p:nvPr>
        </p:nvSpPr>
        <p:spPr>
          <a:xfrm>
            <a:off x="314552" y="1147989"/>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B2380843-F36E-1949-B9A3-F9B0FEC10BA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
        <p:nvSpPr>
          <p:cNvPr id="2" name="Rectangle 1">
            <a:extLst>
              <a:ext uri="{FF2B5EF4-FFF2-40B4-BE49-F238E27FC236}">
                <a16:creationId xmlns:a16="http://schemas.microsoft.com/office/drawing/2014/main" id="{55439FC3-82D0-864B-805C-6103C617B7B8}"/>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4855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3_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857"/>
            <a:ext cx="12188952" cy="6856285"/>
          </a:xfrm>
          <a:prstGeom prst="rect">
            <a:avLst/>
          </a:prstGeom>
        </p:spPr>
      </p:pic>
      <p:pic>
        <p:nvPicPr>
          <p:cNvPr id="4" name="Picture 3" descr="Logo&#10;&#10;Description automatically generated">
            <a:extLst>
              <a:ext uri="{FF2B5EF4-FFF2-40B4-BE49-F238E27FC236}">
                <a16:creationId xmlns:a16="http://schemas.microsoft.com/office/drawing/2014/main" id="{05EB7333-1EA9-C143-81E6-31F92E2FBCA8}"/>
              </a:ext>
            </a:extLst>
          </p:cNvPr>
          <p:cNvPicPr>
            <a:picLocks noChangeAspect="1"/>
          </p:cNvPicPr>
          <p:nvPr userDrawn="1"/>
        </p:nvPicPr>
        <p:blipFill>
          <a:blip r:embed="rId3"/>
          <a:stretch>
            <a:fillRect/>
          </a:stretch>
        </p:blipFill>
        <p:spPr>
          <a:xfrm>
            <a:off x="3321719" y="2947779"/>
            <a:ext cx="2881826" cy="962442"/>
          </a:xfrm>
          <a:prstGeom prst="rect">
            <a:avLst/>
          </a:prstGeom>
        </p:spPr>
      </p:pic>
    </p:spTree>
    <p:extLst>
      <p:ext uri="{BB962C8B-B14F-4D97-AF65-F5344CB8AC3E}">
        <p14:creationId xmlns:p14="http://schemas.microsoft.com/office/powerpoint/2010/main" val="3525518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493829" y="5791200"/>
            <a:ext cx="1416269" cy="474787"/>
          </a:xfrm>
          <a:prstGeom prst="rect">
            <a:avLst/>
          </a:prstGeom>
        </p:spPr>
      </p:pic>
      <p:sp>
        <p:nvSpPr>
          <p:cNvPr id="2" name="Title Placeholder 1"/>
          <p:cNvSpPr>
            <a:spLocks noGrp="1"/>
          </p:cNvSpPr>
          <p:nvPr>
            <p:ph type="title"/>
          </p:nvPr>
        </p:nvSpPr>
        <p:spPr>
          <a:xfrm>
            <a:off x="314552" y="333373"/>
            <a:ext cx="9253728" cy="466344"/>
          </a:xfrm>
          <a:prstGeom prst="rect">
            <a:avLst/>
          </a:prstGeom>
        </p:spPr>
        <p:txBody>
          <a:bodyPr vert="horz" lIns="0" tIns="0" rIns="0" bIns="0" rtlCol="0" anchor="ctr">
            <a:normAutofit/>
          </a:bodyPr>
          <a:lstStyle/>
          <a:p>
            <a:r>
              <a:rPr lang="en-US"/>
              <a:t>Click to edit Master title style</a:t>
            </a:r>
            <a:endParaRPr lang="en-US" dirty="0"/>
          </a:p>
        </p:txBody>
      </p:sp>
      <p:sp>
        <p:nvSpPr>
          <p:cNvPr id="5" name="GS Doctop Placeholder" hidden="1"/>
          <p:cNvSpPr txBox="1"/>
          <p:nvPr userDrawn="1"/>
        </p:nvSpPr>
        <p:spPr>
          <a:xfrm>
            <a:off x="546100" y="0"/>
            <a:ext cx="5651500" cy="338554"/>
          </a:xfrm>
          <a:prstGeom prst="rect">
            <a:avLst/>
          </a:prstGeom>
          <a:noFill/>
        </p:spPr>
        <p:txBody>
          <a:bodyPr vert="horz" rtlCol="0">
            <a:spAutoFit/>
          </a:bodyPr>
          <a:lstStyle/>
          <a:p>
            <a:pPr algn="l"/>
            <a:r>
              <a:rPr lang="en-US" sz="800" b="0">
                <a:latin typeface="Arial" panose="020B0604020202020204" pitchFamily="34" charset="0"/>
              </a:rPr>
              <a:t>IBDROOT\PROJECTS\IBD-NY\VISTAS2020\657440_1\Due Diligence\Presentation\Project SYMPHONY_Oboe Diligence Materials_v06.pptx</a:t>
            </a:r>
            <a:endParaRPr lang="en-US" sz="800" b="0" dirty="0">
              <a:latin typeface="Arial" panose="020B0604020202020204" pitchFamily="34" charset="0"/>
            </a:endParaRPr>
          </a:p>
        </p:txBody>
      </p:sp>
      <p:sp>
        <p:nvSpPr>
          <p:cNvPr id="9" name="Text Placeholder 8"/>
          <p:cNvSpPr>
            <a:spLocks noGrp="1"/>
          </p:cNvSpPr>
          <p:nvPr>
            <p:ph type="body" idx="1"/>
          </p:nvPr>
        </p:nvSpPr>
        <p:spPr>
          <a:xfrm>
            <a:off x="314552" y="1147989"/>
            <a:ext cx="9561286" cy="4643211"/>
          </a:xfrm>
          <a:prstGeom prst="rect">
            <a:avLst/>
          </a:prstGeom>
        </p:spPr>
        <p:txBody>
          <a:bodyPr vert="horz" lIns="0" tIns="0" rIns="0" bIns="0" rtlCol="0">
            <a:normAutofit/>
          </a:bodyPr>
          <a:lstStyle/>
          <a:p>
            <a:pPr marL="274320" lvl="0" indent="-274320" algn="l" defTabSz="914400" rtl="0" eaLnBrk="1" latinLnBrk="0" hangingPunct="1">
              <a:lnSpc>
                <a:spcPct val="100000"/>
              </a:lnSpc>
              <a:spcBef>
                <a:spcPts val="600"/>
              </a:spcBef>
              <a:spcAft>
                <a:spcPts val="600"/>
              </a:spcAft>
              <a:buFont typeface="Wingdings" panose="05000000000000000000" pitchFamily="2" charset="2"/>
              <a:buChar char="Ø"/>
            </a:pPr>
            <a:r>
              <a:rPr lang="en-US" dirty="0"/>
              <a:t>Edit Master text styles</a:t>
            </a:r>
          </a:p>
          <a:p>
            <a:pPr marL="548640" lvl="1"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pPr>
            <a:r>
              <a:rPr lang="en-US" dirty="0"/>
              <a:t>Second level</a:t>
            </a:r>
          </a:p>
          <a:p>
            <a:pPr marL="822960" lvl="2"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pPr>
            <a:r>
              <a:rPr lang="en-US" dirty="0"/>
              <a:t>Third level</a:t>
            </a:r>
          </a:p>
          <a:p>
            <a:pPr marL="1097280" lvl="3"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pPr>
            <a:r>
              <a:rPr lang="en-US" dirty="0"/>
              <a:t>Fourth level</a:t>
            </a:r>
          </a:p>
          <a:p>
            <a:pPr marL="1371600" lvl="4"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pPr>
            <a:r>
              <a:rPr lang="en-US" dirty="0"/>
              <a:t>Fifth level</a:t>
            </a:r>
          </a:p>
        </p:txBody>
      </p:sp>
      <p:sp>
        <p:nvSpPr>
          <p:cNvPr id="3" name="Slide Number Placeholder 2"/>
          <p:cNvSpPr>
            <a:spLocks noGrp="1"/>
          </p:cNvSpPr>
          <p:nvPr>
            <p:ph type="sldNum" sz="quarter" idx="4"/>
          </p:nvPr>
        </p:nvSpPr>
        <p:spPr>
          <a:xfrm>
            <a:off x="11161485" y="6356350"/>
            <a:ext cx="703943" cy="365125"/>
          </a:xfrm>
          <a:prstGeom prst="rect">
            <a:avLst/>
          </a:prstGeom>
        </p:spPr>
        <p:txBody>
          <a:bodyPr vert="horz" lIns="0" tIns="45720" rIns="0" bIns="45720" rtlCol="0" anchor="ctr"/>
          <a:lstStyle>
            <a:lvl1pPr algn="r">
              <a:defRPr sz="1200">
                <a:solidFill>
                  <a:schemeClr val="bg1"/>
                </a:solidFill>
                <a:latin typeface="+mj-lt"/>
              </a:defRPr>
            </a:lvl1pPr>
          </a:lstStyle>
          <a:p>
            <a:fld id="{46616483-2A41-4A20-BD01-F9E46BA69A42}" type="slidenum">
              <a:rPr lang="en-US" smtClean="0"/>
              <a:pPr/>
              <a:t>‹#›</a:t>
            </a:fld>
            <a:endParaRPr lang="en-US" dirty="0"/>
          </a:p>
        </p:txBody>
      </p:sp>
    </p:spTree>
    <p:extLst>
      <p:ext uri="{BB962C8B-B14F-4D97-AF65-F5344CB8AC3E}">
        <p14:creationId xmlns:p14="http://schemas.microsoft.com/office/powerpoint/2010/main" val="2845505242"/>
      </p:ext>
    </p:extLst>
  </p:cSld>
  <p:clrMap bg1="lt1" tx1="dk1" bg2="lt2" tx2="dk2" accent1="accent1" accent2="accent2" accent3="accent3" accent4="accent4" accent5="accent5" accent6="accent6" hlink="hlink" folHlink="folHlink"/>
  <p:sldLayoutIdLst>
    <p:sldLayoutId id="2147483726" r:id="rId1"/>
    <p:sldLayoutId id="2147483731" r:id="rId2"/>
    <p:sldLayoutId id="2147483727" r:id="rId3"/>
    <p:sldLayoutId id="2147483730" r:id="rId4"/>
    <p:sldLayoutId id="2147483728" r:id="rId5"/>
    <p:sldLayoutId id="2147483729" r:id="rId6"/>
    <p:sldLayoutId id="2147483732" r:id="rId7"/>
    <p:sldLayoutId id="2147483733" r:id="rId8"/>
    <p:sldLayoutId id="2147483734" r:id="rId9"/>
    <p:sldLayoutId id="2147483735" r:id="rId10"/>
  </p:sldLayoutIdLst>
  <p:hf hdr="0" ftr="0" dt="0"/>
  <p:txStyles>
    <p:title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1pPr>
      <a:lvl2pPr marL="731520" indent="-457200" algn="l" defTabSz="9144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2pPr>
      <a:lvl3pPr marL="834390" indent="-285750" algn="l" defTabSz="9144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3pPr>
      <a:lvl4pPr marL="1108710" indent="-285750" algn="l" defTabSz="9906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4pPr>
      <a:lvl5pPr marL="1440180" indent="-342900" algn="l" defTabSz="914400" rtl="0" eaLnBrk="1" latinLnBrk="0" hangingPunct="1">
        <a:lnSpc>
          <a:spcPct val="90000"/>
        </a:lnSpc>
        <a:spcBef>
          <a:spcPts val="500"/>
        </a:spcBef>
        <a:buFont typeface="Wingdings" panose="05000000000000000000" pitchFamily="2" charset="2"/>
        <a:buChar char="§"/>
        <a:defRPr lang="en-US" sz="1600" kern="1200" dirty="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3" userDrawn="1">
          <p15:clr>
            <a:srgbClr val="F26B43"/>
          </p15:clr>
        </p15:guide>
        <p15:guide id="3" orient="horz" pos="624" userDrawn="1">
          <p15:clr>
            <a:srgbClr val="F26B43"/>
          </p15:clr>
        </p15:guide>
        <p15:guide id="4" pos="6221" userDrawn="1">
          <p15:clr>
            <a:srgbClr val="F26B43"/>
          </p15:clr>
        </p15:guide>
        <p15:guide id="5" pos="189" userDrawn="1">
          <p15:clr>
            <a:srgbClr val="F26B43"/>
          </p15:clr>
        </p15:guide>
        <p15:guide id="6" orient="horz" pos="714" userDrawn="1">
          <p15:clr>
            <a:srgbClr val="F26B43"/>
          </p15:clr>
        </p15:guide>
        <p15:guide id="7" orient="horz" pos="3738" userDrawn="1">
          <p15:clr>
            <a:srgbClr val="F26B43"/>
          </p15:clr>
        </p15:guide>
        <p15:guide id="8" orient="horz" pos="36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98843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7F289D-2757-0342-BE5D-531BF0C679A0}"/>
              </a:ext>
            </a:extLst>
          </p:cNvPr>
          <p:cNvSpPr>
            <a:spLocks noGrp="1"/>
          </p:cNvSpPr>
          <p:nvPr>
            <p:ph type="body" sz="quarter" idx="10"/>
          </p:nvPr>
        </p:nvSpPr>
        <p:spPr>
          <a:xfrm>
            <a:off x="2299317" y="5049618"/>
            <a:ext cx="6978033" cy="495300"/>
          </a:xfrm>
        </p:spPr>
        <p:txBody>
          <a:bodyPr>
            <a:normAutofit/>
          </a:bodyPr>
          <a:lstStyle/>
          <a:p>
            <a:r>
              <a:rPr lang="en-IN" sz="3600" b="1" dirty="0" smtClean="0">
                <a:latin typeface="Calibri" panose="020F0502020204030204" pitchFamily="34" charset="0"/>
                <a:cs typeface="Calibri" panose="020F0502020204030204" pitchFamily="34" charset="0"/>
              </a:rPr>
              <a:t>New Technology Section</a:t>
            </a:r>
            <a:endParaRPr lang="en-US" sz="3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381898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p:txBody>
          <a:bodyPr/>
          <a:lstStyle/>
          <a:p>
            <a:r>
              <a:rPr lang="en-IN" sz="3600" b="1" dirty="0">
                <a:latin typeface="Calibri" panose="020F0502020204030204" pitchFamily="34" charset="0"/>
                <a:cs typeface="Calibri" panose="020F0502020204030204" pitchFamily="34" charset="0"/>
              </a:rPr>
              <a:t>Objectives</a:t>
            </a:r>
            <a:endParaRPr lang="en-US" sz="3600" dirty="0"/>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p:txBody>
          <a:bodyPr>
            <a:normAutofit/>
          </a:bodyPr>
          <a:lstStyle/>
          <a:p>
            <a:pPr lvl="3">
              <a:lnSpc>
                <a:spcPct val="200000"/>
              </a:lnSpc>
              <a:buFont typeface="Wingdings" panose="05000000000000000000" pitchFamily="2" charset="2"/>
              <a:buChar char="ü"/>
            </a:pPr>
            <a:r>
              <a:rPr lang="en-US" sz="2000" dirty="0" smtClean="0">
                <a:solidFill>
                  <a:srgbClr val="3A3838"/>
                </a:solidFill>
                <a:latin typeface="Calibri" panose="020F0502020204030204" pitchFamily="34" charset="0"/>
                <a:cs typeface="Calibri" panose="020F0502020204030204" pitchFamily="34" charset="0"/>
              </a:rPr>
              <a:t>Understanding New Technology Section</a:t>
            </a:r>
            <a:endParaRPr lang="en-US" sz="2000" dirty="0">
              <a:solidFill>
                <a:srgbClr val="3A3838"/>
              </a:solidFill>
              <a:latin typeface="Calibri" panose="020F0502020204030204" pitchFamily="34" charset="0"/>
              <a:cs typeface="Calibri" panose="020F0502020204030204" pitchFamily="34" charset="0"/>
            </a:endParaRPr>
          </a:p>
          <a:p>
            <a:pPr lvl="3">
              <a:lnSpc>
                <a:spcPct val="200000"/>
              </a:lnSpc>
              <a:buFont typeface="Wingdings" panose="05000000000000000000" pitchFamily="2" charset="2"/>
              <a:buChar char="ü"/>
            </a:pPr>
            <a:r>
              <a:rPr lang="en-US" sz="2000" dirty="0" smtClean="0">
                <a:solidFill>
                  <a:srgbClr val="3A3838"/>
                </a:solidFill>
                <a:latin typeface="Calibri" panose="020F0502020204030204" pitchFamily="34" charset="0"/>
                <a:cs typeface="Calibri" panose="020F0502020204030204" pitchFamily="34" charset="0"/>
              </a:rPr>
              <a:t>Clinical </a:t>
            </a:r>
            <a:r>
              <a:rPr lang="en-US" sz="2000" dirty="0">
                <a:solidFill>
                  <a:srgbClr val="3A3838"/>
                </a:solidFill>
                <a:latin typeface="Calibri" panose="020F0502020204030204" pitchFamily="34" charset="0"/>
                <a:cs typeface="Calibri" panose="020F0502020204030204" pitchFamily="34" charset="0"/>
              </a:rPr>
              <a:t>examples for better understanding</a:t>
            </a:r>
          </a:p>
          <a:p>
            <a:pPr lvl="3">
              <a:lnSpc>
                <a:spcPct val="200000"/>
              </a:lnSpc>
              <a:buFont typeface="Wingdings" panose="05000000000000000000" pitchFamily="2" charset="2"/>
              <a:buChar char="ü"/>
            </a:pPr>
            <a:r>
              <a:rPr lang="en-US" sz="2000" dirty="0">
                <a:solidFill>
                  <a:srgbClr val="3A3838"/>
                </a:solidFill>
                <a:latin typeface="Calibri" panose="020F0502020204030204" pitchFamily="34" charset="0"/>
                <a:cs typeface="Calibri" panose="020F0502020204030204" pitchFamily="34" charset="0"/>
              </a:rPr>
              <a:t>Knowledge Check  </a:t>
            </a:r>
            <a:endParaRPr lang="en-US" sz="2000" dirty="0" smtClean="0">
              <a:solidFill>
                <a:srgbClr val="3A3838"/>
              </a:solidFill>
              <a:latin typeface="Calibri" panose="020F0502020204030204" pitchFamily="34" charset="0"/>
              <a:cs typeface="Calibri" panose="020F0502020204030204" pitchFamily="34" charset="0"/>
            </a:endParaRPr>
          </a:p>
          <a:p>
            <a:pPr lvl="3">
              <a:lnSpc>
                <a:spcPct val="200000"/>
              </a:lnSpc>
              <a:buFont typeface="Wingdings" panose="05000000000000000000" pitchFamily="2" charset="2"/>
              <a:buChar char="ü"/>
            </a:pPr>
            <a:r>
              <a:rPr lang="en-US" sz="2000" dirty="0" smtClean="0">
                <a:solidFill>
                  <a:srgbClr val="3A3838"/>
                </a:solidFill>
                <a:latin typeface="Calibri" panose="020F0502020204030204" pitchFamily="34" charset="0"/>
                <a:cs typeface="Calibri" panose="020F0502020204030204" pitchFamily="34" charset="0"/>
              </a:rPr>
              <a:t>Exercises</a:t>
            </a:r>
          </a:p>
          <a:p>
            <a:pPr lvl="3">
              <a:lnSpc>
                <a:spcPct val="200000"/>
              </a:lnSpc>
              <a:buFont typeface="Wingdings" panose="05000000000000000000" pitchFamily="2" charset="2"/>
              <a:buChar char="ü"/>
            </a:pPr>
            <a:r>
              <a:rPr lang="en-US" sz="2000" dirty="0" smtClean="0">
                <a:solidFill>
                  <a:srgbClr val="3A3838"/>
                </a:solidFill>
                <a:latin typeface="Calibri" panose="020F0502020204030204" pitchFamily="34" charset="0"/>
                <a:cs typeface="Calibri" panose="020F0502020204030204" pitchFamily="34" charset="0"/>
              </a:rPr>
              <a:t>Coding Clinic</a:t>
            </a:r>
            <a:endParaRPr lang="en-US" sz="2000" dirty="0" smtClean="0">
              <a:solidFill>
                <a:srgbClr val="3A3838"/>
              </a:solidFill>
              <a:latin typeface="Calibri" panose="020F0502020204030204" pitchFamily="34" charset="0"/>
              <a:cs typeface="Calibri" panose="020F0502020204030204" pitchFamily="34" charset="0"/>
            </a:endParaRPr>
          </a:p>
          <a:p>
            <a:pPr lvl="3">
              <a:lnSpc>
                <a:spcPct val="200000"/>
              </a:lnSpc>
              <a:buFont typeface="Wingdings" panose="05000000000000000000" pitchFamily="2" charset="2"/>
              <a:buChar char="ü"/>
            </a:pPr>
            <a:endParaRPr lang="en-US" sz="2000" dirty="0" smtClean="0">
              <a:solidFill>
                <a:srgbClr val="3A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00769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a:xfrm>
            <a:off x="705394" y="333373"/>
            <a:ext cx="8859520" cy="461665"/>
          </a:xfrm>
        </p:spPr>
        <p:txBody>
          <a:bodyPr/>
          <a:lstStyle/>
          <a:p>
            <a:r>
              <a:rPr lang="en-IN" sz="3600" b="1" dirty="0" smtClean="0">
                <a:latin typeface="Calibri" panose="020F0502020204030204" pitchFamily="34" charset="0"/>
                <a:cs typeface="Calibri" panose="020F0502020204030204" pitchFamily="34" charset="0"/>
              </a:rPr>
              <a:t/>
            </a:r>
            <a:br>
              <a:rPr lang="en-IN" sz="3600" b="1" dirty="0" smtClean="0">
                <a:latin typeface="Calibri" panose="020F0502020204030204" pitchFamily="34" charset="0"/>
                <a:cs typeface="Calibri" panose="020F0502020204030204" pitchFamily="34" charset="0"/>
              </a:rPr>
            </a:br>
            <a:r>
              <a:rPr lang="en-IN" sz="3600" b="1" dirty="0" smtClean="0">
                <a:latin typeface="Calibri" panose="020F0502020204030204" pitchFamily="34" charset="0"/>
                <a:cs typeface="Calibri" panose="020F0502020204030204" pitchFamily="34" charset="0"/>
              </a:rPr>
              <a:t/>
            </a:r>
            <a:br>
              <a:rPr lang="en-IN" sz="3600" b="1" dirty="0" smtClean="0">
                <a:latin typeface="Calibri" panose="020F0502020204030204" pitchFamily="34" charset="0"/>
                <a:cs typeface="Calibri" panose="020F0502020204030204" pitchFamily="34" charset="0"/>
              </a:rPr>
            </a:br>
            <a:r>
              <a:rPr lang="en-IN" sz="3600" b="1" dirty="0" smtClean="0">
                <a:latin typeface="Calibri" panose="020F0502020204030204" pitchFamily="34" charset="0"/>
                <a:cs typeface="Calibri" panose="020F0502020204030204" pitchFamily="34" charset="0"/>
              </a:rPr>
              <a:t>New </a:t>
            </a:r>
            <a:r>
              <a:rPr lang="en-IN" sz="3600" b="1" dirty="0">
                <a:latin typeface="Calibri" panose="020F0502020204030204" pitchFamily="34" charset="0"/>
                <a:cs typeface="Calibri" panose="020F0502020204030204" pitchFamily="34" charset="0"/>
              </a:rPr>
              <a:t>Technology Section</a:t>
            </a:r>
            <a:r>
              <a:rPr lang="en-US" sz="3600" b="1" dirty="0">
                <a:latin typeface="Calibri" panose="020F0502020204030204" pitchFamily="34" charset="0"/>
                <a:cs typeface="Calibri" panose="020F0502020204030204" pitchFamily="34" charset="0"/>
              </a:rPr>
              <a:t/>
            </a:r>
            <a:br>
              <a:rPr lang="en-US" sz="3600" b="1" dirty="0">
                <a:latin typeface="Calibri" panose="020F0502020204030204" pitchFamily="34" charset="0"/>
                <a:cs typeface="Calibri" panose="020F0502020204030204" pitchFamily="34" charset="0"/>
              </a:rPr>
            </a:br>
            <a:r>
              <a:rPr lang="en-US" sz="3600" b="1" dirty="0">
                <a:latin typeface="Calibri" panose="020F0502020204030204" pitchFamily="34" charset="0"/>
                <a:cs typeface="Calibri" panose="020F0502020204030204" pitchFamily="34" charset="0"/>
              </a:rPr>
              <a:t/>
            </a:r>
            <a:br>
              <a:rPr lang="en-US" sz="3600" b="1" dirty="0">
                <a:latin typeface="Calibri" panose="020F0502020204030204" pitchFamily="34" charset="0"/>
                <a:cs typeface="Calibri" panose="020F0502020204030204" pitchFamily="34" charset="0"/>
              </a:rPr>
            </a:b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705394" y="1147989"/>
            <a:ext cx="10998926" cy="4643211"/>
          </a:xfrm>
        </p:spPr>
        <p:txBody>
          <a:bodyPr>
            <a:normAutofit/>
          </a:bodyPr>
          <a:lstStyle/>
          <a:p>
            <a:r>
              <a:rPr lang="en-US" sz="2000" dirty="0" smtClean="0">
                <a:latin typeface="Calibri" panose="020F0502020204030204" pitchFamily="34" charset="0"/>
                <a:cs typeface="Calibri" panose="020F0502020204030204" pitchFamily="34" charset="0"/>
              </a:rPr>
              <a:t>New Technology (X) is a section added to ICD-10-PCS beginning October 1, 2015.</a:t>
            </a:r>
          </a:p>
          <a:p>
            <a:r>
              <a:rPr lang="en-US" sz="2000" dirty="0" smtClean="0">
                <a:latin typeface="Calibri" panose="020F0502020204030204" pitchFamily="34" charset="0"/>
                <a:cs typeface="Calibri" panose="020F0502020204030204" pitchFamily="34" charset="0"/>
              </a:rPr>
              <a:t>This section provides a place for codes that uniquely identify procedures requested via the New Technology Application Process or that capture </a:t>
            </a:r>
            <a:r>
              <a:rPr lang="en-US" sz="2000" dirty="0" smtClean="0">
                <a:latin typeface="Calibri" panose="020F0502020204030204" pitchFamily="34" charset="0"/>
                <a:cs typeface="Calibri" panose="020F0502020204030204" pitchFamily="34" charset="0"/>
              </a:rPr>
              <a:t>other new technologies not currently classified in ICD-10-PCS. </a:t>
            </a:r>
          </a:p>
          <a:p>
            <a:r>
              <a:rPr lang="en-US" sz="2000" dirty="0" smtClean="0">
                <a:latin typeface="Calibri" panose="020F0502020204030204" pitchFamily="34" charset="0"/>
                <a:cs typeface="Calibri" panose="020F0502020204030204" pitchFamily="34" charset="0"/>
              </a:rPr>
              <a:t>Section X does not introduce any new coding concepts or unusual guidelines for correct coding. </a:t>
            </a:r>
          </a:p>
          <a:p>
            <a:r>
              <a:rPr lang="en-US" sz="2000" dirty="0" smtClean="0">
                <a:latin typeface="Calibri" panose="020F0502020204030204" pitchFamily="34" charset="0"/>
                <a:cs typeface="Calibri" panose="020F0502020204030204" pitchFamily="34" charset="0"/>
              </a:rPr>
              <a:t>The Character 7, which instead of qualifier, indicates the New Technology Group year number. </a:t>
            </a:r>
          </a:p>
          <a:p>
            <a:endParaRPr lang="en-US" sz="2000" dirty="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1457416" y="3680460"/>
            <a:ext cx="6362700" cy="1562100"/>
          </a:xfrm>
          <a:prstGeom prst="rect">
            <a:avLst/>
          </a:prstGeom>
        </p:spPr>
      </p:pic>
    </p:spTree>
    <p:extLst>
      <p:ext uri="{BB962C8B-B14F-4D97-AF65-F5344CB8AC3E}">
        <p14:creationId xmlns:p14="http://schemas.microsoft.com/office/powerpoint/2010/main" val="13974547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a:xfrm>
            <a:off x="705394" y="333374"/>
            <a:ext cx="8859520" cy="319770"/>
          </a:xfrm>
        </p:spPr>
        <p:txBody>
          <a:bodyPr/>
          <a:lstStyle/>
          <a:p>
            <a:r>
              <a:rPr lang="en-IN" sz="3600" b="1" dirty="0" smtClean="0">
                <a:latin typeface="Calibri" panose="020F0502020204030204" pitchFamily="34" charset="0"/>
                <a:cs typeface="Calibri" panose="020F0502020204030204" pitchFamily="34" charset="0"/>
              </a:rPr>
              <a:t/>
            </a:r>
            <a:br>
              <a:rPr lang="en-IN" sz="3600" b="1" dirty="0" smtClean="0">
                <a:latin typeface="Calibri" panose="020F0502020204030204" pitchFamily="34" charset="0"/>
                <a:cs typeface="Calibri" panose="020F0502020204030204" pitchFamily="34" charset="0"/>
              </a:rPr>
            </a:br>
            <a:r>
              <a:rPr lang="en-IN" sz="3600" b="1" dirty="0" smtClean="0">
                <a:latin typeface="Calibri" panose="020F0502020204030204" pitchFamily="34" charset="0"/>
                <a:cs typeface="Calibri" panose="020F0502020204030204" pitchFamily="34" charset="0"/>
              </a:rPr>
              <a:t>New </a:t>
            </a:r>
            <a:r>
              <a:rPr lang="en-IN" sz="3600" b="1" dirty="0">
                <a:latin typeface="Calibri" panose="020F0502020204030204" pitchFamily="34" charset="0"/>
                <a:cs typeface="Calibri" panose="020F0502020204030204" pitchFamily="34" charset="0"/>
              </a:rPr>
              <a:t>Technology Section</a:t>
            </a:r>
            <a:r>
              <a:rPr lang="en-US" sz="3600" b="1" dirty="0">
                <a:latin typeface="Calibri" panose="020F0502020204030204" pitchFamily="34" charset="0"/>
                <a:cs typeface="Calibri" panose="020F0502020204030204" pitchFamily="34" charset="0"/>
              </a:rPr>
              <a:t/>
            </a:r>
            <a:br>
              <a:rPr lang="en-US" sz="3600" b="1" dirty="0">
                <a:latin typeface="Calibri" panose="020F0502020204030204" pitchFamily="34" charset="0"/>
                <a:cs typeface="Calibri" panose="020F0502020204030204" pitchFamily="34" charset="0"/>
              </a:rPr>
            </a:b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705394" y="1147989"/>
            <a:ext cx="10998926" cy="4643211"/>
          </a:xfrm>
        </p:spPr>
        <p:txBody>
          <a:bodyPr>
            <a:normAutofit/>
          </a:bodyPr>
          <a:lstStyle/>
          <a:p>
            <a:r>
              <a:rPr lang="en-US" sz="2000" dirty="0" smtClean="0">
                <a:latin typeface="Calibri" panose="020F0502020204030204" pitchFamily="34" charset="0"/>
                <a:cs typeface="Calibri" panose="020F0502020204030204" pitchFamily="34" charset="0"/>
              </a:rPr>
              <a:t>New Technology (X) section codes are found by looking in the ICD-10-PCS index or by going directly to the New Technology (X) tables. In the index, the name of the new technology device, substance, or technology is included as a main term. In addition, all codes in New Technology (X) section are listed under the main term New Technology. The index entries for </a:t>
            </a:r>
            <a:r>
              <a:rPr lang="en-US" sz="2000" dirty="0" err="1" smtClean="0">
                <a:latin typeface="Calibri" panose="020F0502020204030204" pitchFamily="34" charset="0"/>
                <a:cs typeface="Calibri" panose="020F0502020204030204" pitchFamily="34" charset="0"/>
              </a:rPr>
              <a:t>ceftazidime</a:t>
            </a:r>
            <a:r>
              <a:rPr lang="en-US" sz="2000" dirty="0" smtClean="0">
                <a:latin typeface="Calibri" panose="020F0502020204030204" pitchFamily="34" charset="0"/>
                <a:cs typeface="Calibri" panose="020F0502020204030204" pitchFamily="34" charset="0"/>
              </a:rPr>
              <a:t>-avibactam are as follows: </a:t>
            </a:r>
            <a:endParaRPr lang="en-US" sz="2000" dirty="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1067979" y="2754493"/>
            <a:ext cx="4483735" cy="904875"/>
          </a:xfrm>
          <a:prstGeom prst="rect">
            <a:avLst/>
          </a:prstGeom>
        </p:spPr>
      </p:pic>
    </p:spTree>
    <p:extLst>
      <p:ext uri="{BB962C8B-B14F-4D97-AF65-F5344CB8AC3E}">
        <p14:creationId xmlns:p14="http://schemas.microsoft.com/office/powerpoint/2010/main" val="31859430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a:xfrm>
            <a:off x="705394" y="333374"/>
            <a:ext cx="8859520" cy="319770"/>
          </a:xfrm>
        </p:spPr>
        <p:txBody>
          <a:bodyPr/>
          <a:lstStyle/>
          <a:p>
            <a:r>
              <a:rPr lang="en-IN" sz="3600" b="1" dirty="0" smtClean="0">
                <a:latin typeface="Calibri" panose="020F0502020204030204" pitchFamily="34" charset="0"/>
                <a:cs typeface="Calibri" panose="020F0502020204030204" pitchFamily="34" charset="0"/>
              </a:rPr>
              <a:t/>
            </a:r>
            <a:br>
              <a:rPr lang="en-IN" sz="3600" b="1" dirty="0" smtClean="0">
                <a:latin typeface="Calibri" panose="020F0502020204030204" pitchFamily="34" charset="0"/>
                <a:cs typeface="Calibri" panose="020F0502020204030204" pitchFamily="34" charset="0"/>
              </a:rPr>
            </a:br>
            <a:r>
              <a:rPr lang="en-IN" sz="3600" b="1" dirty="0" smtClean="0">
                <a:latin typeface="Calibri" panose="020F0502020204030204" pitchFamily="34" charset="0"/>
                <a:cs typeface="Calibri" panose="020F0502020204030204" pitchFamily="34" charset="0"/>
              </a:rPr>
              <a:t>New </a:t>
            </a:r>
            <a:r>
              <a:rPr lang="en-IN" sz="3600" b="1" dirty="0">
                <a:latin typeface="Calibri" panose="020F0502020204030204" pitchFamily="34" charset="0"/>
                <a:cs typeface="Calibri" panose="020F0502020204030204" pitchFamily="34" charset="0"/>
              </a:rPr>
              <a:t>Technology Section</a:t>
            </a:r>
            <a:r>
              <a:rPr lang="en-US" sz="3600" b="1" dirty="0">
                <a:latin typeface="Calibri" panose="020F0502020204030204" pitchFamily="34" charset="0"/>
                <a:cs typeface="Calibri" panose="020F0502020204030204" pitchFamily="34" charset="0"/>
              </a:rPr>
              <a:t/>
            </a:r>
            <a:br>
              <a:rPr lang="en-US" sz="3600" b="1" dirty="0">
                <a:latin typeface="Calibri" panose="020F0502020204030204" pitchFamily="34" charset="0"/>
                <a:cs typeface="Calibri" panose="020F0502020204030204" pitchFamily="34" charset="0"/>
              </a:rPr>
            </a:b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705394" y="1147989"/>
            <a:ext cx="10998926" cy="4643211"/>
          </a:xfrm>
        </p:spPr>
        <p:txBody>
          <a:bodyPr>
            <a:normAutofit/>
          </a:bodyPr>
          <a:lstStyle/>
          <a:p>
            <a:r>
              <a:rPr lang="en-US" sz="2000" b="1" dirty="0" smtClean="0">
                <a:latin typeface="Calibri" panose="020F0502020204030204" pitchFamily="34" charset="0"/>
                <a:cs typeface="Calibri" panose="020F0502020204030204" pitchFamily="34" charset="0"/>
              </a:rPr>
              <a:t>New Technology Character Meanings</a:t>
            </a:r>
          </a:p>
          <a:p>
            <a:pPr marL="457200" indent="-457200">
              <a:buAutoNum type="arabicPeriod"/>
            </a:pPr>
            <a:r>
              <a:rPr lang="en-US" sz="2000" b="1" dirty="0" smtClean="0">
                <a:latin typeface="Calibri" panose="020F0502020204030204" pitchFamily="34" charset="0"/>
                <a:cs typeface="Calibri" panose="020F0502020204030204" pitchFamily="34" charset="0"/>
              </a:rPr>
              <a:t>Character 1: Section- Always New Technology (X)</a:t>
            </a:r>
          </a:p>
          <a:p>
            <a:pPr marL="457200" indent="-457200">
              <a:buAutoNum type="arabicPeriod"/>
            </a:pPr>
            <a:r>
              <a:rPr lang="en-US" sz="2000" b="1" dirty="0" smtClean="0">
                <a:latin typeface="Calibri" panose="020F0502020204030204" pitchFamily="34" charset="0"/>
                <a:cs typeface="Calibri" panose="020F0502020204030204" pitchFamily="34" charset="0"/>
              </a:rPr>
              <a:t>Character 2: Body System</a:t>
            </a:r>
          </a:p>
          <a:p>
            <a:pPr marL="0" indent="0">
              <a:buNone/>
            </a:pPr>
            <a:r>
              <a:rPr lang="en-US" sz="2000" dirty="0" smtClean="0">
                <a:latin typeface="Calibri" panose="020F0502020204030204" pitchFamily="34" charset="0"/>
                <a:cs typeface="Calibri" panose="020F0502020204030204" pitchFamily="34" charset="0"/>
              </a:rPr>
              <a:t>Currently there are 10 body system values:</a:t>
            </a:r>
          </a:p>
          <a:p>
            <a:pPr>
              <a:buFont typeface="Wingdings" panose="05000000000000000000" pitchFamily="2" charset="2"/>
              <a:buChar char="v"/>
            </a:pPr>
            <a:r>
              <a:rPr lang="en-US" sz="2000" dirty="0" smtClean="0">
                <a:latin typeface="Calibri" panose="020F0502020204030204" pitchFamily="34" charset="0"/>
                <a:cs typeface="Calibri" panose="020F0502020204030204" pitchFamily="34" charset="0"/>
              </a:rPr>
              <a:t>Cardiovascular System (2)</a:t>
            </a:r>
          </a:p>
          <a:p>
            <a:pPr>
              <a:buFont typeface="Wingdings" panose="05000000000000000000" pitchFamily="2" charset="2"/>
              <a:buChar char="v"/>
            </a:pPr>
            <a:r>
              <a:rPr lang="en-US" sz="2000" dirty="0" smtClean="0">
                <a:latin typeface="Calibri" panose="020F0502020204030204" pitchFamily="34" charset="0"/>
                <a:cs typeface="Calibri" panose="020F0502020204030204" pitchFamily="34" charset="0"/>
              </a:rPr>
              <a:t>Skin, Subcutaneous Tissue, Fascia and Breast (H)</a:t>
            </a:r>
          </a:p>
          <a:p>
            <a:pPr>
              <a:buFont typeface="Wingdings" panose="05000000000000000000" pitchFamily="2" charset="2"/>
              <a:buChar char="v"/>
            </a:pPr>
            <a:r>
              <a:rPr lang="en-US" sz="2000" dirty="0" smtClean="0">
                <a:latin typeface="Calibri" panose="020F0502020204030204" pitchFamily="34" charset="0"/>
                <a:cs typeface="Calibri" panose="020F0502020204030204" pitchFamily="34" charset="0"/>
              </a:rPr>
              <a:t>Muscles, Tendons, </a:t>
            </a:r>
            <a:r>
              <a:rPr lang="en-US" sz="2000" dirty="0" err="1" smtClean="0">
                <a:latin typeface="Calibri" panose="020F0502020204030204" pitchFamily="34" charset="0"/>
                <a:cs typeface="Calibri" panose="020F0502020204030204" pitchFamily="34" charset="0"/>
              </a:rPr>
              <a:t>Bursae</a:t>
            </a:r>
            <a:r>
              <a:rPr lang="en-US" sz="2000" dirty="0" smtClean="0">
                <a:latin typeface="Calibri" panose="020F0502020204030204" pitchFamily="34" charset="0"/>
                <a:cs typeface="Calibri" panose="020F0502020204030204" pitchFamily="34" charset="0"/>
              </a:rPr>
              <a:t> and Ligaments (K)</a:t>
            </a:r>
          </a:p>
          <a:p>
            <a:pPr>
              <a:buFont typeface="Wingdings" panose="05000000000000000000" pitchFamily="2" charset="2"/>
              <a:buChar char="v"/>
            </a:pPr>
            <a:r>
              <a:rPr lang="en-US" sz="2000" dirty="0" smtClean="0">
                <a:latin typeface="Calibri" panose="020F0502020204030204" pitchFamily="34" charset="0"/>
                <a:cs typeface="Calibri" panose="020F0502020204030204" pitchFamily="34" charset="0"/>
              </a:rPr>
              <a:t>Bones (N)</a:t>
            </a:r>
          </a:p>
          <a:p>
            <a:pPr>
              <a:buFont typeface="Wingdings" panose="05000000000000000000" pitchFamily="2" charset="2"/>
              <a:buChar char="v"/>
            </a:pPr>
            <a:r>
              <a:rPr lang="en-US" sz="2000" dirty="0" smtClean="0">
                <a:latin typeface="Calibri" panose="020F0502020204030204" pitchFamily="34" charset="0"/>
                <a:cs typeface="Calibri" panose="020F0502020204030204" pitchFamily="34" charset="0"/>
              </a:rPr>
              <a:t>Joints (R)</a:t>
            </a:r>
          </a:p>
          <a:p>
            <a:pPr>
              <a:buFont typeface="Wingdings" panose="05000000000000000000" pitchFamily="2" charset="2"/>
              <a:buChar char="v"/>
            </a:pPr>
            <a:r>
              <a:rPr lang="en-US" sz="2000" dirty="0" smtClean="0">
                <a:latin typeface="Calibri" panose="020F0502020204030204" pitchFamily="34" charset="0"/>
                <a:cs typeface="Calibri" panose="020F0502020204030204" pitchFamily="34" charset="0"/>
              </a:rPr>
              <a:t>Urinary System (T)</a:t>
            </a:r>
          </a:p>
          <a:p>
            <a:pPr>
              <a:buFont typeface="Wingdings" panose="05000000000000000000" pitchFamily="2" charset="2"/>
              <a:buChar char="v"/>
            </a:pPr>
            <a:endParaRPr lang="en-US" sz="2000" dirty="0" smtClean="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294234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a:xfrm>
            <a:off x="705394" y="333374"/>
            <a:ext cx="8859520" cy="319770"/>
          </a:xfrm>
        </p:spPr>
        <p:txBody>
          <a:bodyPr/>
          <a:lstStyle/>
          <a:p>
            <a:r>
              <a:rPr lang="en-IN" sz="3600" b="1" dirty="0" smtClean="0">
                <a:latin typeface="Calibri" panose="020F0502020204030204" pitchFamily="34" charset="0"/>
                <a:cs typeface="Calibri" panose="020F0502020204030204" pitchFamily="34" charset="0"/>
              </a:rPr>
              <a:t/>
            </a:r>
            <a:br>
              <a:rPr lang="en-IN" sz="3600" b="1" dirty="0" smtClean="0">
                <a:latin typeface="Calibri" panose="020F0502020204030204" pitchFamily="34" charset="0"/>
                <a:cs typeface="Calibri" panose="020F0502020204030204" pitchFamily="34" charset="0"/>
              </a:rPr>
            </a:br>
            <a:r>
              <a:rPr lang="en-IN" sz="3600" b="1" dirty="0" smtClean="0">
                <a:latin typeface="Calibri" panose="020F0502020204030204" pitchFamily="34" charset="0"/>
                <a:cs typeface="Calibri" panose="020F0502020204030204" pitchFamily="34" charset="0"/>
              </a:rPr>
              <a:t>New </a:t>
            </a:r>
            <a:r>
              <a:rPr lang="en-IN" sz="3600" b="1" dirty="0">
                <a:latin typeface="Calibri" panose="020F0502020204030204" pitchFamily="34" charset="0"/>
                <a:cs typeface="Calibri" panose="020F0502020204030204" pitchFamily="34" charset="0"/>
              </a:rPr>
              <a:t>Technology Section</a:t>
            </a:r>
            <a:r>
              <a:rPr lang="en-US" sz="3600" b="1" dirty="0">
                <a:latin typeface="Calibri" panose="020F0502020204030204" pitchFamily="34" charset="0"/>
                <a:cs typeface="Calibri" panose="020F0502020204030204" pitchFamily="34" charset="0"/>
              </a:rPr>
              <a:t/>
            </a:r>
            <a:br>
              <a:rPr lang="en-US" sz="3600" b="1" dirty="0">
                <a:latin typeface="Calibri" panose="020F0502020204030204" pitchFamily="34" charset="0"/>
                <a:cs typeface="Calibri" panose="020F0502020204030204" pitchFamily="34" charset="0"/>
              </a:rPr>
            </a:b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705394" y="1147989"/>
            <a:ext cx="10998926" cy="4643211"/>
          </a:xfrm>
        </p:spPr>
        <p:txBody>
          <a:bodyPr>
            <a:normAutofit/>
          </a:bodyPr>
          <a:lstStyle/>
          <a:p>
            <a:pPr>
              <a:buFont typeface="Wingdings" panose="05000000000000000000" pitchFamily="2" charset="2"/>
              <a:buChar char="v"/>
            </a:pPr>
            <a:r>
              <a:rPr lang="en-US" sz="2000" dirty="0" smtClean="0">
                <a:latin typeface="Calibri" panose="020F0502020204030204" pitchFamily="34" charset="0"/>
                <a:cs typeface="Calibri" panose="020F0502020204030204" pitchFamily="34" charset="0"/>
              </a:rPr>
              <a:t> Male Reproductive (V)</a:t>
            </a:r>
          </a:p>
          <a:p>
            <a:pPr>
              <a:buFont typeface="Wingdings" panose="05000000000000000000" pitchFamily="2" charset="2"/>
              <a:buChar char="v"/>
            </a:pPr>
            <a:r>
              <a:rPr lang="en-US" sz="2000" dirty="0" smtClean="0">
                <a:latin typeface="Calibri" panose="020F0502020204030204" pitchFamily="34" charset="0"/>
                <a:cs typeface="Calibri" panose="020F0502020204030204" pitchFamily="34" charset="0"/>
              </a:rPr>
              <a:t>Anatomical Regions (W)</a:t>
            </a:r>
          </a:p>
          <a:p>
            <a:pPr>
              <a:buFont typeface="Wingdings" panose="05000000000000000000" pitchFamily="2" charset="2"/>
              <a:buChar char="v"/>
            </a:pPr>
            <a:r>
              <a:rPr lang="en-US" sz="2000" dirty="0" smtClean="0">
                <a:latin typeface="Calibri" panose="020F0502020204030204" pitchFamily="34" charset="0"/>
                <a:cs typeface="Calibri" panose="020F0502020204030204" pitchFamily="34" charset="0"/>
              </a:rPr>
              <a:t>Physiological Systems (X)</a:t>
            </a:r>
          </a:p>
          <a:p>
            <a:pPr>
              <a:buFont typeface="Wingdings" panose="05000000000000000000" pitchFamily="2" charset="2"/>
              <a:buChar char="v"/>
            </a:pPr>
            <a:r>
              <a:rPr lang="en-US" sz="2000" dirty="0" smtClean="0">
                <a:latin typeface="Calibri" panose="020F0502020204030204" pitchFamily="34" charset="0"/>
                <a:cs typeface="Calibri" panose="020F0502020204030204" pitchFamily="34" charset="0"/>
              </a:rPr>
              <a:t>Extracorporeal (Y)</a:t>
            </a:r>
          </a:p>
          <a:p>
            <a:pPr>
              <a:buFont typeface="Wingdings" panose="05000000000000000000" pitchFamily="2" charset="2"/>
              <a:buChar char="v"/>
            </a:pPr>
            <a:endParaRPr lang="en-US" sz="2000" dirty="0" smtClean="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US" sz="20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872490" y="3264626"/>
            <a:ext cx="5143500" cy="1295400"/>
          </a:xfrm>
          <a:prstGeom prst="rect">
            <a:avLst/>
          </a:prstGeom>
        </p:spPr>
      </p:pic>
    </p:spTree>
    <p:extLst>
      <p:ext uri="{BB962C8B-B14F-4D97-AF65-F5344CB8AC3E}">
        <p14:creationId xmlns:p14="http://schemas.microsoft.com/office/powerpoint/2010/main" val="40703343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a:xfrm>
            <a:off x="705394" y="333374"/>
            <a:ext cx="8859520" cy="319770"/>
          </a:xfrm>
        </p:spPr>
        <p:txBody>
          <a:bodyPr/>
          <a:lstStyle/>
          <a:p>
            <a:r>
              <a:rPr lang="en-IN" sz="3600" b="1" dirty="0" smtClean="0">
                <a:latin typeface="Calibri" panose="020F0502020204030204" pitchFamily="34" charset="0"/>
                <a:cs typeface="Calibri" panose="020F0502020204030204" pitchFamily="34" charset="0"/>
              </a:rPr>
              <a:t/>
            </a:r>
            <a:br>
              <a:rPr lang="en-IN" sz="3600" b="1" dirty="0" smtClean="0">
                <a:latin typeface="Calibri" panose="020F0502020204030204" pitchFamily="34" charset="0"/>
                <a:cs typeface="Calibri" panose="020F0502020204030204" pitchFamily="34" charset="0"/>
              </a:rPr>
            </a:br>
            <a:r>
              <a:rPr lang="en-IN" sz="3600" b="1" dirty="0" smtClean="0">
                <a:latin typeface="Calibri" panose="020F0502020204030204" pitchFamily="34" charset="0"/>
                <a:cs typeface="Calibri" panose="020F0502020204030204" pitchFamily="34" charset="0"/>
              </a:rPr>
              <a:t>New </a:t>
            </a:r>
            <a:r>
              <a:rPr lang="en-IN" sz="3600" b="1" dirty="0">
                <a:latin typeface="Calibri" panose="020F0502020204030204" pitchFamily="34" charset="0"/>
                <a:cs typeface="Calibri" panose="020F0502020204030204" pitchFamily="34" charset="0"/>
              </a:rPr>
              <a:t>Technology Section</a:t>
            </a:r>
            <a:r>
              <a:rPr lang="en-US" sz="3600" b="1" dirty="0">
                <a:latin typeface="Calibri" panose="020F0502020204030204" pitchFamily="34" charset="0"/>
                <a:cs typeface="Calibri" panose="020F0502020204030204" pitchFamily="34" charset="0"/>
              </a:rPr>
              <a:t/>
            </a:r>
            <a:br>
              <a:rPr lang="en-US" sz="3600" b="1" dirty="0">
                <a:latin typeface="Calibri" panose="020F0502020204030204" pitchFamily="34" charset="0"/>
                <a:cs typeface="Calibri" panose="020F0502020204030204" pitchFamily="34" charset="0"/>
              </a:rPr>
            </a:b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705394" y="1147989"/>
            <a:ext cx="10998926" cy="4643211"/>
          </a:xfrm>
        </p:spPr>
        <p:txBody>
          <a:bodyPr>
            <a:normAutofit/>
          </a:bodyPr>
          <a:lstStyle/>
          <a:p>
            <a:r>
              <a:rPr lang="en-US" sz="2000" b="1" dirty="0" smtClean="0">
                <a:latin typeface="Calibri" panose="020F0502020204030204" pitchFamily="34" charset="0"/>
                <a:cs typeface="Calibri" panose="020F0502020204030204" pitchFamily="34" charset="0"/>
              </a:rPr>
              <a:t>Character 3: Root Operation </a:t>
            </a:r>
          </a:p>
          <a:p>
            <a:pPr marL="0" indent="0">
              <a:buNone/>
            </a:pPr>
            <a:r>
              <a:rPr lang="en-US" sz="2000" dirty="0" smtClean="0">
                <a:latin typeface="Calibri" panose="020F0502020204030204" pitchFamily="34" charset="0"/>
                <a:cs typeface="Calibri" panose="020F0502020204030204" pitchFamily="34" charset="0"/>
              </a:rPr>
              <a:t>There are 10 root operations currently-</a:t>
            </a:r>
          </a:p>
          <a:p>
            <a:pPr marL="0" indent="0">
              <a:buNone/>
            </a:pPr>
            <a:endParaRPr lang="en-US" sz="2000" b="1" dirty="0">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4846320" y="1293222"/>
            <a:ext cx="6858000" cy="4746171"/>
          </a:xfrm>
          <a:prstGeom prst="rect">
            <a:avLst/>
          </a:prstGeom>
        </p:spPr>
      </p:pic>
    </p:spTree>
    <p:extLst>
      <p:ext uri="{BB962C8B-B14F-4D97-AF65-F5344CB8AC3E}">
        <p14:creationId xmlns:p14="http://schemas.microsoft.com/office/powerpoint/2010/main" val="3039994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a:xfrm>
            <a:off x="705394" y="333374"/>
            <a:ext cx="8859520" cy="319770"/>
          </a:xfrm>
        </p:spPr>
        <p:txBody>
          <a:bodyPr/>
          <a:lstStyle/>
          <a:p>
            <a:r>
              <a:rPr lang="en-IN" sz="3600" b="1" dirty="0" smtClean="0">
                <a:latin typeface="Calibri" panose="020F0502020204030204" pitchFamily="34" charset="0"/>
                <a:cs typeface="Calibri" panose="020F0502020204030204" pitchFamily="34" charset="0"/>
              </a:rPr>
              <a:t/>
            </a:r>
            <a:br>
              <a:rPr lang="en-IN" sz="3600" b="1" dirty="0" smtClean="0">
                <a:latin typeface="Calibri" panose="020F0502020204030204" pitchFamily="34" charset="0"/>
                <a:cs typeface="Calibri" panose="020F0502020204030204" pitchFamily="34" charset="0"/>
              </a:rPr>
            </a:br>
            <a:r>
              <a:rPr lang="en-IN" sz="3600" b="1" dirty="0" smtClean="0">
                <a:latin typeface="Calibri" panose="020F0502020204030204" pitchFamily="34" charset="0"/>
                <a:cs typeface="Calibri" panose="020F0502020204030204" pitchFamily="34" charset="0"/>
              </a:rPr>
              <a:t>New </a:t>
            </a:r>
            <a:r>
              <a:rPr lang="en-IN" sz="3600" b="1" dirty="0">
                <a:latin typeface="Calibri" panose="020F0502020204030204" pitchFamily="34" charset="0"/>
                <a:cs typeface="Calibri" panose="020F0502020204030204" pitchFamily="34" charset="0"/>
              </a:rPr>
              <a:t>Technology Section</a:t>
            </a:r>
            <a:r>
              <a:rPr lang="en-US" sz="3600" b="1" dirty="0">
                <a:latin typeface="Calibri" panose="020F0502020204030204" pitchFamily="34" charset="0"/>
                <a:cs typeface="Calibri" panose="020F0502020204030204" pitchFamily="34" charset="0"/>
              </a:rPr>
              <a:t/>
            </a:r>
            <a:br>
              <a:rPr lang="en-US" sz="3600" b="1" dirty="0">
                <a:latin typeface="Calibri" panose="020F0502020204030204" pitchFamily="34" charset="0"/>
                <a:cs typeface="Calibri" panose="020F0502020204030204" pitchFamily="34" charset="0"/>
              </a:rPr>
            </a:b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705394" y="1147989"/>
            <a:ext cx="10998926" cy="4643211"/>
          </a:xfrm>
        </p:spPr>
        <p:txBody>
          <a:bodyPr>
            <a:normAutofit/>
          </a:bodyPr>
          <a:lstStyle/>
          <a:p>
            <a:r>
              <a:rPr lang="en-US" sz="2000" b="1" dirty="0" smtClean="0">
                <a:latin typeface="Calibri" panose="020F0502020204030204" pitchFamily="34" charset="0"/>
                <a:cs typeface="Calibri" panose="020F0502020204030204" pitchFamily="34" charset="0"/>
              </a:rPr>
              <a:t>Character 3: Root Operation </a:t>
            </a:r>
          </a:p>
          <a:p>
            <a:pPr marL="0" indent="0">
              <a:buNone/>
            </a:pPr>
            <a:endParaRPr lang="en-US" sz="2000" b="1" dirty="0">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2"/>
          <a:stretch>
            <a:fillRect/>
          </a:stretch>
        </p:blipFill>
        <p:spPr>
          <a:xfrm>
            <a:off x="5621110" y="352425"/>
            <a:ext cx="5626009" cy="5734866"/>
          </a:xfrm>
          <a:prstGeom prst="rect">
            <a:avLst/>
          </a:prstGeom>
        </p:spPr>
      </p:pic>
      <p:pic>
        <p:nvPicPr>
          <p:cNvPr id="7" name="Picture 6"/>
          <p:cNvPicPr>
            <a:picLocks noChangeAspect="1"/>
          </p:cNvPicPr>
          <p:nvPr/>
        </p:nvPicPr>
        <p:blipFill>
          <a:blip r:embed="rId3"/>
          <a:stretch>
            <a:fillRect/>
          </a:stretch>
        </p:blipFill>
        <p:spPr>
          <a:xfrm>
            <a:off x="156754" y="2038757"/>
            <a:ext cx="5464356" cy="1475151"/>
          </a:xfrm>
          <a:prstGeom prst="rect">
            <a:avLst/>
          </a:prstGeom>
        </p:spPr>
      </p:pic>
    </p:spTree>
    <p:extLst>
      <p:ext uri="{BB962C8B-B14F-4D97-AF65-F5344CB8AC3E}">
        <p14:creationId xmlns:p14="http://schemas.microsoft.com/office/powerpoint/2010/main" val="11446966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a:xfrm>
            <a:off x="705394" y="333374"/>
            <a:ext cx="8859520" cy="319770"/>
          </a:xfrm>
        </p:spPr>
        <p:txBody>
          <a:bodyPr/>
          <a:lstStyle/>
          <a:p>
            <a:r>
              <a:rPr lang="en-IN" sz="3600" b="1" dirty="0" smtClean="0">
                <a:latin typeface="Calibri" panose="020F0502020204030204" pitchFamily="34" charset="0"/>
                <a:cs typeface="Calibri" panose="020F0502020204030204" pitchFamily="34" charset="0"/>
              </a:rPr>
              <a:t/>
            </a:r>
            <a:br>
              <a:rPr lang="en-IN" sz="3600" b="1" dirty="0" smtClean="0">
                <a:latin typeface="Calibri" panose="020F0502020204030204" pitchFamily="34" charset="0"/>
                <a:cs typeface="Calibri" panose="020F0502020204030204" pitchFamily="34" charset="0"/>
              </a:rPr>
            </a:br>
            <a:r>
              <a:rPr lang="en-IN" sz="3600" b="1" dirty="0" smtClean="0">
                <a:latin typeface="Calibri" panose="020F0502020204030204" pitchFamily="34" charset="0"/>
                <a:cs typeface="Calibri" panose="020F0502020204030204" pitchFamily="34" charset="0"/>
              </a:rPr>
              <a:t>New </a:t>
            </a:r>
            <a:r>
              <a:rPr lang="en-IN" sz="3600" b="1" dirty="0">
                <a:latin typeface="Calibri" panose="020F0502020204030204" pitchFamily="34" charset="0"/>
                <a:cs typeface="Calibri" panose="020F0502020204030204" pitchFamily="34" charset="0"/>
              </a:rPr>
              <a:t>Technology Section</a:t>
            </a:r>
            <a:r>
              <a:rPr lang="en-US" sz="3600" b="1" dirty="0">
                <a:latin typeface="Calibri" panose="020F0502020204030204" pitchFamily="34" charset="0"/>
                <a:cs typeface="Calibri" panose="020F0502020204030204" pitchFamily="34" charset="0"/>
              </a:rPr>
              <a:t/>
            </a:r>
            <a:br>
              <a:rPr lang="en-US" sz="3600" b="1" dirty="0">
                <a:latin typeface="Calibri" panose="020F0502020204030204" pitchFamily="34" charset="0"/>
                <a:cs typeface="Calibri" panose="020F0502020204030204" pitchFamily="34" charset="0"/>
              </a:rPr>
            </a:b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705394" y="1147989"/>
            <a:ext cx="10998926" cy="4643211"/>
          </a:xfrm>
        </p:spPr>
        <p:txBody>
          <a:bodyPr>
            <a:normAutofit/>
          </a:bodyPr>
          <a:lstStyle/>
          <a:p>
            <a:r>
              <a:rPr lang="en-US" sz="2000" b="1" dirty="0" smtClean="0">
                <a:latin typeface="Calibri" panose="020F0502020204030204" pitchFamily="34" charset="0"/>
                <a:cs typeface="Calibri" panose="020F0502020204030204" pitchFamily="34" charset="0"/>
              </a:rPr>
              <a:t>Character 4: Body Part</a:t>
            </a:r>
          </a:p>
          <a:p>
            <a:pPr marL="0" indent="0">
              <a:buNone/>
            </a:pPr>
            <a:r>
              <a:rPr lang="en-US" sz="2000" dirty="0" smtClean="0">
                <a:latin typeface="Calibri" panose="020F0502020204030204" pitchFamily="34" charset="0"/>
                <a:cs typeface="Calibri" panose="020F0502020204030204" pitchFamily="34" charset="0"/>
              </a:rPr>
              <a:t>The fourth character body part values have a specific and direct relationship to the body system (character 2) value. </a:t>
            </a:r>
          </a:p>
          <a:p>
            <a:pPr marL="0" indent="0">
              <a:buNone/>
            </a:pPr>
            <a:endParaRPr lang="en-US" sz="2000" dirty="0">
              <a:latin typeface="Calibri" panose="020F0502020204030204" pitchFamily="34" charset="0"/>
              <a:cs typeface="Calibri" panose="020F0502020204030204" pitchFamily="34" charset="0"/>
            </a:endParaRPr>
          </a:p>
          <a:p>
            <a:pPr marL="0" indent="0">
              <a:buNone/>
            </a:pPr>
            <a:endParaRPr lang="en-US" sz="2000" dirty="0" smtClean="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a:p>
            <a:pPr marL="0" indent="0">
              <a:buNone/>
            </a:pPr>
            <a:endParaRPr lang="en-US" sz="2000" dirty="0" smtClean="0">
              <a:latin typeface="Calibri" panose="020F0502020204030204" pitchFamily="34" charset="0"/>
              <a:cs typeface="Calibri" panose="020F0502020204030204" pitchFamily="34" charset="0"/>
            </a:endParaRPr>
          </a:p>
          <a:p>
            <a:r>
              <a:rPr lang="en-US" sz="2000" b="1" dirty="0" smtClean="0">
                <a:latin typeface="Calibri" panose="020F0502020204030204" pitchFamily="34" charset="0"/>
                <a:cs typeface="Calibri" panose="020F0502020204030204" pitchFamily="34" charset="0"/>
              </a:rPr>
              <a:t>Character 5: Approach</a:t>
            </a:r>
          </a:p>
          <a:p>
            <a:pPr marL="0" indent="0">
              <a:buNone/>
            </a:pPr>
            <a:r>
              <a:rPr lang="en-US" sz="2000" dirty="0" smtClean="0">
                <a:latin typeface="Calibri" panose="020F0502020204030204" pitchFamily="34" charset="0"/>
                <a:cs typeface="Calibri" panose="020F0502020204030204" pitchFamily="34" charset="0"/>
              </a:rPr>
              <a:t>Currently there are 5 approach values: Open (0), percutaneous (3), Percutaneous Endoscopic (4), Via Natural or Artificial Opening Endoscopic (8), and External (X). The definitions remain the same as in the Medical and </a:t>
            </a:r>
            <a:r>
              <a:rPr lang="en-US" sz="2000" dirty="0">
                <a:latin typeface="Calibri" panose="020F0502020204030204" pitchFamily="34" charset="0"/>
                <a:cs typeface="Calibri" panose="020F0502020204030204" pitchFamily="34" charset="0"/>
              </a:rPr>
              <a:t>S</a:t>
            </a:r>
            <a:r>
              <a:rPr lang="en-US" sz="2000" dirty="0" smtClean="0">
                <a:latin typeface="Calibri" panose="020F0502020204030204" pitchFamily="34" charset="0"/>
                <a:cs typeface="Calibri" panose="020F0502020204030204" pitchFamily="34" charset="0"/>
              </a:rPr>
              <a:t>urgical Section (0)</a:t>
            </a:r>
          </a:p>
          <a:p>
            <a:pPr marL="0" indent="0">
              <a:buNone/>
            </a:pPr>
            <a:endParaRPr lang="en-US" sz="2000" b="1"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705394" y="2571205"/>
            <a:ext cx="4410075" cy="1219200"/>
          </a:xfrm>
          <a:prstGeom prst="rect">
            <a:avLst/>
          </a:prstGeom>
        </p:spPr>
      </p:pic>
    </p:spTree>
    <p:extLst>
      <p:ext uri="{BB962C8B-B14F-4D97-AF65-F5344CB8AC3E}">
        <p14:creationId xmlns:p14="http://schemas.microsoft.com/office/powerpoint/2010/main" val="10116413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a:xfrm>
            <a:off x="705394" y="333374"/>
            <a:ext cx="8859520" cy="319770"/>
          </a:xfrm>
        </p:spPr>
        <p:txBody>
          <a:bodyPr/>
          <a:lstStyle/>
          <a:p>
            <a:r>
              <a:rPr lang="en-IN" sz="3600" b="1" dirty="0" smtClean="0">
                <a:latin typeface="Calibri" panose="020F0502020204030204" pitchFamily="34" charset="0"/>
                <a:cs typeface="Calibri" panose="020F0502020204030204" pitchFamily="34" charset="0"/>
              </a:rPr>
              <a:t/>
            </a:r>
            <a:br>
              <a:rPr lang="en-IN" sz="3600" b="1" dirty="0" smtClean="0">
                <a:latin typeface="Calibri" panose="020F0502020204030204" pitchFamily="34" charset="0"/>
                <a:cs typeface="Calibri" panose="020F0502020204030204" pitchFamily="34" charset="0"/>
              </a:rPr>
            </a:br>
            <a:r>
              <a:rPr lang="en-IN" sz="3600" b="1" dirty="0" smtClean="0">
                <a:latin typeface="Calibri" panose="020F0502020204030204" pitchFamily="34" charset="0"/>
                <a:cs typeface="Calibri" panose="020F0502020204030204" pitchFamily="34" charset="0"/>
              </a:rPr>
              <a:t>New </a:t>
            </a:r>
            <a:r>
              <a:rPr lang="en-IN" sz="3600" b="1" dirty="0">
                <a:latin typeface="Calibri" panose="020F0502020204030204" pitchFamily="34" charset="0"/>
                <a:cs typeface="Calibri" panose="020F0502020204030204" pitchFamily="34" charset="0"/>
              </a:rPr>
              <a:t>Technology Section</a:t>
            </a:r>
            <a:r>
              <a:rPr lang="en-US" sz="3600" b="1" dirty="0">
                <a:latin typeface="Calibri" panose="020F0502020204030204" pitchFamily="34" charset="0"/>
                <a:cs typeface="Calibri" panose="020F0502020204030204" pitchFamily="34" charset="0"/>
              </a:rPr>
              <a:t/>
            </a:r>
            <a:br>
              <a:rPr lang="en-US" sz="3600" b="1" dirty="0">
                <a:latin typeface="Calibri" panose="020F0502020204030204" pitchFamily="34" charset="0"/>
                <a:cs typeface="Calibri" panose="020F0502020204030204" pitchFamily="34" charset="0"/>
              </a:rPr>
            </a:b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705394" y="1147989"/>
            <a:ext cx="10998926" cy="4643211"/>
          </a:xfrm>
        </p:spPr>
        <p:txBody>
          <a:bodyPr>
            <a:normAutofit/>
          </a:bodyPr>
          <a:lstStyle/>
          <a:p>
            <a:r>
              <a:rPr lang="en-US" sz="2000" b="1" dirty="0" smtClean="0">
                <a:latin typeface="Calibri" panose="020F0502020204030204" pitchFamily="34" charset="0"/>
                <a:cs typeface="Calibri" panose="020F0502020204030204" pitchFamily="34" charset="0"/>
              </a:rPr>
              <a:t>Character 6: Device/Substance/Technology	</a:t>
            </a:r>
          </a:p>
          <a:p>
            <a:pPr marL="0" indent="0">
              <a:buNone/>
            </a:pPr>
            <a:r>
              <a:rPr lang="en-US" sz="2000" dirty="0" smtClean="0">
                <a:latin typeface="Calibri" panose="020F0502020204030204" pitchFamily="34" charset="0"/>
                <a:cs typeface="Calibri" panose="020F0502020204030204" pitchFamily="34" charset="0"/>
              </a:rPr>
              <a:t>The sixth character specifies the key feature of the new technology procedure. It may be specified as a new device, a new substance, or other new technology. </a:t>
            </a:r>
          </a:p>
          <a:p>
            <a:pPr marL="0" indent="0">
              <a:buNone/>
            </a:pPr>
            <a:r>
              <a:rPr lang="en-US" sz="2000" dirty="0" smtClean="0">
                <a:latin typeface="Calibri" panose="020F0502020204030204" pitchFamily="34" charset="0"/>
                <a:cs typeface="Calibri" panose="020F0502020204030204" pitchFamily="34" charset="0"/>
              </a:rPr>
              <a:t>Some examples are-</a:t>
            </a:r>
          </a:p>
          <a:p>
            <a:pPr marL="0" indent="0">
              <a:buNone/>
            </a:pPr>
            <a:endParaRPr lang="en-US" sz="2000" dirty="0">
              <a:latin typeface="Calibri" panose="020F0502020204030204" pitchFamily="34" charset="0"/>
              <a:cs typeface="Calibri" panose="020F0502020204030204" pitchFamily="34" charset="0"/>
            </a:endParaRPr>
          </a:p>
          <a:p>
            <a:pPr marL="0" indent="0">
              <a:buNone/>
            </a:pPr>
            <a:endParaRPr lang="en-US" sz="2000" dirty="0" smtClean="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a:p>
            <a:r>
              <a:rPr lang="en-US" sz="2000" b="1" dirty="0">
                <a:latin typeface="Calibri" panose="020F0502020204030204" pitchFamily="34" charset="0"/>
                <a:cs typeface="Calibri" panose="020F0502020204030204" pitchFamily="34" charset="0"/>
              </a:rPr>
              <a:t>Character 7: Qualifier	</a:t>
            </a:r>
          </a:p>
          <a:p>
            <a:pPr marL="0" indent="0">
              <a:buNone/>
            </a:pPr>
            <a:r>
              <a:rPr lang="en-US" sz="2000" dirty="0">
                <a:latin typeface="Calibri" panose="020F0502020204030204" pitchFamily="34" charset="0"/>
                <a:cs typeface="Calibri" panose="020F0502020204030204" pitchFamily="34" charset="0"/>
              </a:rPr>
              <a:t>The seventh- character qualifier is used exclusively to specify the new technology group. </a:t>
            </a:r>
          </a:p>
          <a:p>
            <a:pPr marL="0" indent="0">
              <a:buNone/>
            </a:pPr>
            <a:endParaRPr lang="en-US" sz="2000" dirty="0" smtClean="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a:p>
            <a:pPr marL="0" indent="0">
              <a:buNone/>
            </a:pPr>
            <a:endParaRPr lang="en-US" sz="2000" dirty="0" smtClean="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a:p>
            <a:pPr marL="0" indent="0">
              <a:buNone/>
            </a:pPr>
            <a:endParaRPr lang="en-US" sz="2000" dirty="0" smtClean="0">
              <a:latin typeface="Calibri" panose="020F0502020204030204" pitchFamily="34" charset="0"/>
              <a:cs typeface="Calibri" panose="020F0502020204030204" pitchFamily="34" charset="0"/>
            </a:endParaRPr>
          </a:p>
          <a:p>
            <a:pPr marL="0" indent="0">
              <a:buNone/>
            </a:pPr>
            <a:endParaRPr lang="en-US" sz="2000" b="1" dirty="0">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2827971" y="2355669"/>
            <a:ext cx="7400245" cy="1676400"/>
          </a:xfrm>
          <a:prstGeom prst="rect">
            <a:avLst/>
          </a:prstGeom>
        </p:spPr>
      </p:pic>
    </p:spTree>
    <p:extLst>
      <p:ext uri="{BB962C8B-B14F-4D97-AF65-F5344CB8AC3E}">
        <p14:creationId xmlns:p14="http://schemas.microsoft.com/office/powerpoint/2010/main" val="31529891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a:xfrm>
            <a:off x="705394" y="333374"/>
            <a:ext cx="8859520" cy="319770"/>
          </a:xfrm>
        </p:spPr>
        <p:txBody>
          <a:bodyPr/>
          <a:lstStyle/>
          <a:p>
            <a:r>
              <a:rPr lang="en-IN" sz="3600" b="1" dirty="0" smtClean="0">
                <a:latin typeface="Calibri" panose="020F0502020204030204" pitchFamily="34" charset="0"/>
                <a:cs typeface="Calibri" panose="020F0502020204030204" pitchFamily="34" charset="0"/>
              </a:rPr>
              <a:t/>
            </a:r>
            <a:br>
              <a:rPr lang="en-IN" sz="3600" b="1" dirty="0" smtClean="0">
                <a:latin typeface="Calibri" panose="020F0502020204030204" pitchFamily="34" charset="0"/>
                <a:cs typeface="Calibri" panose="020F0502020204030204" pitchFamily="34" charset="0"/>
              </a:rPr>
            </a:br>
            <a:r>
              <a:rPr lang="en-IN" sz="3000" b="1" dirty="0">
                <a:latin typeface="Calibri" panose="020F0502020204030204" pitchFamily="34" charset="0"/>
                <a:cs typeface="Calibri" panose="020F0502020204030204" pitchFamily="34" charset="0"/>
              </a:rPr>
              <a:t>General guidelines </a:t>
            </a:r>
            <a:r>
              <a:rPr lang="en-US" sz="3600" b="1" dirty="0">
                <a:latin typeface="Calibri" panose="020F0502020204030204" pitchFamily="34" charset="0"/>
                <a:cs typeface="Calibri" panose="020F0502020204030204" pitchFamily="34" charset="0"/>
              </a:rPr>
              <a:t/>
            </a:r>
            <a:br>
              <a:rPr lang="en-US" sz="3600" b="1" dirty="0">
                <a:latin typeface="Calibri" panose="020F0502020204030204" pitchFamily="34" charset="0"/>
                <a:cs typeface="Calibri" panose="020F0502020204030204" pitchFamily="34" charset="0"/>
              </a:rPr>
            </a:b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705394" y="1147989"/>
            <a:ext cx="10998926" cy="4643211"/>
          </a:xfrm>
        </p:spPr>
        <p:txBody>
          <a:bodyPr>
            <a:noAutofit/>
          </a:bodyPr>
          <a:lstStyle/>
          <a:p>
            <a:r>
              <a:rPr lang="en-IN" sz="2000" b="1" dirty="0">
                <a:latin typeface="Calibri" panose="020F0502020204030204" pitchFamily="34" charset="0"/>
                <a:cs typeface="Calibri" panose="020F0502020204030204" pitchFamily="34" charset="0"/>
              </a:rPr>
              <a:t>E1.a </a:t>
            </a:r>
            <a:endParaRPr lang="en-IN" sz="2000" b="1" dirty="0" smtClean="0">
              <a:latin typeface="Calibri" panose="020F0502020204030204" pitchFamily="34" charset="0"/>
              <a:cs typeface="Calibri" panose="020F0502020204030204" pitchFamily="34" charset="0"/>
            </a:endParaRPr>
          </a:p>
          <a:p>
            <a:pPr marL="0" indent="0">
              <a:buNone/>
            </a:pPr>
            <a:r>
              <a:rPr lang="en-US" sz="2000" dirty="0" smtClean="0">
                <a:latin typeface="Calibri" panose="020F0502020204030204" pitchFamily="34" charset="0"/>
                <a:cs typeface="Calibri" panose="020F0502020204030204" pitchFamily="34" charset="0"/>
              </a:rPr>
              <a:t>Section </a:t>
            </a:r>
            <a:r>
              <a:rPr lang="en-US" sz="2000" dirty="0">
                <a:latin typeface="Calibri" panose="020F0502020204030204" pitchFamily="34" charset="0"/>
                <a:cs typeface="Calibri" panose="020F0502020204030204" pitchFamily="34" charset="0"/>
              </a:rPr>
              <a:t>X codes fully represent the specific procedure described in the code title, and do not require additional codes from other sections of ICD-10-PCS. </a:t>
            </a:r>
            <a:r>
              <a:rPr lang="en-US" sz="2000" dirty="0">
                <a:latin typeface="Calibri" panose="020F0502020204030204" pitchFamily="34" charset="0"/>
                <a:cs typeface="Calibri" panose="020F0502020204030204" pitchFamily="34" charset="0"/>
              </a:rPr>
              <a:t>When section X contains a code title which fully describes a specific new technology procedure, and it is the only procedure performed, only the section X code is reported for the procedure. There is no need to report an additional code in another section of ICD-10-PCS. </a:t>
            </a:r>
          </a:p>
          <a:p>
            <a:pPr marL="0" indent="0">
              <a:buNone/>
            </a:pPr>
            <a:r>
              <a:rPr lang="en-US" sz="2000" b="1" i="1" dirty="0">
                <a:latin typeface="Calibri" panose="020F0502020204030204" pitchFamily="34" charset="0"/>
                <a:cs typeface="Calibri" panose="020F0502020204030204" pitchFamily="34" charset="0"/>
              </a:rPr>
              <a:t>Example</a:t>
            </a:r>
            <a:r>
              <a:rPr lang="en-US" sz="2000" dirty="0">
                <a:latin typeface="Calibri" panose="020F0502020204030204" pitchFamily="34" charset="0"/>
                <a:cs typeface="Calibri" panose="020F0502020204030204" pitchFamily="34" charset="0"/>
              </a:rPr>
              <a:t>: XW043A6 Introduction of Cefiderocol Anti-infective into Central Vein, Percutaneous Approach, New Technology Group 6, can be coded to indicate that Cefiderocol Anti-infective was administered via a central vein. </a:t>
            </a:r>
            <a:r>
              <a:rPr lang="en-US" sz="2000" dirty="0">
                <a:latin typeface="Calibri" panose="020F0502020204030204" pitchFamily="34" charset="0"/>
                <a:cs typeface="Calibri" panose="020F0502020204030204" pitchFamily="34" charset="0"/>
              </a:rPr>
              <a:t>A separate code from table 3E0 in the Administration section of ICD-10-PCS is not coded in addition to this code. </a:t>
            </a:r>
            <a:endParaRPr lang="en-US" sz="2000" dirty="0" smtClean="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a:p>
            <a:pPr marL="0" indent="0">
              <a:buNone/>
            </a:pPr>
            <a:endParaRPr lang="en-US" sz="2000" dirty="0" smtClean="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a:p>
            <a:pPr marL="0" indent="0">
              <a:buNone/>
            </a:pPr>
            <a:endParaRPr lang="en-US" sz="2000" dirty="0" smtClean="0">
              <a:latin typeface="Calibri" panose="020F0502020204030204" pitchFamily="34" charset="0"/>
              <a:cs typeface="Calibri" panose="020F0502020204030204" pitchFamily="34" charset="0"/>
            </a:endParaRPr>
          </a:p>
          <a:p>
            <a:pPr marL="0" indent="0">
              <a:buNone/>
            </a:pPr>
            <a:endParaRPr lang="en-US" sz="2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395045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a:xfrm>
            <a:off x="705394" y="333374"/>
            <a:ext cx="8859520" cy="319770"/>
          </a:xfrm>
        </p:spPr>
        <p:txBody>
          <a:bodyPr/>
          <a:lstStyle/>
          <a:p>
            <a:r>
              <a:rPr lang="en-IN" sz="3600" b="1" dirty="0" smtClean="0">
                <a:latin typeface="Calibri" panose="020F0502020204030204" pitchFamily="34" charset="0"/>
                <a:cs typeface="Calibri" panose="020F0502020204030204" pitchFamily="34" charset="0"/>
              </a:rPr>
              <a:t/>
            </a:r>
            <a:br>
              <a:rPr lang="en-IN" sz="3600" b="1" dirty="0" smtClean="0">
                <a:latin typeface="Calibri" panose="020F0502020204030204" pitchFamily="34" charset="0"/>
                <a:cs typeface="Calibri" panose="020F0502020204030204" pitchFamily="34" charset="0"/>
              </a:rPr>
            </a:br>
            <a:r>
              <a:rPr lang="en-IN" sz="4000" b="1" dirty="0">
                <a:latin typeface="Calibri" panose="020F0502020204030204" pitchFamily="34" charset="0"/>
                <a:cs typeface="Calibri" panose="020F0502020204030204" pitchFamily="34" charset="0"/>
              </a:rPr>
              <a:t/>
            </a:r>
            <a:br>
              <a:rPr lang="en-IN" sz="4000" b="1" dirty="0">
                <a:latin typeface="Calibri" panose="020F0502020204030204" pitchFamily="34" charset="0"/>
                <a:cs typeface="Calibri" panose="020F0502020204030204" pitchFamily="34" charset="0"/>
              </a:rPr>
            </a:br>
            <a:r>
              <a:rPr lang="en-IN" sz="3600" b="1" dirty="0">
                <a:latin typeface="Calibri" panose="020F0502020204030204" pitchFamily="34" charset="0"/>
                <a:cs typeface="Calibri" panose="020F0502020204030204" pitchFamily="34" charset="0"/>
              </a:rPr>
              <a:t>General guidelines </a:t>
            </a:r>
            <a:r>
              <a:rPr lang="en-US" sz="4000" b="1" dirty="0">
                <a:latin typeface="Calibri" panose="020F0502020204030204" pitchFamily="34" charset="0"/>
                <a:cs typeface="Calibri" panose="020F0502020204030204" pitchFamily="34" charset="0"/>
              </a:rPr>
              <a:t/>
            </a:r>
            <a:br>
              <a:rPr lang="en-US" sz="4000" b="1" dirty="0">
                <a:latin typeface="Calibri" panose="020F0502020204030204" pitchFamily="34" charset="0"/>
                <a:cs typeface="Calibri" panose="020F0502020204030204" pitchFamily="34" charset="0"/>
              </a:rPr>
            </a:br>
            <a:r>
              <a:rPr lang="en-US" sz="3600" b="1" dirty="0">
                <a:latin typeface="Calibri" panose="020F0502020204030204" pitchFamily="34" charset="0"/>
                <a:cs typeface="Calibri" panose="020F0502020204030204" pitchFamily="34" charset="0"/>
              </a:rPr>
              <a:t/>
            </a:r>
            <a:br>
              <a:rPr lang="en-US" sz="3600" b="1" dirty="0">
                <a:latin typeface="Calibri" panose="020F0502020204030204" pitchFamily="34" charset="0"/>
                <a:cs typeface="Calibri" panose="020F0502020204030204" pitchFamily="34" charset="0"/>
              </a:rPr>
            </a:b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705394" y="1147989"/>
            <a:ext cx="10998926" cy="4643211"/>
          </a:xfrm>
        </p:spPr>
        <p:txBody>
          <a:bodyPr>
            <a:noAutofit/>
          </a:bodyPr>
          <a:lstStyle/>
          <a:p>
            <a:r>
              <a:rPr lang="en-IN" sz="2000" b="1" dirty="0" smtClean="0">
                <a:latin typeface="Calibri" panose="020F0502020204030204" pitchFamily="34" charset="0"/>
                <a:cs typeface="Calibri" panose="020F0502020204030204" pitchFamily="34" charset="0"/>
              </a:rPr>
              <a:t>E1.b</a:t>
            </a:r>
            <a:r>
              <a:rPr lang="en-IN" sz="2000" dirty="0" smtClean="0">
                <a:latin typeface="Calibri" panose="020F0502020204030204" pitchFamily="34" charset="0"/>
                <a:cs typeface="Calibri" panose="020F0502020204030204" pitchFamily="34" charset="0"/>
              </a:rPr>
              <a:t> </a:t>
            </a:r>
            <a:endParaRPr lang="en-IN" sz="2000" dirty="0">
              <a:latin typeface="Calibri" panose="020F0502020204030204" pitchFamily="34" charset="0"/>
              <a:cs typeface="Calibri" panose="020F0502020204030204" pitchFamily="34" charset="0"/>
            </a:endParaRPr>
          </a:p>
          <a:p>
            <a:pPr marL="0" indent="0">
              <a:buNone/>
            </a:pPr>
            <a:r>
              <a:rPr lang="en-US" sz="2000" dirty="0">
                <a:latin typeface="Calibri" panose="020F0502020204030204" pitchFamily="34" charset="0"/>
                <a:cs typeface="Calibri" panose="020F0502020204030204" pitchFamily="34" charset="0"/>
              </a:rPr>
              <a:t>When multiple procedures are performed, New Technology section X codes are coded following the multiple procedures guideline. </a:t>
            </a:r>
          </a:p>
          <a:p>
            <a:pPr marL="0" indent="0">
              <a:buNone/>
            </a:pPr>
            <a:r>
              <a:rPr lang="en-IN" sz="2000" b="1" i="1" dirty="0">
                <a:latin typeface="Calibri" panose="020F0502020204030204" pitchFamily="34" charset="0"/>
                <a:cs typeface="Calibri" panose="020F0502020204030204" pitchFamily="34" charset="0"/>
              </a:rPr>
              <a:t>Examples</a:t>
            </a:r>
            <a:r>
              <a:rPr lang="en-IN" sz="2000" dirty="0">
                <a:latin typeface="Calibri" panose="020F0502020204030204" pitchFamily="34" charset="0"/>
                <a:cs typeface="Calibri" panose="020F0502020204030204" pitchFamily="34" charset="0"/>
              </a:rPr>
              <a:t>: Dual filter cerebral embolic filtration used during transcatheter aortic valve replacement (TAVR), X2A5312 Cerebral Embolic Filtration, Dual Filter in Innominate Artery and Left Common Carotid Artery, Percutaneous Approach, New Technology Group 2, is coded for the cerebral embolic filtration, along with an ICD-10-PCS code for the TAVR procedure. </a:t>
            </a:r>
          </a:p>
          <a:p>
            <a:pPr marL="0" indent="0">
              <a:buNone/>
            </a:pPr>
            <a:r>
              <a:rPr lang="en-US" sz="2000" dirty="0">
                <a:latin typeface="Calibri" panose="020F0502020204030204" pitchFamily="34" charset="0"/>
                <a:cs typeface="Calibri" panose="020F0502020204030204" pitchFamily="34" charset="0"/>
              </a:rPr>
              <a:t>An extracorporeal flow reversal circuit for embolic neuroprotection placed during a transcarotid arterial revascularization procedure, a code from table X2A, Assistance of the Cardiovascular System is coded for the use of the extracoporeal flow reversal circuit, along with an ICD-10-PCS code for the transcarotid arterial revascularization procedure. </a:t>
            </a:r>
            <a:endParaRPr lang="en-US" sz="2000" dirty="0">
              <a:latin typeface="Calibri" panose="020F0502020204030204" pitchFamily="34" charset="0"/>
              <a:cs typeface="Calibri" panose="020F0502020204030204" pitchFamily="34" charset="0"/>
            </a:endParaRPr>
          </a:p>
          <a:p>
            <a:pPr marL="0" indent="0">
              <a:buNone/>
            </a:pPr>
            <a:endParaRPr lang="en-US" sz="2000" dirty="0" smtClean="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a:p>
            <a:pPr marL="0" indent="0">
              <a:buNone/>
            </a:pPr>
            <a:endParaRPr lang="en-US" sz="2000" dirty="0" smtClean="0">
              <a:latin typeface="Calibri" panose="020F0502020204030204" pitchFamily="34" charset="0"/>
              <a:cs typeface="Calibri" panose="020F0502020204030204" pitchFamily="34" charset="0"/>
            </a:endParaRPr>
          </a:p>
          <a:p>
            <a:pPr marL="0" indent="0">
              <a:buNone/>
            </a:pPr>
            <a:endParaRPr lang="en-US" sz="2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62215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206" y="207209"/>
            <a:ext cx="8898708" cy="406745"/>
          </a:xfrm>
        </p:spPr>
        <p:txBody>
          <a:bodyPr/>
          <a:lstStyle/>
          <a:p>
            <a:r>
              <a:rPr lang="en-IN" sz="3000" b="1" dirty="0">
                <a:latin typeface="Calibri" panose="020F0502020204030204" pitchFamily="34" charset="0"/>
                <a:cs typeface="Calibri" pitchFamily="34" charset="0"/>
              </a:rPr>
              <a:t>Clinical Example 1</a:t>
            </a:r>
            <a:endParaRPr lang="en-IN" sz="3000" dirty="0"/>
          </a:p>
        </p:txBody>
      </p:sp>
      <p:sp>
        <p:nvSpPr>
          <p:cNvPr id="3" name="Text Placeholder 2"/>
          <p:cNvSpPr>
            <a:spLocks noGrp="1"/>
          </p:cNvSpPr>
          <p:nvPr>
            <p:ph type="body" sz="quarter" idx="10"/>
          </p:nvPr>
        </p:nvSpPr>
        <p:spPr>
          <a:xfrm>
            <a:off x="666206" y="1018903"/>
            <a:ext cx="11142616" cy="4772298"/>
          </a:xfrm>
        </p:spPr>
        <p:txBody>
          <a:bodyPr>
            <a:normAutofit/>
          </a:bodyPr>
          <a:lstStyle/>
          <a:p>
            <a:r>
              <a:rPr lang="en-US" sz="2000" dirty="0" smtClean="0">
                <a:latin typeface="Calibri" panose="020F0502020204030204" pitchFamily="34" charset="0"/>
                <a:cs typeface="Calibri" panose="020F0502020204030204" pitchFamily="34" charset="0"/>
              </a:rPr>
              <a:t>Percutaneous Atherectomy of left femoral artery Calcified Lesion, using computer-aided Mechanic aspiration New Technology 7.</a:t>
            </a:r>
          </a:p>
          <a:p>
            <a:r>
              <a:rPr lang="en-US" sz="2000" b="1" dirty="0" smtClean="0">
                <a:latin typeface="Calibri" panose="020F0502020204030204" pitchFamily="34" charset="0"/>
                <a:cs typeface="Calibri" panose="020F0502020204030204" pitchFamily="34" charset="0"/>
              </a:rPr>
              <a:t>Code</a:t>
            </a:r>
            <a:r>
              <a:rPr lang="en-US" sz="2000" b="1" dirty="0">
                <a:latin typeface="Calibri" panose="020F0502020204030204" pitchFamily="34" charset="0"/>
                <a:cs typeface="Calibri" panose="020F0502020204030204" pitchFamily="34" charset="0"/>
              </a:rPr>
              <a:t>: </a:t>
            </a:r>
            <a:r>
              <a:rPr lang="en-IN" sz="2000" dirty="0">
                <a:latin typeface="Calibri" panose="020F0502020204030204" pitchFamily="34" charset="0"/>
                <a:cs typeface="Calibri" panose="020F0502020204030204" pitchFamily="34" charset="0"/>
              </a:rPr>
              <a:t>X2CT3T7 (</a:t>
            </a:r>
            <a:r>
              <a:rPr lang="en-US" sz="2000" dirty="0">
                <a:latin typeface="Calibri" panose="020F0502020204030204" pitchFamily="34" charset="0"/>
                <a:cs typeface="Calibri" panose="020F0502020204030204" pitchFamily="34" charset="0"/>
              </a:rPr>
              <a:t>Extirpation of Matter from Left Lower Extremity Artery using Computer-aided Mechanical Aspiration, Percutaneous Approach, New Technology Group 7</a:t>
            </a:r>
            <a:r>
              <a:rPr lang="en-IN" sz="2000" dirty="0">
                <a:latin typeface="Calibri" panose="020F0502020204030204" pitchFamily="34" charset="0"/>
                <a:cs typeface="Calibri" panose="020F0502020204030204" pitchFamily="34" charset="0"/>
              </a:rPr>
              <a:t>)</a:t>
            </a:r>
            <a:endParaRPr lang="en-US" sz="2000" dirty="0">
              <a:latin typeface="Calibri" panose="020F0502020204030204" pitchFamily="34" charset="0"/>
              <a:cs typeface="Calibri" panose="020F0502020204030204" pitchFamily="34" charset="0"/>
            </a:endParaRPr>
          </a:p>
          <a:p>
            <a:r>
              <a:rPr lang="en-US" sz="2000" b="1" dirty="0" smtClean="0">
                <a:latin typeface="Calibri" panose="020F0502020204030204" pitchFamily="34" charset="0"/>
                <a:cs typeface="Calibri" panose="020F0502020204030204" pitchFamily="34" charset="0"/>
              </a:rPr>
              <a:t>Coding </a:t>
            </a:r>
            <a:r>
              <a:rPr lang="en-US" sz="2000" b="1" dirty="0" smtClean="0">
                <a:latin typeface="Calibri" panose="020F0502020204030204" pitchFamily="34" charset="0"/>
                <a:cs typeface="Calibri" panose="020F0502020204030204" pitchFamily="34" charset="0"/>
              </a:rPr>
              <a:t>Navigation:</a:t>
            </a:r>
            <a:r>
              <a:rPr lang="en-US" sz="2000" dirty="0" smtClean="0">
                <a:latin typeface="Calibri" panose="020F0502020204030204" pitchFamily="34" charset="0"/>
                <a:cs typeface="Calibri" panose="020F0502020204030204" pitchFamily="34" charset="0"/>
              </a:rPr>
              <a:t>	</a:t>
            </a:r>
            <a:endParaRPr lang="en-IN" sz="2000" dirty="0">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2"/>
          <a:stretch>
            <a:fillRect/>
          </a:stretch>
        </p:blipFill>
        <p:spPr>
          <a:xfrm>
            <a:off x="3080657" y="2566035"/>
            <a:ext cx="8205652" cy="3371850"/>
          </a:xfrm>
          <a:prstGeom prst="rect">
            <a:avLst/>
          </a:prstGeom>
        </p:spPr>
      </p:pic>
    </p:spTree>
    <p:extLst>
      <p:ext uri="{BB962C8B-B14F-4D97-AF65-F5344CB8AC3E}">
        <p14:creationId xmlns:p14="http://schemas.microsoft.com/office/powerpoint/2010/main" val="27122145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206" y="333373"/>
            <a:ext cx="8898708" cy="461665"/>
          </a:xfrm>
        </p:spPr>
        <p:txBody>
          <a:bodyPr/>
          <a:lstStyle/>
          <a:p>
            <a:r>
              <a:rPr lang="en-IN" sz="3000" b="1" dirty="0">
                <a:latin typeface="Calibri" panose="020F0502020204030204" pitchFamily="34" charset="0"/>
                <a:cs typeface="Calibri" pitchFamily="34" charset="0"/>
              </a:rPr>
              <a:t>Clinical Example </a:t>
            </a:r>
            <a:r>
              <a:rPr lang="en-IN" sz="3000" b="1" dirty="0" smtClean="0">
                <a:latin typeface="Calibri" panose="020F0502020204030204" pitchFamily="34" charset="0"/>
                <a:cs typeface="Calibri" pitchFamily="34" charset="0"/>
              </a:rPr>
              <a:t>2</a:t>
            </a:r>
            <a:endParaRPr lang="en-IN" sz="3000" dirty="0"/>
          </a:p>
        </p:txBody>
      </p:sp>
      <p:sp>
        <p:nvSpPr>
          <p:cNvPr id="3" name="Text Placeholder 2"/>
          <p:cNvSpPr>
            <a:spLocks noGrp="1"/>
          </p:cNvSpPr>
          <p:nvPr>
            <p:ph type="body" sz="quarter" idx="10"/>
          </p:nvPr>
        </p:nvSpPr>
        <p:spPr>
          <a:xfrm>
            <a:off x="666206" y="1018903"/>
            <a:ext cx="11142616" cy="4772298"/>
          </a:xfrm>
        </p:spPr>
        <p:txBody>
          <a:bodyPr>
            <a:normAutofit/>
          </a:bodyPr>
          <a:lstStyle/>
          <a:p>
            <a:r>
              <a:rPr lang="en-US" sz="2000" dirty="0" smtClean="0">
                <a:latin typeface="Calibri" panose="020F0502020204030204" pitchFamily="34" charset="0"/>
                <a:cs typeface="Calibri" panose="020F0502020204030204" pitchFamily="34" charset="0"/>
              </a:rPr>
              <a:t>Infusion </a:t>
            </a:r>
            <a:r>
              <a:rPr lang="en-US" sz="2000" dirty="0">
                <a:latin typeface="Calibri" panose="020F0502020204030204" pitchFamily="34" charset="0"/>
                <a:cs typeface="Calibri" panose="020F0502020204030204" pitchFamily="34" charset="0"/>
              </a:rPr>
              <a:t>of </a:t>
            </a:r>
            <a:r>
              <a:rPr lang="en-IN" sz="2000" dirty="0" err="1">
                <a:latin typeface="Calibri" panose="020F0502020204030204" pitchFamily="34" charset="0"/>
                <a:cs typeface="Calibri" panose="020F0502020204030204" pitchFamily="34" charset="0"/>
              </a:rPr>
              <a:t>Bezlotoxumab</a:t>
            </a:r>
            <a:r>
              <a:rPr lang="en-IN" sz="2000" dirty="0">
                <a:latin typeface="Calibri" panose="020F0502020204030204" pitchFamily="34" charset="0"/>
                <a:cs typeface="Calibri" panose="020F0502020204030204" pitchFamily="34" charset="0"/>
              </a:rPr>
              <a:t> Monoclonal Antibody via Central Vein</a:t>
            </a:r>
            <a:endParaRPr lang="en-US" sz="2000" dirty="0">
              <a:latin typeface="Calibri" panose="020F0502020204030204" pitchFamily="34" charset="0"/>
              <a:cs typeface="Calibri" panose="020F0502020204030204" pitchFamily="34" charset="0"/>
            </a:endParaRPr>
          </a:p>
          <a:p>
            <a:r>
              <a:rPr lang="en-US" sz="2000" b="1" dirty="0">
                <a:latin typeface="Calibri" panose="020F0502020204030204" pitchFamily="34" charset="0"/>
                <a:cs typeface="Calibri" panose="020F0502020204030204" pitchFamily="34" charset="0"/>
              </a:rPr>
              <a:t>Code</a:t>
            </a:r>
            <a:r>
              <a:rPr lang="en-US" sz="2000" dirty="0">
                <a:latin typeface="Calibri" panose="020F0502020204030204" pitchFamily="34" charset="0"/>
                <a:cs typeface="Calibri" panose="020F0502020204030204" pitchFamily="34" charset="0"/>
              </a:rPr>
              <a:t>: </a:t>
            </a:r>
            <a:r>
              <a:rPr lang="en-IN" sz="2000" dirty="0">
                <a:latin typeface="Calibri" panose="020F0502020204030204" pitchFamily="34" charset="0"/>
                <a:cs typeface="Calibri" panose="020F0502020204030204" pitchFamily="34" charset="0"/>
              </a:rPr>
              <a:t>XW043A3 (</a:t>
            </a:r>
            <a:r>
              <a:rPr lang="en-US" sz="2000" dirty="0">
                <a:latin typeface="Calibri" panose="020F0502020204030204" pitchFamily="34" charset="0"/>
                <a:cs typeface="Calibri" panose="020F0502020204030204" pitchFamily="34" charset="0"/>
              </a:rPr>
              <a:t>Introduction of Bezlotoxumab Monoclonal Antibody into Central Vein, Percutaneous Approach, New Technology Group 3</a:t>
            </a:r>
            <a:r>
              <a:rPr lang="en-IN" sz="2000" dirty="0">
                <a:latin typeface="Calibri" panose="020F0502020204030204" pitchFamily="34" charset="0"/>
                <a:cs typeface="Calibri" panose="020F0502020204030204" pitchFamily="34" charset="0"/>
              </a:rPr>
              <a:t>)</a:t>
            </a:r>
            <a:r>
              <a:rPr lang="en-IN" sz="2000" b="1" dirty="0">
                <a:latin typeface="Calibri" panose="020F0502020204030204" pitchFamily="34" charset="0"/>
                <a:cs typeface="Calibri" panose="020F0502020204030204" pitchFamily="34" charset="0"/>
              </a:rPr>
              <a:t>	</a:t>
            </a:r>
            <a:endParaRPr lang="en-US" sz="2000" b="1" dirty="0">
              <a:latin typeface="Calibri" panose="020F0502020204030204" pitchFamily="34" charset="0"/>
              <a:cs typeface="Calibri" panose="020F0502020204030204" pitchFamily="34" charset="0"/>
            </a:endParaRPr>
          </a:p>
          <a:p>
            <a:r>
              <a:rPr lang="en-US" sz="2000" b="1" dirty="0" smtClean="0">
                <a:latin typeface="Calibri" panose="020F0502020204030204" pitchFamily="34" charset="0"/>
                <a:cs typeface="Calibri" panose="020F0502020204030204" pitchFamily="34" charset="0"/>
              </a:rPr>
              <a:t>Coding Navigation:</a:t>
            </a:r>
            <a:r>
              <a:rPr lang="en-US" sz="2000" dirty="0" smtClean="0">
                <a:latin typeface="Calibri" panose="020F0502020204030204" pitchFamily="34" charset="0"/>
                <a:cs typeface="Calibri" panose="020F0502020204030204" pitchFamily="34" charset="0"/>
              </a:rPr>
              <a:t>	</a:t>
            </a:r>
            <a:endParaRPr lang="en-IN" sz="2000" dirty="0">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3321776" y="2450918"/>
            <a:ext cx="7429500" cy="2400300"/>
          </a:xfrm>
          <a:prstGeom prst="rect">
            <a:avLst/>
          </a:prstGeom>
        </p:spPr>
      </p:pic>
      <p:pic>
        <p:nvPicPr>
          <p:cNvPr id="6" name="Picture 5"/>
          <p:cNvPicPr>
            <a:picLocks noChangeAspect="1"/>
          </p:cNvPicPr>
          <p:nvPr/>
        </p:nvPicPr>
        <p:blipFill>
          <a:blip r:embed="rId3"/>
          <a:stretch>
            <a:fillRect/>
          </a:stretch>
        </p:blipFill>
        <p:spPr>
          <a:xfrm>
            <a:off x="806767" y="5081616"/>
            <a:ext cx="8180480" cy="933450"/>
          </a:xfrm>
          <a:prstGeom prst="rect">
            <a:avLst/>
          </a:prstGeom>
        </p:spPr>
      </p:pic>
    </p:spTree>
    <p:extLst>
      <p:ext uri="{BB962C8B-B14F-4D97-AF65-F5344CB8AC3E}">
        <p14:creationId xmlns:p14="http://schemas.microsoft.com/office/powerpoint/2010/main" val="12219143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alibri" pitchFamily="34" charset="0"/>
                <a:cs typeface="Calibri" pitchFamily="34" charset="0"/>
              </a:rPr>
              <a:t>Knowledge </a:t>
            </a:r>
            <a:r>
              <a:rPr lang="en-IN" sz="3600" b="1" dirty="0" smtClean="0">
                <a:latin typeface="Calibri" pitchFamily="34" charset="0"/>
                <a:cs typeface="Calibri" pitchFamily="34" charset="0"/>
              </a:rPr>
              <a:t>Check 1 </a:t>
            </a:r>
            <a:endParaRPr lang="en-IN" sz="3600" dirty="0"/>
          </a:p>
        </p:txBody>
      </p:sp>
      <p:sp>
        <p:nvSpPr>
          <p:cNvPr id="3" name="Text Placeholder 2"/>
          <p:cNvSpPr>
            <a:spLocks noGrp="1"/>
          </p:cNvSpPr>
          <p:nvPr>
            <p:ph type="body" sz="quarter" idx="10"/>
          </p:nvPr>
        </p:nvSpPr>
        <p:spPr>
          <a:xfrm>
            <a:off x="314552" y="1147989"/>
            <a:ext cx="11559948" cy="4834800"/>
          </a:xfrm>
        </p:spPr>
        <p:txBody>
          <a:bodyPr>
            <a:normAutofit/>
          </a:bodyPr>
          <a:lstStyle/>
          <a:p>
            <a:r>
              <a:rPr lang="en-US" sz="2000" dirty="0" smtClean="0">
                <a:latin typeface="Calibri" panose="020F0502020204030204" pitchFamily="34" charset="0"/>
                <a:cs typeface="Calibri" panose="020F0502020204030204" pitchFamily="34" charset="0"/>
              </a:rPr>
              <a:t>What </a:t>
            </a:r>
            <a:r>
              <a:rPr lang="en-US" sz="2000" dirty="0">
                <a:latin typeface="Calibri" panose="020F0502020204030204" pitchFamily="34" charset="0"/>
                <a:cs typeface="Calibri" panose="020F0502020204030204" pitchFamily="34" charset="0"/>
              </a:rPr>
              <a:t>is the </a:t>
            </a:r>
            <a:r>
              <a:rPr lang="en-US" sz="2000" dirty="0">
                <a:latin typeface="Calibri" panose="020F0502020204030204" pitchFamily="34" charset="0"/>
                <a:cs typeface="Calibri" panose="020F0502020204030204" pitchFamily="34" charset="0"/>
              </a:rPr>
              <a:t>code assignment </a:t>
            </a:r>
            <a:r>
              <a:rPr lang="en-US" sz="2000" dirty="0">
                <a:latin typeface="Calibri" panose="020F0502020204030204" pitchFamily="34" charset="0"/>
                <a:cs typeface="Calibri" panose="020F0502020204030204" pitchFamily="34" charset="0"/>
              </a:rPr>
              <a:t>for infusion of Defibrotide Sodium Anticoagulant into Central Vein, New Technology Group </a:t>
            </a:r>
            <a:r>
              <a:rPr lang="en-US" sz="2000" dirty="0" smtClean="0">
                <a:latin typeface="Calibri" panose="020F0502020204030204" pitchFamily="34" charset="0"/>
                <a:cs typeface="Calibri" panose="020F0502020204030204" pitchFamily="34" charset="0"/>
              </a:rPr>
              <a:t>2?</a:t>
            </a:r>
            <a:endParaRPr lang="en-US" sz="2000" dirty="0">
              <a:latin typeface="Calibri" panose="020F0502020204030204" pitchFamily="34" charset="0"/>
              <a:cs typeface="Calibri" panose="020F0502020204030204" pitchFamily="34" charset="0"/>
            </a:endParaRPr>
          </a:p>
          <a:p>
            <a:r>
              <a:rPr lang="en-US" sz="2000" b="1" dirty="0">
                <a:latin typeface="Calibri" pitchFamily="34" charset="0"/>
                <a:cs typeface="Calibri" pitchFamily="34" charset="0"/>
              </a:rPr>
              <a:t>Codes: </a:t>
            </a:r>
            <a:r>
              <a:rPr lang="en-IN" sz="2000" dirty="0">
                <a:latin typeface="Calibri" panose="020F0502020204030204" pitchFamily="34" charset="0"/>
                <a:cs typeface="Calibri" panose="020F0502020204030204" pitchFamily="34" charset="0"/>
              </a:rPr>
              <a:t>XW04392 </a:t>
            </a:r>
            <a:r>
              <a:rPr lang="en-US" sz="2000" dirty="0">
                <a:latin typeface="Calibri" panose="020F0502020204030204" pitchFamily="34" charset="0"/>
                <a:cs typeface="Calibri" panose="020F0502020204030204" pitchFamily="34" charset="0"/>
              </a:rPr>
              <a:t>(Introduction of Defibrotide Sodium Anticoagulant into Central Vein, Percutaneous Approach, New Technology Group 2)</a:t>
            </a:r>
            <a:endParaRPr lang="en-IN" sz="2000" dirty="0">
              <a:latin typeface="Calibri" panose="020F0502020204030204" pitchFamily="34" charset="0"/>
              <a:cs typeface="Calibri" panose="020F0502020204030204" pitchFamily="34" charset="0"/>
            </a:endParaRPr>
          </a:p>
          <a:p>
            <a:pPr algn="just"/>
            <a:r>
              <a:rPr lang="en-IN" sz="2000" b="1" dirty="0" smtClean="0">
                <a:latin typeface="Calibri" pitchFamily="34" charset="0"/>
                <a:cs typeface="Calibri" pitchFamily="34" charset="0"/>
              </a:rPr>
              <a:t>Code </a:t>
            </a:r>
            <a:r>
              <a:rPr lang="en-IN" sz="2000" b="1" dirty="0">
                <a:latin typeface="Calibri" pitchFamily="34" charset="0"/>
                <a:cs typeface="Calibri" pitchFamily="34" charset="0"/>
              </a:rPr>
              <a:t>Navigation:</a:t>
            </a:r>
            <a:endParaRPr lang="en-IN" sz="2000" dirty="0">
              <a:solidFill>
                <a:srgbClr val="FF0000"/>
              </a:solidFill>
              <a:latin typeface="Calibri" panose="020F0502020204030204" pitchFamily="34" charset="0"/>
              <a:cs typeface="Calibri" panose="020F0502020204030204" pitchFamily="34" charset="0"/>
            </a:endParaRPr>
          </a:p>
          <a:p>
            <a:pPr marL="0" indent="0" algn="just">
              <a:buNone/>
            </a:pPr>
            <a:endParaRPr lang="en-US" sz="2000" dirty="0">
              <a:latin typeface="Calibri" panose="020F0502020204030204" pitchFamily="34" charset="0"/>
              <a:cs typeface="Calibri" panose="020F0502020204030204" pitchFamily="34" charset="0"/>
            </a:endParaRPr>
          </a:p>
          <a:p>
            <a:pPr marL="0" indent="0" algn="just">
              <a:buNone/>
            </a:pPr>
            <a:endParaRPr lang="en-US" sz="20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3286125" y="2782389"/>
            <a:ext cx="7791178" cy="2312125"/>
          </a:xfrm>
          <a:prstGeom prst="rect">
            <a:avLst/>
          </a:prstGeom>
        </p:spPr>
      </p:pic>
      <p:pic>
        <p:nvPicPr>
          <p:cNvPr id="6" name="Picture 5"/>
          <p:cNvPicPr>
            <a:picLocks noChangeAspect="1"/>
          </p:cNvPicPr>
          <p:nvPr/>
        </p:nvPicPr>
        <p:blipFill>
          <a:blip r:embed="rId3"/>
          <a:stretch>
            <a:fillRect/>
          </a:stretch>
        </p:blipFill>
        <p:spPr>
          <a:xfrm>
            <a:off x="1018904" y="5126764"/>
            <a:ext cx="5855016" cy="866775"/>
          </a:xfrm>
          <a:prstGeom prst="rect">
            <a:avLst/>
          </a:prstGeom>
        </p:spPr>
      </p:pic>
    </p:spTree>
    <p:extLst>
      <p:ext uri="{BB962C8B-B14F-4D97-AF65-F5344CB8AC3E}">
        <p14:creationId xmlns:p14="http://schemas.microsoft.com/office/powerpoint/2010/main" val="6472193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Calibri" pitchFamily="34" charset="0"/>
                <a:cs typeface="Calibri" pitchFamily="34" charset="0"/>
              </a:rPr>
              <a:t>Knowledge </a:t>
            </a:r>
            <a:r>
              <a:rPr lang="en-IN" sz="3600" b="1" dirty="0" smtClean="0">
                <a:latin typeface="Calibri" pitchFamily="34" charset="0"/>
                <a:cs typeface="Calibri" pitchFamily="34" charset="0"/>
              </a:rPr>
              <a:t>Check 2 </a:t>
            </a:r>
            <a:endParaRPr lang="en-IN" sz="3600" dirty="0"/>
          </a:p>
        </p:txBody>
      </p:sp>
      <p:sp>
        <p:nvSpPr>
          <p:cNvPr id="3" name="Text Placeholder 2"/>
          <p:cNvSpPr>
            <a:spLocks noGrp="1"/>
          </p:cNvSpPr>
          <p:nvPr>
            <p:ph type="body" sz="quarter" idx="10"/>
          </p:nvPr>
        </p:nvSpPr>
        <p:spPr>
          <a:xfrm>
            <a:off x="314552" y="966651"/>
            <a:ext cx="11369448" cy="4951368"/>
          </a:xfrm>
        </p:spPr>
        <p:txBody>
          <a:bodyPr>
            <a:noAutofit/>
          </a:bodyPr>
          <a:lstStyle/>
          <a:p>
            <a:r>
              <a:rPr lang="en-US" sz="2000" dirty="0" smtClean="0">
                <a:latin typeface="Calibri" panose="020F0502020204030204" pitchFamily="34" charset="0"/>
                <a:cs typeface="Calibri" panose="020F0502020204030204" pitchFamily="34" charset="0"/>
              </a:rPr>
              <a:t>What </a:t>
            </a:r>
            <a:r>
              <a:rPr lang="en-US" sz="2000" dirty="0">
                <a:latin typeface="Calibri" panose="020F0502020204030204" pitchFamily="34" charset="0"/>
                <a:cs typeface="Calibri" panose="020F0502020204030204" pitchFamily="34" charset="0"/>
              </a:rPr>
              <a:t>is </a:t>
            </a:r>
            <a:r>
              <a:rPr lang="en-US" sz="2000" dirty="0">
                <a:latin typeface="Calibri" panose="020F0502020204030204" pitchFamily="34" charset="0"/>
                <a:cs typeface="Calibri" panose="020F0502020204030204" pitchFamily="34" charset="0"/>
              </a:rPr>
              <a:t>the code assignment </a:t>
            </a:r>
            <a:r>
              <a:rPr lang="en-US" sz="2000" dirty="0">
                <a:latin typeface="Calibri" panose="020F0502020204030204" pitchFamily="34" charset="0"/>
                <a:cs typeface="Calibri" panose="020F0502020204030204" pitchFamily="34" charset="0"/>
              </a:rPr>
              <a:t>for open insertion of Ellipse </a:t>
            </a:r>
            <a:r>
              <a:rPr lang="en-US" sz="2000" dirty="0" err="1">
                <a:latin typeface="Calibri" panose="020F0502020204030204" pitchFamily="34" charset="0"/>
                <a:cs typeface="Calibri" panose="020F0502020204030204" pitchFamily="34" charset="0"/>
              </a:rPr>
              <a:t>Magec</a:t>
            </a:r>
            <a:r>
              <a:rPr lang="en-US" sz="2000" dirty="0">
                <a:latin typeface="Calibri" panose="020F0502020204030204" pitchFamily="34" charset="0"/>
                <a:cs typeface="Calibri" panose="020F0502020204030204" pitchFamily="34" charset="0"/>
              </a:rPr>
              <a:t> system into Lumbar vertebra to correct Scoliosis?</a:t>
            </a:r>
            <a:endParaRPr lang="en-US" sz="2000" dirty="0">
              <a:latin typeface="Calibri" panose="020F0502020204030204" pitchFamily="34" charset="0"/>
              <a:cs typeface="Calibri" panose="020F0502020204030204" pitchFamily="34" charset="0"/>
            </a:endParaRPr>
          </a:p>
          <a:p>
            <a:r>
              <a:rPr lang="en-US" sz="2000" b="1" dirty="0">
                <a:latin typeface="Calibri" panose="020F0502020204030204" pitchFamily="34" charset="0"/>
                <a:cs typeface="Calibri" panose="020F0502020204030204" pitchFamily="34" charset="0"/>
              </a:rPr>
              <a:t>Code</a:t>
            </a:r>
            <a:r>
              <a:rPr lang="en-US" sz="2000" dirty="0">
                <a:latin typeface="Calibri" panose="020F0502020204030204" pitchFamily="34" charset="0"/>
                <a:cs typeface="Calibri" panose="020F0502020204030204" pitchFamily="34" charset="0"/>
              </a:rPr>
              <a:t>: </a:t>
            </a:r>
            <a:r>
              <a:rPr lang="en-IN" sz="2000" dirty="0">
                <a:latin typeface="Calibri" panose="020F0502020204030204" pitchFamily="34" charset="0"/>
                <a:cs typeface="Calibri" panose="020F0502020204030204" pitchFamily="34" charset="0"/>
              </a:rPr>
              <a:t>XNS0032 </a:t>
            </a:r>
            <a:r>
              <a:rPr lang="en-US" sz="2000" dirty="0">
                <a:latin typeface="Calibri" panose="020F0502020204030204" pitchFamily="34" charset="0"/>
                <a:cs typeface="Calibri" panose="020F0502020204030204" pitchFamily="34" charset="0"/>
              </a:rPr>
              <a:t>(Reposition of Lumbar Vertebra using Magnetically Controlled Growth Rod(s), Open Approach, New Technology Group 2)</a:t>
            </a:r>
            <a:endParaRPr lang="en-US" sz="2000" dirty="0">
              <a:latin typeface="Calibri" panose="020F0502020204030204" pitchFamily="34" charset="0"/>
              <a:cs typeface="Calibri" panose="020F0502020204030204" pitchFamily="34" charset="0"/>
            </a:endParaRPr>
          </a:p>
          <a:p>
            <a:r>
              <a:rPr lang="en-IN" sz="2000" b="1" dirty="0">
                <a:latin typeface="Calibri" panose="020F0502020204030204" pitchFamily="34" charset="0"/>
                <a:cs typeface="Calibri" panose="020F0502020204030204" pitchFamily="34" charset="0"/>
              </a:rPr>
              <a:t>Code Navigation:</a:t>
            </a:r>
          </a:p>
          <a:p>
            <a:pPr marL="0" indent="0" algn="just">
              <a:buNone/>
            </a:pPr>
            <a:endParaRPr lang="en-IN" sz="2000" dirty="0" smtClean="0">
              <a:latin typeface="Calibri" panose="020F0502020204030204" pitchFamily="34" charset="0"/>
              <a:cs typeface="Calibri" panose="020F0502020204030204" pitchFamily="34" charset="0"/>
            </a:endParaRPr>
          </a:p>
          <a:p>
            <a:pPr algn="just"/>
            <a:endParaRPr lang="en-IN" sz="20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3341915" y="2420302"/>
            <a:ext cx="7467600" cy="2409825"/>
          </a:xfrm>
          <a:prstGeom prst="rect">
            <a:avLst/>
          </a:prstGeom>
        </p:spPr>
      </p:pic>
      <p:pic>
        <p:nvPicPr>
          <p:cNvPr id="6" name="Picture 5"/>
          <p:cNvPicPr>
            <a:picLocks noChangeAspect="1"/>
          </p:cNvPicPr>
          <p:nvPr/>
        </p:nvPicPr>
        <p:blipFill>
          <a:blip r:embed="rId3"/>
          <a:stretch>
            <a:fillRect/>
          </a:stretch>
        </p:blipFill>
        <p:spPr>
          <a:xfrm>
            <a:off x="503351" y="4918057"/>
            <a:ext cx="8144260" cy="1171575"/>
          </a:xfrm>
          <a:prstGeom prst="rect">
            <a:avLst/>
          </a:prstGeom>
        </p:spPr>
      </p:pic>
    </p:spTree>
    <p:extLst>
      <p:ext uri="{BB962C8B-B14F-4D97-AF65-F5344CB8AC3E}">
        <p14:creationId xmlns:p14="http://schemas.microsoft.com/office/powerpoint/2010/main" val="25677238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smtClean="0">
                <a:latin typeface="Calibri" pitchFamily="34" charset="0"/>
                <a:cs typeface="Calibri" pitchFamily="34" charset="0"/>
              </a:rPr>
              <a:t>Exercise 1 </a:t>
            </a:r>
            <a:endParaRPr lang="en-IN" sz="3600" dirty="0"/>
          </a:p>
        </p:txBody>
      </p:sp>
      <p:sp>
        <p:nvSpPr>
          <p:cNvPr id="3" name="Text Placeholder 2"/>
          <p:cNvSpPr>
            <a:spLocks noGrp="1"/>
          </p:cNvSpPr>
          <p:nvPr>
            <p:ph type="body" sz="quarter" idx="10"/>
          </p:nvPr>
        </p:nvSpPr>
        <p:spPr>
          <a:xfrm>
            <a:off x="314552" y="927462"/>
            <a:ext cx="11369448" cy="5120641"/>
          </a:xfrm>
        </p:spPr>
        <p:txBody>
          <a:bodyPr>
            <a:noAutofit/>
          </a:bodyPr>
          <a:lstStyle/>
          <a:p>
            <a:pPr marL="0" indent="0">
              <a:buNone/>
            </a:pPr>
            <a:endParaRPr lang="en-US" sz="2000" dirty="0">
              <a:latin typeface="Calibri" panose="020F0502020204030204" pitchFamily="34" charset="0"/>
              <a:cs typeface="Calibri" panose="020F0502020204030204" pitchFamily="34" charset="0"/>
            </a:endParaRPr>
          </a:p>
          <a:p>
            <a:endParaRPr lang="en-US" sz="2000" dirty="0" smtClean="0">
              <a:latin typeface="Calibri" panose="020F0502020204030204" pitchFamily="34" charset="0"/>
              <a:cs typeface="Calibri" panose="020F0502020204030204" pitchFamily="34" charset="0"/>
            </a:endParaRPr>
          </a:p>
          <a:p>
            <a:pPr marL="0" indent="0">
              <a:buNone/>
            </a:pPr>
            <a:endParaRPr lang="en-US" sz="2000" dirty="0" smtClean="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a:p>
            <a:r>
              <a:rPr lang="en-US" sz="2000" b="1" dirty="0" smtClean="0">
                <a:latin typeface="Calibri" panose="020F0502020204030204" pitchFamily="34" charset="0"/>
                <a:cs typeface="Calibri" panose="020F0502020204030204" pitchFamily="34" charset="0"/>
              </a:rPr>
              <a:t>Code:</a:t>
            </a:r>
            <a:r>
              <a:rPr lang="en-IN" dirty="0" smtClean="0"/>
              <a:t> </a:t>
            </a:r>
            <a:r>
              <a:rPr lang="en-IN" sz="2000" dirty="0">
                <a:latin typeface="Calibri" panose="020F0502020204030204" pitchFamily="34" charset="0"/>
                <a:cs typeface="Calibri" panose="020F0502020204030204" pitchFamily="34" charset="0"/>
              </a:rPr>
              <a:t>XV508A4</a:t>
            </a:r>
            <a:r>
              <a:rPr lang="en-IN" sz="2000" dirty="0" smtClean="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Destruction of Prostate using Robotic Waterjet Ablation, Via Natural or Artificial Opening Endoscopic, New Technology Group 4</a:t>
            </a:r>
            <a:r>
              <a:rPr lang="en-IN" sz="2000" dirty="0" smtClean="0">
                <a:latin typeface="Calibri" panose="020F0502020204030204" pitchFamily="34" charset="0"/>
                <a:cs typeface="Calibri" panose="020F0502020204030204" pitchFamily="34" charset="0"/>
              </a:rPr>
              <a:t>)</a:t>
            </a:r>
            <a:endParaRPr lang="en-US" sz="2000" dirty="0">
              <a:latin typeface="Calibri" panose="020F0502020204030204" pitchFamily="34" charset="0"/>
              <a:cs typeface="Calibri" panose="020F0502020204030204" pitchFamily="34" charset="0"/>
            </a:endParaRPr>
          </a:p>
          <a:p>
            <a:pPr algn="just"/>
            <a:r>
              <a:rPr lang="en-IN" sz="2000" b="1" dirty="0" smtClean="0">
                <a:latin typeface="Calibri" pitchFamily="34" charset="0"/>
                <a:cs typeface="Calibri" pitchFamily="34" charset="0"/>
              </a:rPr>
              <a:t>Code Navigation:</a:t>
            </a:r>
            <a:endParaRPr lang="en-IN" sz="2000" dirty="0" smtClean="0">
              <a:solidFill>
                <a:srgbClr val="FF0000"/>
              </a:solidFill>
              <a:latin typeface="Calibri" panose="020F0502020204030204" pitchFamily="34" charset="0"/>
              <a:cs typeface="Calibri" panose="020F0502020204030204" pitchFamily="34" charset="0"/>
            </a:endParaRPr>
          </a:p>
          <a:p>
            <a:pPr marL="0" indent="0" algn="just">
              <a:buNone/>
            </a:pPr>
            <a:endParaRPr lang="en-IN" sz="2000" dirty="0" smtClean="0">
              <a:latin typeface="Calibri" panose="020F0502020204030204" pitchFamily="34" charset="0"/>
              <a:cs typeface="Calibri" panose="020F0502020204030204" pitchFamily="34" charset="0"/>
            </a:endParaRPr>
          </a:p>
          <a:p>
            <a:pPr algn="just"/>
            <a:endParaRPr lang="en-IN" sz="2000" dirty="0">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587011" y="927462"/>
            <a:ext cx="8165103" cy="1657350"/>
          </a:xfrm>
          <a:prstGeom prst="rect">
            <a:avLst/>
          </a:prstGeom>
        </p:spPr>
      </p:pic>
      <p:pic>
        <p:nvPicPr>
          <p:cNvPr id="6" name="Picture 5"/>
          <p:cNvPicPr>
            <a:picLocks noChangeAspect="1"/>
          </p:cNvPicPr>
          <p:nvPr/>
        </p:nvPicPr>
        <p:blipFill>
          <a:blip r:embed="rId3"/>
          <a:stretch>
            <a:fillRect/>
          </a:stretch>
        </p:blipFill>
        <p:spPr>
          <a:xfrm>
            <a:off x="3060518" y="3354705"/>
            <a:ext cx="7429500" cy="2343150"/>
          </a:xfrm>
          <a:prstGeom prst="rect">
            <a:avLst/>
          </a:prstGeom>
        </p:spPr>
      </p:pic>
    </p:spTree>
    <p:extLst>
      <p:ext uri="{BB962C8B-B14F-4D97-AF65-F5344CB8AC3E}">
        <p14:creationId xmlns:p14="http://schemas.microsoft.com/office/powerpoint/2010/main" val="36496778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314552" y="927462"/>
            <a:ext cx="11369448" cy="5120641"/>
          </a:xfrm>
        </p:spPr>
        <p:txBody>
          <a:bodyPr>
            <a:noAutofit/>
          </a:bodyPr>
          <a:lstStyle/>
          <a:p>
            <a:pPr marL="0" indent="0">
              <a:buNone/>
            </a:pPr>
            <a:endParaRPr lang="en-US" sz="2000" dirty="0">
              <a:latin typeface="Calibri" panose="020F0502020204030204" pitchFamily="34" charset="0"/>
              <a:cs typeface="Calibri" panose="020F0502020204030204" pitchFamily="34" charset="0"/>
            </a:endParaRPr>
          </a:p>
          <a:p>
            <a:endParaRPr lang="en-US" sz="2000" dirty="0" smtClean="0">
              <a:latin typeface="Calibri" panose="020F0502020204030204" pitchFamily="34" charset="0"/>
              <a:cs typeface="Calibri" panose="020F0502020204030204" pitchFamily="34" charset="0"/>
            </a:endParaRPr>
          </a:p>
          <a:p>
            <a:pPr marL="0" indent="0">
              <a:buNone/>
            </a:pPr>
            <a:endParaRPr lang="en-US" sz="2000" dirty="0" smtClean="0">
              <a:latin typeface="Calibri" panose="020F0502020204030204" pitchFamily="34" charset="0"/>
              <a:cs typeface="Calibri" panose="020F0502020204030204" pitchFamily="34" charset="0"/>
            </a:endParaRPr>
          </a:p>
          <a:p>
            <a:pPr marL="0" indent="0" algn="just">
              <a:buNone/>
            </a:pPr>
            <a:endParaRPr lang="en-IN" sz="2000" dirty="0" smtClean="0">
              <a:latin typeface="Calibri" panose="020F0502020204030204" pitchFamily="34" charset="0"/>
              <a:cs typeface="Calibri" panose="020F0502020204030204" pitchFamily="34" charset="0"/>
            </a:endParaRPr>
          </a:p>
          <a:p>
            <a:pPr algn="just"/>
            <a:endParaRPr lang="en-IN" sz="20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909910" y="1202190"/>
            <a:ext cx="6718799" cy="1214439"/>
          </a:xfrm>
          <a:prstGeom prst="rect">
            <a:avLst/>
          </a:prstGeom>
        </p:spPr>
      </p:pic>
      <p:pic>
        <p:nvPicPr>
          <p:cNvPr id="7" name="Picture 6"/>
          <p:cNvPicPr>
            <a:picLocks noChangeAspect="1"/>
          </p:cNvPicPr>
          <p:nvPr/>
        </p:nvPicPr>
        <p:blipFill>
          <a:blip r:embed="rId3"/>
          <a:stretch>
            <a:fillRect/>
          </a:stretch>
        </p:blipFill>
        <p:spPr>
          <a:xfrm>
            <a:off x="1078502" y="2534193"/>
            <a:ext cx="6419577" cy="2724150"/>
          </a:xfrm>
          <a:prstGeom prst="rect">
            <a:avLst/>
          </a:prstGeom>
        </p:spPr>
      </p:pic>
    </p:spTree>
    <p:extLst>
      <p:ext uri="{BB962C8B-B14F-4D97-AF65-F5344CB8AC3E}">
        <p14:creationId xmlns:p14="http://schemas.microsoft.com/office/powerpoint/2010/main" val="8436515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b="1" dirty="0" smtClean="0">
                <a:latin typeface="Calibri" panose="020F0502020204030204" pitchFamily="34" charset="0"/>
                <a:cs typeface="Calibri" panose="020F0502020204030204" pitchFamily="34" charset="0"/>
              </a:rPr>
              <a:t>Coding Clinic</a:t>
            </a:r>
            <a:endParaRPr lang="en-IN" sz="3000" b="1" dirty="0">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2"/>
          <a:stretch>
            <a:fillRect/>
          </a:stretch>
        </p:blipFill>
        <p:spPr>
          <a:xfrm>
            <a:off x="1058091" y="1830786"/>
            <a:ext cx="10006149" cy="3476625"/>
          </a:xfrm>
          <a:prstGeom prst="rect">
            <a:avLst/>
          </a:prstGeom>
        </p:spPr>
      </p:pic>
      <p:pic>
        <p:nvPicPr>
          <p:cNvPr id="7" name="Picture 6"/>
          <p:cNvPicPr>
            <a:picLocks noChangeAspect="1"/>
          </p:cNvPicPr>
          <p:nvPr/>
        </p:nvPicPr>
        <p:blipFill>
          <a:blip r:embed="rId3"/>
          <a:stretch>
            <a:fillRect/>
          </a:stretch>
        </p:blipFill>
        <p:spPr>
          <a:xfrm>
            <a:off x="1306286" y="1104994"/>
            <a:ext cx="5408023" cy="725792"/>
          </a:xfrm>
          <a:prstGeom prst="rect">
            <a:avLst/>
          </a:prstGeom>
        </p:spPr>
      </p:pic>
    </p:spTree>
    <p:extLst>
      <p:ext uri="{BB962C8B-B14F-4D97-AF65-F5344CB8AC3E}">
        <p14:creationId xmlns:p14="http://schemas.microsoft.com/office/powerpoint/2010/main" val="24990171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4616" y="1567543"/>
            <a:ext cx="5280297" cy="2103120"/>
          </a:xfrm>
        </p:spPr>
        <p:txBody>
          <a:bodyPr/>
          <a:lstStyle/>
          <a:p>
            <a:r>
              <a:rPr lang="en-US" sz="3600" b="1" dirty="0" smtClean="0">
                <a:latin typeface="Calibri" panose="020F0502020204030204" pitchFamily="34" charset="0"/>
                <a:cs typeface="Calibri" panose="020F0502020204030204" pitchFamily="34" charset="0"/>
              </a:rPr>
              <a:t>Thank You</a:t>
            </a:r>
            <a:endParaRPr lang="en-IN" sz="3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288688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mega Healthcare">
      <a:dk1>
        <a:srgbClr val="262626"/>
      </a:dk1>
      <a:lt1>
        <a:srgbClr val="FFFFFF"/>
      </a:lt1>
      <a:dk2>
        <a:srgbClr val="1658A4"/>
      </a:dk2>
      <a:lt2>
        <a:srgbClr val="348EC9"/>
      </a:lt2>
      <a:accent1>
        <a:srgbClr val="153166"/>
      </a:accent1>
      <a:accent2>
        <a:srgbClr val="992428"/>
      </a:accent2>
      <a:accent3>
        <a:srgbClr val="77787B"/>
      </a:accent3>
      <a:accent4>
        <a:srgbClr val="BCBEC0"/>
      </a:accent4>
      <a:accent5>
        <a:srgbClr val="F47C23"/>
      </a:accent5>
      <a:accent6>
        <a:srgbClr val="67C189"/>
      </a:accent6>
      <a:hlink>
        <a:srgbClr val="0070C0"/>
      </a:hlink>
      <a:folHlink>
        <a:srgbClr val="90C6F6"/>
      </a:folHlink>
    </a:clrScheme>
    <a:fontScheme name="Omega New Template">
      <a:majorFont>
        <a:latin typeface="Avenir Heavy"/>
        <a:ea typeface=""/>
        <a:cs typeface=""/>
      </a:majorFont>
      <a:minorFont>
        <a:latin typeface="Avenir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mega Healthcare_template" id="{63A0DB61-DB58-1A4A-B042-1839354C95F2}" vid="{E2BCF418-2F16-D54B-8DA6-93CCB280D1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RCM</Template>
  <TotalTime>2808</TotalTime>
  <Words>945</Words>
  <Application>Microsoft Office PowerPoint</Application>
  <PresentationFormat>Widescreen</PresentationFormat>
  <Paragraphs>100</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Avenir Heavy</vt:lpstr>
      <vt:lpstr>Avenir Medium</vt:lpstr>
      <vt:lpstr>Calibri</vt:lpstr>
      <vt:lpstr>Courier New</vt:lpstr>
      <vt:lpstr>Wingdings</vt:lpstr>
      <vt:lpstr>Office Theme</vt:lpstr>
      <vt:lpstr>PowerPoint Presentation</vt:lpstr>
      <vt:lpstr>PowerPoint Presentation</vt:lpstr>
      <vt:lpstr>Objectives</vt:lpstr>
      <vt:lpstr>  New Technology Section  </vt:lpstr>
      <vt:lpstr> New Technology Section </vt:lpstr>
      <vt:lpstr> New Technology Section </vt:lpstr>
      <vt:lpstr> New Technology Section </vt:lpstr>
      <vt:lpstr> New Technology Section </vt:lpstr>
      <vt:lpstr> New Technology Section </vt:lpstr>
      <vt:lpstr> New Technology Section </vt:lpstr>
      <vt:lpstr> New Technology Section </vt:lpstr>
      <vt:lpstr> General guidelines  </vt:lpstr>
      <vt:lpstr>  General guidelines   </vt:lpstr>
      <vt:lpstr>Clinical Example 1</vt:lpstr>
      <vt:lpstr>Clinical Example 2</vt:lpstr>
      <vt:lpstr>Knowledge Check 1 </vt:lpstr>
      <vt:lpstr>Knowledge Check 2 </vt:lpstr>
      <vt:lpstr>Exercise 1 </vt:lpstr>
      <vt:lpstr>PowerPoint Presentation</vt:lpstr>
      <vt:lpstr>Coding Clinic</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Vinothini Kirupakaran</dc:creator>
  <cp:lastModifiedBy>Nimhor Vashum</cp:lastModifiedBy>
  <cp:revision>285</cp:revision>
  <dcterms:created xsi:type="dcterms:W3CDTF">2021-08-28T14:27:41Z</dcterms:created>
  <dcterms:modified xsi:type="dcterms:W3CDTF">2021-12-22T08:57:56Z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8b32edde-1ff2-4d4e-a2d7-fbbc106f8d9c</vt:lpwstr>
  </property>
  <property fmtid="{D5CDD505-2E9C-101B-9397-08002B2CF9AE}" pid="3" name="Project">
    <vt:lpwstr>IBDROOT</vt:lpwstr>
  </property>
  <property fmtid="{D5CDD505-2E9C-101B-9397-08002B2CF9AE}" pid="4" name="Classification">
    <vt:lpwstr>I</vt:lpwstr>
  </property>
  <property fmtid="{D5CDD505-2E9C-101B-9397-08002B2CF9AE}" pid="5" name="DocTopsCleaned">
    <vt:lpwstr>True</vt:lpwstr>
  </property>
  <property fmtid="{D5CDD505-2E9C-101B-9397-08002B2CF9AE}" pid="6" name="ShowHideDoctop">
    <vt:lpwstr>False</vt:lpwstr>
  </property>
</Properties>
</file>