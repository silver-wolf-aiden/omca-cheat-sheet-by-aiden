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516" r:id="rId2"/>
    <p:sldId id="517" r:id="rId3"/>
    <p:sldId id="555" r:id="rId4"/>
    <p:sldId id="599" r:id="rId5"/>
    <p:sldId id="601" r:id="rId6"/>
    <p:sldId id="547" r:id="rId7"/>
    <p:sldId id="579" r:id="rId8"/>
    <p:sldId id="595" r:id="rId9"/>
    <p:sldId id="553" r:id="rId10"/>
    <p:sldId id="554" r:id="rId11"/>
    <p:sldId id="596" r:id="rId12"/>
    <p:sldId id="597" r:id="rId13"/>
    <p:sldId id="598" r:id="rId14"/>
    <p:sldId id="5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ontic" initials="l" lastIdx="2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542"/>
    <a:srgbClr val="2F6193"/>
    <a:srgbClr val="FF8201"/>
    <a:srgbClr val="262626"/>
    <a:srgbClr val="1D1564"/>
    <a:srgbClr val="0B5395"/>
    <a:srgbClr val="0572BC"/>
    <a:srgbClr val="2FA9D7"/>
    <a:srgbClr val="ED9622"/>
    <a:srgbClr val="2D2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957" autoAdjust="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>
        <p:guide pos="3840"/>
        <p:guide orient="horz"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20ADA-2636-4920-B510-E61DFF0FA5AC}" type="datetimeFigureOut">
              <a:rPr lang="en-IN" smtClean="0"/>
              <a:t>24-12-2021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F8806-B5FA-4027-87F3-47B8EAE39ED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743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D9EAC-9A38-4670-B77A-DD2A7D52B450}" type="datetimeFigureOut">
              <a:rPr lang="en-IN" smtClean="0"/>
              <a:t>24-12-2021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A0649-D767-4B37-848A-14C1DC350B7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4905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97414-F6FA-B34C-90AF-D370F983A9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" b="1778"/>
          <a:stretch/>
        </p:blipFill>
        <p:spPr>
          <a:xfrm>
            <a:off x="0" y="243840"/>
            <a:ext cx="12192000" cy="6614160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72404" y="2536069"/>
            <a:ext cx="3647192" cy="1218051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481076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8A553-5287-0E41-A5D3-E62002DC4346}"/>
              </a:ext>
            </a:extLst>
          </p:cNvPr>
          <p:cNvSpPr/>
          <p:nvPr userDrawn="1"/>
        </p:nvSpPr>
        <p:spPr>
          <a:xfrm>
            <a:off x="0" y="6693408"/>
            <a:ext cx="12192000" cy="1645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C79E7-7057-AF4F-B18C-E3989117A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D352FF6-569A-064D-B4B2-EF817DBEF3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404" y="2040769"/>
            <a:ext cx="3647192" cy="121573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5049618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873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7AE9F9-2984-204C-B427-379965A9A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2689222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354521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C9036-2210-6142-BFDC-7BFE83F36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6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9BD612-3813-FB4E-865F-FADE0BC7F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3108960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17FC5-AAA0-1041-BC24-5CE254DB52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9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B580F0-627E-BF4F-9A0F-3D79B60298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DA3B51-831E-2940-8D2F-6C33370C7922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189A4-037B-0845-B243-1FE144E511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3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5EA7B4-D03C-0542-BDFA-C3169458B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52CB39-3423-8046-836D-596E398D1F5C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5A651-D2E5-C340-A433-6D68EFF23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0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64833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accent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0F511-5604-4848-B430-C09C849A14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BE787-5CAB-924F-9402-77E03E56C3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AE919E-F3E3-614F-B830-39BA0FFE7B16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2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958092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20336" y="1772708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B1814-8187-604F-BB35-1ED23A564E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F483BD-9067-A74B-9DE3-D4DBAEC41D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641A0E5-B6BB-5A4E-A439-D3DE43390EB0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6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303BC2-BE3B-E74E-8F32-DC9FE778E313}"/>
              </a:ext>
            </a:extLst>
          </p:cNvPr>
          <p:cNvSpPr/>
          <p:nvPr userDrawn="1"/>
        </p:nvSpPr>
        <p:spPr>
          <a:xfrm>
            <a:off x="0" y="6135624"/>
            <a:ext cx="12192000" cy="722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380843-F36E-1949-B9A3-F9B0FEC10B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439FC3-82D0-864B-805C-6103C617B7B8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5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57"/>
            <a:ext cx="12188952" cy="6856285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21719" y="2947779"/>
            <a:ext cx="2881826" cy="96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18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829" y="5791200"/>
            <a:ext cx="1416269" cy="47478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3728" cy="46634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GS Doctop Placeholder" hidden="1"/>
          <p:cNvSpPr txBox="1"/>
          <p:nvPr userDrawn="1"/>
        </p:nvSpPr>
        <p:spPr>
          <a:xfrm>
            <a:off x="546100" y="0"/>
            <a:ext cx="5651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>
                <a:latin typeface="Arial" panose="020B0604020202020204" pitchFamily="34" charset="0"/>
              </a:rPr>
              <a:t>IBDROOT\PROJECTS\IBD-NY\VISTAS2020\657440_1\Due Diligence\Presentation\Project SYMPHONY_Oboe Diligence Materials_v06.pptx</a:t>
            </a:r>
            <a:endParaRPr lang="en-US" sz="800" b="0" dirty="0">
              <a:latin typeface="Arial" panose="020B060402020202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74320" lvl="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Edit Master text styles</a:t>
            </a:r>
          </a:p>
          <a:p>
            <a:pPr marL="548640" lvl="1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/>
              <a:t>Second level</a:t>
            </a:r>
          </a:p>
          <a:p>
            <a:pPr marL="822960" lvl="2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marL="1097280" lvl="3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371600" lvl="4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161485" y="63563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50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1" r:id="rId2"/>
    <p:sldLayoutId id="2147483727" r:id="rId3"/>
    <p:sldLayoutId id="2147483730" r:id="rId4"/>
    <p:sldLayoutId id="2147483728" r:id="rId5"/>
    <p:sldLayoutId id="2147483729" r:id="rId6"/>
    <p:sldLayoutId id="2147483732" r:id="rId7"/>
    <p:sldLayoutId id="2147483733" r:id="rId8"/>
    <p:sldLayoutId id="2147483734" r:id="rId9"/>
    <p:sldLayoutId id="2147483735" r:id="rId10"/>
  </p:sldLayoutIdLst>
  <p:hf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kern="1200" baseline="0" dirty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3152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3439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08710" indent="-285750" algn="l" defTabSz="9906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4018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 userDrawn="1">
          <p15:clr>
            <a:srgbClr val="F26B43"/>
          </p15:clr>
        </p15:guide>
        <p15:guide id="3" orient="horz" pos="624" userDrawn="1">
          <p15:clr>
            <a:srgbClr val="F26B43"/>
          </p15:clr>
        </p15:guide>
        <p15:guide id="4" pos="6221" userDrawn="1">
          <p15:clr>
            <a:srgbClr val="F26B43"/>
          </p15:clr>
        </p15:guide>
        <p15:guide id="5" pos="189" userDrawn="1">
          <p15:clr>
            <a:srgbClr val="F26B43"/>
          </p15:clr>
        </p15:guide>
        <p15:guide id="6" orient="horz" pos="714" userDrawn="1">
          <p15:clr>
            <a:srgbClr val="F26B43"/>
          </p15:clr>
        </p15:guide>
        <p15:guide id="7" orient="horz" pos="3738" userDrawn="1">
          <p15:clr>
            <a:srgbClr val="F26B43"/>
          </p15:clr>
        </p15:guide>
        <p15:guide id="8" orient="horz" pos="3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88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7F289D-2757-0342-BE5D-531BF0C679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9317" y="5049618"/>
            <a:ext cx="6978033" cy="495300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Chiropractic- Section 9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18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Understanding Chiropractic Section-9</a:t>
            </a:r>
            <a:endParaRPr lang="en-US" sz="2000" dirty="0">
              <a:solidFill>
                <a:srgbClr val="3A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Clinical </a:t>
            </a:r>
            <a:r>
              <a:rPr lang="en-US" sz="2000" dirty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 for better understanding</a:t>
            </a: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Knowledge Check  </a:t>
            </a:r>
            <a:endParaRPr lang="en-US" sz="2000" dirty="0" smtClean="0">
              <a:solidFill>
                <a:srgbClr val="3A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Exercises</a:t>
            </a: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en-US" sz="2000" dirty="0" smtClean="0">
              <a:solidFill>
                <a:srgbClr val="3A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07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4" y="333373"/>
            <a:ext cx="8859520" cy="461665"/>
          </a:xfrm>
        </p:spPr>
        <p:txBody>
          <a:bodyPr/>
          <a:lstStyle/>
          <a:p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Chiropractic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5394" y="1147989"/>
            <a:ext cx="10998926" cy="464321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Chiropractic section consists of a single body system, Anatomical Regions, and a single root operation,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Manipulation.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 –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Manipulation is defined as manual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procedure that involves a directed thrust to move a joint past the physiological range of motion, without exceeding the anatomical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limit.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007" y="2714625"/>
            <a:ext cx="445770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5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4" y="333373"/>
            <a:ext cx="8859520" cy="461665"/>
          </a:xfrm>
        </p:spPr>
        <p:txBody>
          <a:bodyPr/>
          <a:lstStyle/>
          <a:p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Chiropractic 9WB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5394" y="1147989"/>
            <a:ext cx="10998926" cy="46432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Character Meanings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010" y="1904955"/>
            <a:ext cx="9072019" cy="388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1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4" y="333373"/>
            <a:ext cx="8859520" cy="461665"/>
          </a:xfrm>
        </p:spPr>
        <p:txBody>
          <a:bodyPr/>
          <a:lstStyle/>
          <a:p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Chiropractic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5394" y="1147989"/>
            <a:ext cx="10998926" cy="4643211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Examples of Chiropractic include: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Chiropractic treatment of cervical spine, short lever specific contact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Non-manual chiropractic manipulation of pelvis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Chiropractic treatment of lumbar region using long lever specific contact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94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206" y="333373"/>
            <a:ext cx="8898708" cy="461665"/>
          </a:xfrm>
        </p:spPr>
        <p:txBody>
          <a:bodyPr/>
          <a:lstStyle/>
          <a:p>
            <a:r>
              <a:rPr lang="en-IN" sz="3000" b="1" dirty="0">
                <a:latin typeface="Calibri" panose="020F0502020204030204" pitchFamily="34" charset="0"/>
                <a:cs typeface="Calibri" pitchFamily="34" charset="0"/>
              </a:rPr>
              <a:t>Clinical Example 1</a:t>
            </a:r>
            <a:endParaRPr lang="en-IN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66206" y="1018903"/>
            <a:ext cx="11142616" cy="477229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Chiropractic treatment of cervical spine, short lever specific contact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Code: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9WB1XHZ (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Chiropractic Manipulation of Cervical Region, Short Lever Specific Contact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Coding Navigation: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352" y="1928841"/>
            <a:ext cx="872803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1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206" y="333373"/>
            <a:ext cx="8898708" cy="461665"/>
          </a:xfrm>
        </p:spPr>
        <p:txBody>
          <a:bodyPr/>
          <a:lstStyle/>
          <a:p>
            <a:r>
              <a:rPr lang="en-IN" sz="3000" b="1" dirty="0">
                <a:latin typeface="Calibri" panose="020F0502020204030204" pitchFamily="34" charset="0"/>
                <a:cs typeface="Calibri" pitchFamily="34" charset="0"/>
              </a:rPr>
              <a:t>Clinical Example </a:t>
            </a:r>
            <a:r>
              <a:rPr lang="en-IN" sz="3000" b="1" dirty="0" smtClean="0">
                <a:latin typeface="Calibri" panose="020F0502020204030204" pitchFamily="34" charset="0"/>
                <a:cs typeface="Calibri" pitchFamily="34" charset="0"/>
              </a:rPr>
              <a:t>2</a:t>
            </a:r>
            <a:endParaRPr lang="en-IN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66206" y="1018903"/>
            <a:ext cx="11142616" cy="477229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Non-manual chiropractic manipulation of pelvis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Code: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9WB5XBZ (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Chiropractic Manipulation of Pelvis, Non-Manual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)	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Coding Navigation: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209801"/>
            <a:ext cx="8477793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1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itchFamily="34" charset="0"/>
                <a:cs typeface="Calibri" pitchFamily="34" charset="0"/>
              </a:rPr>
              <a:t>Knowledge </a:t>
            </a:r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Check 1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147989"/>
            <a:ext cx="11559948" cy="48348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the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code assignment for Chiropractic treatment of lumbar region using long lever specific contact?</a:t>
            </a:r>
          </a:p>
          <a:p>
            <a:r>
              <a:rPr lang="en-US" sz="2000" b="1" dirty="0">
                <a:latin typeface="Calibri" pitchFamily="34" charset="0"/>
                <a:cs typeface="Calibri" pitchFamily="34" charset="0"/>
              </a:rPr>
              <a:t>Codes: 9WB3XGZ</a:t>
            </a:r>
            <a:r>
              <a:rPr lang="en-IN" sz="20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(Chiropractic Manipulation of Lumbar Region, Long Lever Specific Contact)</a:t>
            </a:r>
            <a:endParaRPr lang="en-IN" sz="2000" b="1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</a:t>
            </a:r>
            <a:r>
              <a:rPr lang="en-IN" sz="2000" b="1" dirty="0">
                <a:latin typeface="Calibri" pitchFamily="34" charset="0"/>
                <a:cs typeface="Calibri" pitchFamily="34" charset="0"/>
              </a:rPr>
              <a:t>Navigation:</a:t>
            </a:r>
            <a:endParaRPr lang="en-IN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705" y="2182177"/>
            <a:ext cx="8850358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1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itchFamily="34" charset="0"/>
                <a:cs typeface="Calibri" pitchFamily="34" charset="0"/>
              </a:rPr>
              <a:t>Knowledge </a:t>
            </a:r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Check 2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66651"/>
            <a:ext cx="11369448" cy="4951368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code assignment for Chiropractic manipulation of abdominal region, indirect visceral?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Code: 9WB9XCZ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(Chiropractic Manipulation of Abdomen, Indirect Visceral)</a:t>
            </a:r>
          </a:p>
          <a:p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 Navigation:</a:t>
            </a: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129246"/>
            <a:ext cx="8817429" cy="378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2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1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code assignment for Chiropractic extra-articular treatment of hip region?</a:t>
            </a: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Code:</a:t>
            </a:r>
            <a:r>
              <a:rPr lang="en-IN" dirty="0" smtClean="0"/>
              <a:t>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9WB6XDZ (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Chiropractic Manipulation of Upper Extremities, Extra-Articular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827" y="1988548"/>
            <a:ext cx="742950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7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2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code assignment for Chiropractic treatment of sacrum using long and short lever specific contact? 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Code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: 9WB4XJZ</a:t>
            </a:r>
            <a:r>
              <a:rPr lang="en-IN" sz="20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(Chiropractic Manipulation of Sacrum, Long and Short Lever Specific Contact)</a:t>
            </a:r>
          </a:p>
          <a:p>
            <a:pPr algn="just"/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420" y="2207623"/>
            <a:ext cx="8572637" cy="373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71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3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assignment for Mechanically-assisted chiropractic manipulation of head?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Code: 9WB0XKZ (Chiropractic Manipulation of Head, Mechanically Assisted)</a:t>
            </a:r>
          </a:p>
          <a:p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694" y="2107337"/>
            <a:ext cx="8900432" cy="394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8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4616" y="1567543"/>
            <a:ext cx="5280297" cy="2103120"/>
          </a:xfrm>
        </p:spPr>
        <p:txBody>
          <a:bodyPr/>
          <a:lstStyle/>
          <a:p>
            <a:r>
              <a:rPr lang="en-US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8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mega Healthcare">
      <a:dk1>
        <a:srgbClr val="262626"/>
      </a:dk1>
      <a:lt1>
        <a:srgbClr val="FFFFFF"/>
      </a:lt1>
      <a:dk2>
        <a:srgbClr val="1658A4"/>
      </a:dk2>
      <a:lt2>
        <a:srgbClr val="348EC9"/>
      </a:lt2>
      <a:accent1>
        <a:srgbClr val="153166"/>
      </a:accent1>
      <a:accent2>
        <a:srgbClr val="992428"/>
      </a:accent2>
      <a:accent3>
        <a:srgbClr val="77787B"/>
      </a:accent3>
      <a:accent4>
        <a:srgbClr val="BCBEC0"/>
      </a:accent4>
      <a:accent5>
        <a:srgbClr val="F47C23"/>
      </a:accent5>
      <a:accent6>
        <a:srgbClr val="67C189"/>
      </a:accent6>
      <a:hlink>
        <a:srgbClr val="0070C0"/>
      </a:hlink>
      <a:folHlink>
        <a:srgbClr val="90C6F6"/>
      </a:folHlink>
    </a:clrScheme>
    <a:fontScheme name="Omega New Template">
      <a:majorFont>
        <a:latin typeface="Avenir Heavy"/>
        <a:ea typeface=""/>
        <a:cs typeface=""/>
      </a:majorFont>
      <a:minorFont>
        <a:latin typeface="Avenir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mega Healthcare_template" id="{63A0DB61-DB58-1A4A-B042-1839354C95F2}" vid="{E2BCF418-2F16-D54B-8DA6-93CCB280D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RCM</Template>
  <TotalTime>2395</TotalTime>
  <Words>336</Words>
  <Application>Microsoft Office PowerPoint</Application>
  <PresentationFormat>Widescreen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Avenir Heavy</vt:lpstr>
      <vt:lpstr>Avenir Medium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Objectives</vt:lpstr>
      <vt:lpstr> Chiropractic </vt:lpstr>
      <vt:lpstr> Chiropractic 9WB </vt:lpstr>
      <vt:lpstr> Chiropractic </vt:lpstr>
      <vt:lpstr>Clinical Example 1</vt:lpstr>
      <vt:lpstr>Clinical Example 2</vt:lpstr>
      <vt:lpstr>Knowledge Check 1 </vt:lpstr>
      <vt:lpstr>Knowledge Check 2 </vt:lpstr>
      <vt:lpstr>Exercise 1 </vt:lpstr>
      <vt:lpstr>Exercise 2 </vt:lpstr>
      <vt:lpstr>Exercise 3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Vinothini Kirupakaran</dc:creator>
  <cp:lastModifiedBy>Nimhor Vashum</cp:lastModifiedBy>
  <cp:revision>244</cp:revision>
  <dcterms:created xsi:type="dcterms:W3CDTF">2021-08-28T14:27:41Z</dcterms:created>
  <dcterms:modified xsi:type="dcterms:W3CDTF">2021-12-24T04:06:06Z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8b32edde-1ff2-4d4e-a2d7-fbbc106f8d9c</vt:lpwstr>
  </property>
  <property fmtid="{D5CDD505-2E9C-101B-9397-08002B2CF9AE}" pid="3" name="Project">
    <vt:lpwstr>IBDROOT</vt:lpwstr>
  </property>
  <property fmtid="{D5CDD505-2E9C-101B-9397-08002B2CF9AE}" pid="4" name="Classification">
    <vt:lpwstr>I</vt:lpwstr>
  </property>
  <property fmtid="{D5CDD505-2E9C-101B-9397-08002B2CF9AE}" pid="5" name="DocTopsCleaned">
    <vt:lpwstr>True</vt:lpwstr>
  </property>
  <property fmtid="{D5CDD505-2E9C-101B-9397-08002B2CF9AE}" pid="6" name="ShowHideDoctop">
    <vt:lpwstr>False</vt:lpwstr>
  </property>
</Properties>
</file>